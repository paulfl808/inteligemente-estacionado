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 Saludo inicial a la comisión evaluadora. Presentación del equipo de trabajo y declaración del proyecto AURA Smart Parking, desarrollado para la actividad integradora.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A 2:00 - Exponer con claridad la problemática urbana. Explicar cómo AURA soluciona la incertidumbre conectando la maqueta física a la nube de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Explicar cada una de las 4 capas. Enfatizar la alta cohesión y bajo acoplamiento: el frontend no depende del hardware directamente, sino que interactúa con la API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Defender la arquitectura respondiendo directamente a las preguntas de la pauta. Esta lámina responde al Criterio 3 (15 puntos de la rúbrica).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5:00 - Mostrar el código firmware de Arduino y explicar cómo se resolvió la limitación de pines mediante Trigger compartido en el Pin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5:00 A 8:00 - Demostración en vivo en el proyector: 1) Reservar cupo, 2) Consultar mapa interactivo, 3) Detección de auto a menos de 10 cm, 4) Levantamiento de barrera, 5) Checkout y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8:00 A 10:00 - Mostrar los recursos aprovisionados en el portal de Azure. Explicar el grupo de seguridad de red y la resolución FQDN de Azure DNS.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Responder a la pregunta de escalabilidad de la pauta. Detallar cómo Azure permite pasar de un MVP a producción masiva mediante Redis, IoT Hub y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Cada integrante expone su rol y demuestra conocimiento transversal de la solución completa para obtener los 5 puntos de participación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13:00 A 15:00 - Cierre formal de la exposición, agradecimiento a la comisión y apertura para la ronda de preguntas técnicas.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EA5E9"/>
          </a:solidFill>
          <a:ln w="12700">
            <a:solidFill>
              <a:srgbClr val="0EA5E9"/>
            </a:solidFill>
            <a:prstDash val="solid"/>
          </a:ln>
        </p:spPr>
      </p:sp>
      <p:sp>
        <p:nvSpPr>
          <p:cNvPr id="3" name="Text 1"/>
          <p:cNvSpPr/>
          <p:nvPr/>
        </p:nvSpPr>
        <p:spPr>
          <a:xfrm>
            <a:off x="731520" y="731520"/>
            <a:ext cx="10515600" cy="365760"/>
          </a:xfrm>
          <a:prstGeom prst="rect">
            <a:avLst/>
          </a:prstGeom>
          <a:noFill/>
          <a:ln/>
        </p:spPr>
        <p:txBody>
          <a:bodyPr wrap="square" rtlCol="0" anchor="ctr"/>
          <a:lstStyle/>
          <a:p>
            <a:pPr indent="0" marL="0">
              <a:buNone/>
            </a:pPr>
            <a:r>
              <a:rPr lang="en-US" sz="1200" b="1" spc="150" kern="0" dirty="0">
                <a:solidFill>
                  <a:srgbClr val="0EA5E9"/>
                </a:solidFill>
                <a:latin typeface="Segoe UI" pitchFamily="34" charset="0"/>
                <a:ea typeface="Segoe UI" pitchFamily="34" charset="-122"/>
                <a:cs typeface="Segoe UI" pitchFamily="34" charset="-120"/>
              </a:rPr>
              <a:t>INSTITUTO PROFESIONAL SANTO TOMÁS · ÁREA INFORMÁTICA</a:t>
            </a:r>
            <a:endParaRPr lang="en-US" sz="1200" dirty="0"/>
          </a:p>
        </p:txBody>
      </p:sp>
      <p:sp>
        <p:nvSpPr>
          <p:cNvPr id="4" name="Text 2"/>
          <p:cNvSpPr/>
          <p:nvPr/>
        </p:nvSpPr>
        <p:spPr>
          <a:xfrm>
            <a:off x="731520" y="1097280"/>
            <a:ext cx="10515600" cy="1097280"/>
          </a:xfrm>
          <a:prstGeom prst="rect">
            <a:avLst/>
          </a:prstGeom>
          <a:noFill/>
          <a:ln/>
        </p:spPr>
        <p:txBody>
          <a:bodyPr wrap="square" rtlCol="0" anchor="ctr"/>
          <a:lstStyle/>
          <a:p>
            <a:pPr indent="0" marL="0">
              <a:buNone/>
            </a:pPr>
            <a:r>
              <a:rPr lang="en-US" sz="3800" b="1" dirty="0">
                <a:solidFill>
                  <a:srgbClr val="FFFFFF"/>
                </a:solidFill>
                <a:latin typeface="Segoe UI" pitchFamily="34" charset="0"/>
                <a:ea typeface="Segoe UI" pitchFamily="34" charset="-122"/>
                <a:cs typeface="Segoe UI" pitchFamily="34" charset="-120"/>
              </a:rPr>
              <a:t>AURA · SMART PARKING IoT</a:t>
            </a:r>
            <a:endParaRPr lang="en-US" sz="3800" dirty="0"/>
          </a:p>
        </p:txBody>
      </p:sp>
      <p:sp>
        <p:nvSpPr>
          <p:cNvPr id="5" name="Text 3"/>
          <p:cNvSpPr/>
          <p:nvPr/>
        </p:nvSpPr>
        <p:spPr>
          <a:xfrm>
            <a:off x="731520" y="2103120"/>
            <a:ext cx="10515600" cy="731520"/>
          </a:xfrm>
          <a:prstGeom prst="rect">
            <a:avLst/>
          </a:prstGeom>
          <a:noFill/>
          <a:ln/>
        </p:spPr>
        <p:txBody>
          <a:bodyPr wrap="square" rtlCol="0" anchor="ctr"/>
          <a:lstStyle/>
          <a:p>
            <a:pPr indent="0" marL="0">
              <a:buNone/>
            </a:pPr>
            <a:r>
              <a:rPr lang="en-US" sz="1700" dirty="0">
                <a:solidFill>
                  <a:srgbClr val="94A3B8"/>
                </a:solidFill>
                <a:latin typeface="Segoe UI" pitchFamily="34" charset="0"/>
                <a:ea typeface="Segoe UI" pitchFamily="34" charset="-122"/>
                <a:cs typeface="Segoe UI" pitchFamily="34" charset="-120"/>
              </a:rPr>
              <a:t>Diseño, Despliegue y Defensa de una Solución Web en Microsoft Azure</a:t>
            </a:r>
            <a:endParaRPr lang="en-US" sz="1700" dirty="0"/>
          </a:p>
          <a:p>
            <a:pPr indent="0" marL="0">
              <a:buNone/>
            </a:pPr>
            <a:r>
              <a:rPr lang="en-US" sz="1700" dirty="0">
                <a:solidFill>
                  <a:srgbClr val="94A3B8"/>
                </a:solidFill>
                <a:latin typeface="Segoe UI" pitchFamily="34" charset="0"/>
                <a:ea typeface="Segoe UI" pitchFamily="34" charset="-122"/>
                <a:cs typeface="Segoe UI" pitchFamily="34" charset="-120"/>
              </a:rPr>
              <a:t>Articulación: Arquitectura de Sistemas + Programación en la Nube</a:t>
            </a:r>
            <a:endParaRPr lang="en-US" sz="1700" dirty="0"/>
          </a:p>
        </p:txBody>
      </p:sp>
      <p:sp>
        <p:nvSpPr>
          <p:cNvPr id="6" name="Shape 4"/>
          <p:cNvSpPr/>
          <p:nvPr/>
        </p:nvSpPr>
        <p:spPr>
          <a:xfrm>
            <a:off x="731520" y="3108960"/>
            <a:ext cx="10698480" cy="2651760"/>
          </a:xfrm>
          <a:prstGeom prst="roundRect">
            <a:avLst/>
          </a:prstGeom>
          <a:solidFill>
            <a:srgbClr val="1E293B"/>
          </a:solidFill>
          <a:ln w="19050">
            <a:solidFill>
              <a:srgbClr val="0EA5E9"/>
            </a:solidFill>
            <a:prstDash val="solid"/>
          </a:ln>
        </p:spPr>
      </p:sp>
      <p:sp>
        <p:nvSpPr>
          <p:cNvPr id="7" name="Text 5"/>
          <p:cNvSpPr/>
          <p:nvPr/>
        </p:nvSpPr>
        <p:spPr>
          <a:xfrm>
            <a:off x="1005840" y="3291840"/>
            <a:ext cx="10149840" cy="2286000"/>
          </a:xfrm>
          <a:prstGeom prst="rect">
            <a:avLst/>
          </a:prstGeom>
          <a:noFill/>
          <a:ln/>
        </p:spPr>
        <p:txBody>
          <a:bodyPr wrap="square" rtlCol="0" anchor="ctr"/>
          <a:lstStyle/>
          <a:p>
            <a:pPr indent="0" marL="0">
              <a:buNone/>
            </a:pPr>
            <a:r>
              <a:rPr lang="en-US" sz="1300" b="1" dirty="0">
                <a:solidFill>
                  <a:srgbClr val="0EA5E9"/>
                </a:solidFill>
                <a:latin typeface="Segoe UI" pitchFamily="34" charset="0"/>
                <a:ea typeface="Segoe UI" pitchFamily="34" charset="-122"/>
                <a:cs typeface="Segoe UI" pitchFamily="34" charset="-120"/>
              </a:rPr>
              <a:t>INFORMACIÓN DE LA DEFENSA EN AUDITORIO
</a:t>
            </a:r>
            <a:pPr indent="0" marL="0">
              <a:buNone/>
            </a:pPr>
            <a:r>
              <a:rPr lang="en-US" sz="1200" b="1" dirty="0">
                <a:solidFill>
                  <a:srgbClr val="FFFFFF"/>
                </a:solidFill>
                <a:latin typeface="Segoe UI" pitchFamily="34" charset="0"/>
                <a:ea typeface="Segoe UI" pitchFamily="34" charset="-122"/>
                <a:cs typeface="Segoe UI" pitchFamily="34" charset="-120"/>
              </a:rPr>
              <a:t>• Fecha y Hora: </a:t>
            </a:r>
            <a:pPr indent="0" marL="0">
              <a:buNone/>
            </a:pPr>
            <a:r>
              <a:rPr lang="en-US" sz="1200" dirty="0">
                <a:solidFill>
                  <a:srgbClr val="94A3B8"/>
                </a:solidFill>
                <a:latin typeface="Segoe UI" pitchFamily="34" charset="0"/>
                <a:ea typeface="Segoe UI" pitchFamily="34" charset="-122"/>
                <a:cs typeface="Segoe UI" pitchFamily="34" charset="-120"/>
              </a:rPr>
              <a:t>Miércoles 28 de octubre · 09:00 hrs
</a:t>
            </a:r>
            <a:pPr indent="0" marL="0">
              <a:buNone/>
            </a:pPr>
            <a:r>
              <a:rPr lang="en-US" sz="1200" b="1" dirty="0">
                <a:solidFill>
                  <a:srgbClr val="FFFFFF"/>
                </a:solidFill>
                <a:latin typeface="Segoe UI" pitchFamily="34" charset="0"/>
                <a:ea typeface="Segoe UI" pitchFamily="34" charset="-122"/>
                <a:cs typeface="Segoe UI" pitchFamily="34" charset="-120"/>
              </a:rPr>
              <a:t>• Ubicación: </a:t>
            </a:r>
            <a:pPr indent="0" marL="0">
              <a:buNone/>
            </a:pPr>
            <a:r>
              <a:rPr lang="en-US" sz="1200" dirty="0">
                <a:solidFill>
                  <a:srgbClr val="94A3B8"/>
                </a:solidFill>
                <a:latin typeface="Segoe UI" pitchFamily="34" charset="0"/>
                <a:ea typeface="Segoe UI" pitchFamily="34" charset="-122"/>
                <a:cs typeface="Segoe UI" pitchFamily="34" charset="-120"/>
              </a:rPr>
              <a:t>Auditorio 1, Edificio 91, Tercer Piso (Tenida Semi-Formal)
</a:t>
            </a:r>
            <a:pPr indent="0" marL="0">
              <a:buNone/>
            </a:pPr>
            <a:r>
              <a:rPr lang="en-US" sz="1200" b="1" dirty="0">
                <a:solidFill>
                  <a:srgbClr val="FFFFFF"/>
                </a:solidFill>
                <a:latin typeface="Segoe UI" pitchFamily="34" charset="0"/>
                <a:ea typeface="Segoe UI" pitchFamily="34" charset="-122"/>
                <a:cs typeface="Segoe UI" pitchFamily="34" charset="-120"/>
              </a:rPr>
              <a:t>• Repositorio Oficial: </a:t>
            </a:r>
            <a:pPr indent="0" marL="0">
              <a:buNone/>
            </a:pPr>
            <a:r>
              <a:rPr lang="en-US" sz="1200" dirty="0">
                <a:solidFill>
                  <a:srgbClr val="10B981"/>
                </a:solidFill>
                <a:latin typeface="Segoe UI" pitchFamily="34" charset="0"/>
                <a:ea typeface="Segoe UI" pitchFamily="34" charset="-122"/>
                <a:cs typeface="Segoe UI" pitchFamily="34" charset="-120"/>
              </a:rPr>
              <a:t>https://github.com/PaulFL808/INTELIGEMENTE-ESTACIONADO
</a:t>
            </a:r>
            <a:pPr indent="0" marL="0">
              <a:buNone/>
            </a:pPr>
            <a:r>
              <a:rPr lang="en-US" sz="1200" b="1" dirty="0">
                <a:solidFill>
                  <a:srgbClr val="FFFFFF"/>
                </a:solidFill>
                <a:latin typeface="Segoe UI" pitchFamily="34" charset="0"/>
                <a:ea typeface="Segoe UI" pitchFamily="34" charset="-122"/>
                <a:cs typeface="Segoe UI" pitchFamily="34" charset="-120"/>
              </a:rPr>
              <a:t>• Equipo: </a:t>
            </a:r>
            <a:pPr indent="0" marL="0">
              <a:buNone/>
            </a:pPr>
            <a:r>
              <a:rPr lang="en-US" sz="1200" dirty="0">
                <a:solidFill>
                  <a:srgbClr val="94A3B8"/>
                </a:solidFill>
                <a:latin typeface="Segoe UI" pitchFamily="34" charset="0"/>
                <a:ea typeface="Segoe UI" pitchFamily="34" charset="-122"/>
                <a:cs typeface="Segoe UI" pitchFamily="34" charset="-120"/>
              </a:rPr>
              <a:t>4 Integrantes (UI/UX, Lógica/CRUD, Hardware Arduino UNO, Cloud Azure)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0:00 - 2:00 · INTRODUCCIÓN</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1. PROBLEMA &amp; OBJETIVO DEL SISTEMA</a:t>
            </a:r>
            <a:endParaRPr lang="en-US" sz="2200" dirty="0"/>
          </a:p>
        </p:txBody>
      </p:sp>
      <p:sp>
        <p:nvSpPr>
          <p:cNvPr id="5" name="Shape 3"/>
          <p:cNvSpPr/>
          <p:nvPr/>
        </p:nvSpPr>
        <p:spPr>
          <a:xfrm>
            <a:off x="731520" y="1463040"/>
            <a:ext cx="5120640" cy="4572000"/>
          </a:xfrm>
          <a:prstGeom prst="roundRect">
            <a:avLst/>
          </a:prstGeom>
          <a:solidFill>
            <a:srgbClr val="1E293B"/>
          </a:solidFill>
          <a:ln w="19050">
            <a:solidFill>
              <a:srgbClr val="EF4444"/>
            </a:solidFill>
            <a:prstDash val="solid"/>
          </a:ln>
        </p:spPr>
      </p:sp>
      <p:sp>
        <p:nvSpPr>
          <p:cNvPr id="6" name="Text 4"/>
          <p:cNvSpPr/>
          <p:nvPr/>
        </p:nvSpPr>
        <p:spPr>
          <a:xfrm>
            <a:off x="1005840" y="1737360"/>
            <a:ext cx="4572000" cy="4023360"/>
          </a:xfrm>
          <a:prstGeom prst="rect">
            <a:avLst/>
          </a:prstGeom>
          <a:noFill/>
          <a:ln/>
        </p:spPr>
        <p:txBody>
          <a:bodyPr wrap="square" rtlCol="0" anchor="ctr"/>
          <a:lstStyle/>
          <a:p>
            <a:pPr indent="0" marL="0">
              <a:buNone/>
            </a:pPr>
            <a:r>
              <a:rPr lang="en-US" sz="1600" b="1" dirty="0">
                <a:solidFill>
                  <a:srgbClr val="EF4444"/>
                </a:solidFill>
                <a:latin typeface="Segoe UI" pitchFamily="34" charset="0"/>
                <a:ea typeface="Segoe UI" pitchFamily="34" charset="-122"/>
                <a:cs typeface="Segoe UI" pitchFamily="34" charset="-120"/>
              </a:rPr>
              <a:t>EL PROBLEMA REAL
</a:t>
            </a:r>
            <a:pPr indent="0" marL="0">
              <a:buNone/>
            </a:pPr>
            <a:r>
              <a:rPr lang="en-US" sz="1300" b="1" dirty="0">
                <a:solidFill>
                  <a:srgbClr val="FFFFFF"/>
                </a:solidFill>
                <a:latin typeface="Segoe UI" pitchFamily="34" charset="0"/>
                <a:ea typeface="Segoe UI" pitchFamily="34" charset="-122"/>
                <a:cs typeface="Segoe UI" pitchFamily="34" charset="-120"/>
              </a:rPr>
              <a:t>• Congestión y Tráfico Vial:
</a:t>
            </a:r>
            <a:pPr indent="0" marL="0">
              <a:buNone/>
            </a:pPr>
            <a:r>
              <a:rPr lang="en-US" sz="1200" dirty="0">
                <a:solidFill>
                  <a:srgbClr val="94A3B8"/>
                </a:solidFill>
                <a:latin typeface="Segoe UI" pitchFamily="34" charset="0"/>
                <a:ea typeface="Segoe UI" pitchFamily="34" charset="-122"/>
                <a:cs typeface="Segoe UI" pitchFamily="34" charset="-120"/>
              </a:rPr>
              <a:t>Hasta un 30% del flujo vehicular en centros urbanos proviene de conductores buscando estacionamiento.
</a:t>
            </a:r>
            <a:pPr indent="0" marL="0">
              <a:buNone/>
            </a:pPr>
            <a:r>
              <a:rPr lang="en-US" sz="1300" b="1" dirty="0">
                <a:solidFill>
                  <a:srgbClr val="FFFFFF"/>
                </a:solidFill>
                <a:latin typeface="Segoe UI" pitchFamily="34" charset="0"/>
                <a:ea typeface="Segoe UI" pitchFamily="34" charset="-122"/>
                <a:cs typeface="Segoe UI" pitchFamily="34" charset="-120"/>
              </a:rPr>
              <a:t>• Pérdida de Tiempo y Emisiones:
</a:t>
            </a:r>
            <a:pPr indent="0" marL="0">
              <a:buNone/>
            </a:pPr>
            <a:r>
              <a:rPr lang="en-US" sz="1200" dirty="0">
                <a:solidFill>
                  <a:srgbClr val="94A3B8"/>
                </a:solidFill>
                <a:latin typeface="Segoe UI" pitchFamily="34" charset="0"/>
                <a:ea typeface="Segoe UI" pitchFamily="34" charset="-122"/>
                <a:cs typeface="Segoe UI" pitchFamily="34" charset="-120"/>
              </a:rPr>
              <a:t>Gasto innecesario de combustible y aumento de huella de carbono por falta de información previa.
</a:t>
            </a:r>
            <a:pPr indent="0" marL="0">
              <a:buNone/>
            </a:pPr>
            <a:r>
              <a:rPr lang="en-US" sz="1300" b="1" dirty="0">
                <a:solidFill>
                  <a:srgbClr val="FFFFFF"/>
                </a:solidFill>
                <a:latin typeface="Segoe UI" pitchFamily="34" charset="0"/>
                <a:ea typeface="Segoe UI" pitchFamily="34" charset="-122"/>
                <a:cs typeface="Segoe UI" pitchFamily="34" charset="-120"/>
              </a:rPr>
              <a:t>• Gestión Manual Ineficiente:
</a:t>
            </a:r>
            <a:pPr indent="0" marL="0">
              <a:buNone/>
            </a:pPr>
            <a:r>
              <a:rPr lang="en-US" sz="1200" dirty="0">
                <a:solidFill>
                  <a:srgbClr val="94A3B8"/>
                </a:solidFill>
                <a:latin typeface="Segoe UI" pitchFamily="34" charset="0"/>
                <a:ea typeface="Segoe UI" pitchFamily="34" charset="-122"/>
                <a:cs typeface="Segoe UI" pitchFamily="34" charset="-120"/>
              </a:rPr>
              <a:t>Barreras manuales lentas y ausencia de telemetría de ocupación en tiempo real.</a:t>
            </a:r>
            <a:endParaRPr lang="en-US" sz="1600" dirty="0"/>
          </a:p>
        </p:txBody>
      </p:sp>
      <p:sp>
        <p:nvSpPr>
          <p:cNvPr id="7" name="Shape 5"/>
          <p:cNvSpPr/>
          <p:nvPr/>
        </p:nvSpPr>
        <p:spPr>
          <a:xfrm>
            <a:off x="6217920" y="1463040"/>
            <a:ext cx="5212080" cy="4572000"/>
          </a:xfrm>
          <a:prstGeom prst="roundRect">
            <a:avLst/>
          </a:prstGeom>
          <a:solidFill>
            <a:srgbClr val="1E293B"/>
          </a:solidFill>
          <a:ln w="19050">
            <a:solidFill>
              <a:srgbClr val="10B981"/>
            </a:solidFill>
            <a:prstDash val="solid"/>
          </a:ln>
        </p:spPr>
      </p:sp>
      <p:sp>
        <p:nvSpPr>
          <p:cNvPr id="8" name="Text 6"/>
          <p:cNvSpPr/>
          <p:nvPr/>
        </p:nvSpPr>
        <p:spPr>
          <a:xfrm>
            <a:off x="6492240" y="1737360"/>
            <a:ext cx="4663440" cy="4023360"/>
          </a:xfrm>
          <a:prstGeom prst="rect">
            <a:avLst/>
          </a:prstGeom>
          <a:noFill/>
          <a:ln/>
        </p:spPr>
        <p:txBody>
          <a:bodyPr wrap="square" rtlCol="0" anchor="ctr"/>
          <a:lstStyle/>
          <a:p>
            <a:pPr indent="0" marL="0">
              <a:buNone/>
            </a:pPr>
            <a:r>
              <a:rPr lang="en-US" sz="1600" b="1" dirty="0">
                <a:solidFill>
                  <a:srgbClr val="10B981"/>
                </a:solidFill>
                <a:latin typeface="Segoe UI" pitchFamily="34" charset="0"/>
                <a:ea typeface="Segoe UI" pitchFamily="34" charset="-122"/>
                <a:cs typeface="Segoe UI" pitchFamily="34" charset="-120"/>
              </a:rPr>
              <a:t>NUESTRA SOLUCIÓN: AURA
</a:t>
            </a:r>
            <a:pPr indent="0" marL="0">
              <a:buNone/>
            </a:pPr>
            <a:r>
              <a:rPr lang="en-US" sz="1300" b="1" dirty="0">
                <a:solidFill>
                  <a:srgbClr val="FFFFFF"/>
                </a:solidFill>
                <a:latin typeface="Segoe UI" pitchFamily="34" charset="0"/>
                <a:ea typeface="Segoe UI" pitchFamily="34" charset="-122"/>
                <a:cs typeface="Segoe UI" pitchFamily="34" charset="-120"/>
              </a:rPr>
              <a:t>• Automatización con IoT (Arduino UNO):
</a:t>
            </a:r>
            <a:pPr indent="0" marL="0">
              <a:buNone/>
            </a:pPr>
            <a:r>
              <a:rPr lang="en-US" sz="1200" dirty="0">
                <a:solidFill>
                  <a:srgbClr val="94A3B8"/>
                </a:solidFill>
                <a:latin typeface="Segoe UI" pitchFamily="34" charset="0"/>
                <a:ea typeface="Segoe UI" pitchFamily="34" charset="-122"/>
                <a:cs typeface="Segoe UI" pitchFamily="34" charset="-120"/>
              </a:rPr>
              <a:t>Maqueta de 6 espacios con 8 sensores ultrasónicos HC-SR04, servomotores SG90 y display LCD.
</a:t>
            </a:r>
            <a:pPr indent="0" marL="0">
              <a:buNone/>
            </a:pPr>
            <a:r>
              <a:rPr lang="en-US" sz="1300" b="1" dirty="0">
                <a:solidFill>
                  <a:srgbClr val="FFFFFF"/>
                </a:solidFill>
                <a:latin typeface="Segoe UI" pitchFamily="34" charset="0"/>
                <a:ea typeface="Segoe UI" pitchFamily="34" charset="-122"/>
                <a:cs typeface="Segoe UI" pitchFamily="34" charset="-120"/>
              </a:rPr>
              <a:t>• Plataforma Cloud en Azure:
</a:t>
            </a:r>
            <a:pPr indent="0" marL="0">
              <a:buNone/>
            </a:pPr>
            <a:r>
              <a:rPr lang="en-US" sz="1200" dirty="0">
                <a:solidFill>
                  <a:srgbClr val="94A3B8"/>
                </a:solidFill>
                <a:latin typeface="Segoe UI" pitchFamily="34" charset="0"/>
                <a:ea typeface="Segoe UI" pitchFamily="34" charset="-122"/>
                <a:cs typeface="Segoe UI" pitchFamily="34" charset="-120"/>
              </a:rPr>
              <a:t>Disponibilidad web pública en tiempo real accesible desde smartphones y ordenadores.
</a:t>
            </a:r>
            <a:pPr indent="0" marL="0">
              <a:buNone/>
            </a:pPr>
            <a:r>
              <a:rPr lang="en-US" sz="1300" b="1" dirty="0">
                <a:solidFill>
                  <a:srgbClr val="FFFFFF"/>
                </a:solidFill>
                <a:latin typeface="Segoe UI" pitchFamily="34" charset="0"/>
                <a:ea typeface="Segoe UI" pitchFamily="34" charset="-122"/>
                <a:cs typeface="Segoe UI" pitchFamily="34" charset="-120"/>
              </a:rPr>
              <a:t>• Agendamiento y Cobro por Minuto:
</a:t>
            </a:r>
            <a:pPr indent="0" marL="0">
              <a:buNone/>
            </a:pPr>
            <a:r>
              <a:rPr lang="en-US" sz="1200" dirty="0">
                <a:solidFill>
                  <a:srgbClr val="94A3B8"/>
                </a:solidFill>
                <a:latin typeface="Segoe UI" pitchFamily="34" charset="0"/>
                <a:ea typeface="Segoe UI" pitchFamily="34" charset="-122"/>
                <a:cs typeface="Segoe UI" pitchFamily="34" charset="-120"/>
              </a:rPr>
              <a:t>Terminal de reservas con patente chilena, pase digital QR y tarifa dinámica ($35 CLP/min).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2:00 - 5:00 · DISEÑO Y COMPONENTES</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2. ARQUITECTURA DE SOFTWARE EN 4 CAPAS</a:t>
            </a:r>
            <a:endParaRPr lang="en-US" sz="2200" dirty="0"/>
          </a:p>
        </p:txBody>
      </p:sp>
      <p:sp>
        <p:nvSpPr>
          <p:cNvPr id="5" name="Shape 3"/>
          <p:cNvSpPr/>
          <p:nvPr/>
        </p:nvSpPr>
        <p:spPr>
          <a:xfrm>
            <a:off x="731520" y="1463040"/>
            <a:ext cx="10698480" cy="1005840"/>
          </a:xfrm>
          <a:prstGeom prst="roundRect">
            <a:avLst/>
          </a:prstGeom>
          <a:solidFill>
            <a:srgbClr val="1E293B"/>
          </a:solidFill>
          <a:ln w="19050">
            <a:solidFill>
              <a:srgbClr val="0EA5E9"/>
            </a:solidFill>
            <a:prstDash val="solid"/>
          </a:ln>
        </p:spPr>
      </p:sp>
      <p:sp>
        <p:nvSpPr>
          <p:cNvPr id="6" name="Text 4"/>
          <p:cNvSpPr/>
          <p:nvPr/>
        </p:nvSpPr>
        <p:spPr>
          <a:xfrm>
            <a:off x="1005840" y="1572768"/>
            <a:ext cx="10149840" cy="777240"/>
          </a:xfrm>
          <a:prstGeom prst="rect">
            <a:avLst/>
          </a:prstGeom>
          <a:noFill/>
          <a:ln/>
        </p:spPr>
        <p:txBody>
          <a:bodyPr wrap="square" rtlCol="0" anchor="ctr"/>
          <a:lstStyle/>
          <a:p>
            <a:pPr indent="0" marL="0">
              <a:buNone/>
            </a:pPr>
            <a:r>
              <a:rPr lang="en-US" sz="1300" b="1" dirty="0">
                <a:solidFill>
                  <a:srgbClr val="0EA5E9"/>
                </a:solidFill>
                <a:latin typeface="Segoe UI" pitchFamily="34" charset="0"/>
                <a:ea typeface="Segoe UI" pitchFamily="34" charset="-122"/>
                <a:cs typeface="Segoe UI" pitchFamily="34" charset="-120"/>
              </a:rPr>
              <a:t>CAPA 1: PRESENTACIÓN (UI / UX)  </a:t>
            </a:r>
            <a:pPr indent="0" marL="0">
              <a:buNone/>
            </a:pPr>
            <a:r>
              <a:rPr lang="en-US" sz="1100" b="1" dirty="0">
                <a:solidFill>
                  <a:srgbClr val="FFFFFF"/>
                </a:solidFill>
                <a:latin typeface="Segoe UI" pitchFamily="34" charset="0"/>
                <a:ea typeface="Segoe UI" pitchFamily="34" charset="-122"/>
                <a:cs typeface="Segoe UI" pitchFamily="34" charset="-120"/>
              </a:rPr>
              <a:t>[React 18 + Tailwind CSS + Web Serial API]
</a:t>
            </a:r>
            <a:pPr indent="0" marL="0">
              <a:buNone/>
            </a:pPr>
            <a:r>
              <a:rPr lang="en-US" sz="1100" dirty="0">
                <a:solidFill>
                  <a:srgbClr val="94A3B8"/>
                </a:solidFill>
                <a:latin typeface="Segoe UI" pitchFamily="34" charset="0"/>
                <a:ea typeface="Segoe UI" pitchFamily="34" charset="-122"/>
                <a:cs typeface="Segoe UI" pitchFamily="34" charset="-120"/>
              </a:rPr>
              <a:t>SPA interactiva con tipografías Unbounded y Space Grotesk. Enlace serial directo por USB con Arduino.</a:t>
            </a:r>
            <a:endParaRPr lang="en-US" sz="1300" dirty="0"/>
          </a:p>
        </p:txBody>
      </p:sp>
      <p:sp>
        <p:nvSpPr>
          <p:cNvPr id="7" name="Shape 5"/>
          <p:cNvSpPr/>
          <p:nvPr/>
        </p:nvSpPr>
        <p:spPr>
          <a:xfrm>
            <a:off x="731520" y="2606040"/>
            <a:ext cx="10698480" cy="1005840"/>
          </a:xfrm>
          <a:prstGeom prst="roundRect">
            <a:avLst/>
          </a:prstGeom>
          <a:solidFill>
            <a:srgbClr val="1E293B"/>
          </a:solidFill>
          <a:ln w="19050">
            <a:solidFill>
              <a:srgbClr val="10B981"/>
            </a:solidFill>
            <a:prstDash val="solid"/>
          </a:ln>
        </p:spPr>
      </p:sp>
      <p:sp>
        <p:nvSpPr>
          <p:cNvPr id="8" name="Text 6"/>
          <p:cNvSpPr/>
          <p:nvPr/>
        </p:nvSpPr>
        <p:spPr>
          <a:xfrm>
            <a:off x="1005840" y="2715768"/>
            <a:ext cx="10149840" cy="777240"/>
          </a:xfrm>
          <a:prstGeom prst="rect">
            <a:avLst/>
          </a:prstGeom>
          <a:noFill/>
          <a:ln/>
        </p:spPr>
        <p:txBody>
          <a:bodyPr wrap="square" rtlCol="0" anchor="ctr"/>
          <a:lstStyle/>
          <a:p>
            <a:pPr indent="0" marL="0">
              <a:buNone/>
            </a:pPr>
            <a:r>
              <a:rPr lang="en-US" sz="1300" b="1" dirty="0">
                <a:solidFill>
                  <a:srgbClr val="10B981"/>
                </a:solidFill>
                <a:latin typeface="Segoe UI" pitchFamily="34" charset="0"/>
                <a:ea typeface="Segoe UI" pitchFamily="34" charset="-122"/>
                <a:cs typeface="Segoe UI" pitchFamily="34" charset="-120"/>
              </a:rPr>
              <a:t>CAPA 2: CONTROLADORES &amp; API REST  </a:t>
            </a:r>
            <a:pPr indent="0" marL="0">
              <a:buNone/>
            </a:pPr>
            <a:r>
              <a:rPr lang="en-US" sz="1100" b="1" dirty="0">
                <a:solidFill>
                  <a:srgbClr val="FFFFFF"/>
                </a:solidFill>
                <a:latin typeface="Segoe UI" pitchFamily="34" charset="0"/>
                <a:ea typeface="Segoe UI" pitchFamily="34" charset="-122"/>
                <a:cs typeface="Segoe UI" pitchFamily="34" charset="-120"/>
              </a:rPr>
              <a:t>[Node.js Express / IIS en Windows Server 2022]
</a:t>
            </a:r>
            <a:pPr indent="0" marL="0">
              <a:buNone/>
            </a:pPr>
            <a:r>
              <a:rPr lang="en-US" sz="1100" dirty="0">
                <a:solidFill>
                  <a:srgbClr val="94A3B8"/>
                </a:solidFill>
                <a:latin typeface="Segoe UI" pitchFamily="34" charset="0"/>
                <a:ea typeface="Segoe UI" pitchFamily="34" charset="-122"/>
                <a:cs typeface="Segoe UI" pitchFamily="34" charset="-120"/>
              </a:rPr>
              <a:t>Endpoints desacoplados (/state, /reserve, /release, /telemetry), sanitización y control de errores HTTP.</a:t>
            </a:r>
            <a:endParaRPr lang="en-US" sz="1300" dirty="0"/>
          </a:p>
        </p:txBody>
      </p:sp>
      <p:sp>
        <p:nvSpPr>
          <p:cNvPr id="9" name="Shape 7"/>
          <p:cNvSpPr/>
          <p:nvPr/>
        </p:nvSpPr>
        <p:spPr>
          <a:xfrm>
            <a:off x="731520" y="3749040"/>
            <a:ext cx="10698480" cy="1005840"/>
          </a:xfrm>
          <a:prstGeom prst="roundRect">
            <a:avLst/>
          </a:prstGeom>
          <a:solidFill>
            <a:srgbClr val="1E293B"/>
          </a:solidFill>
          <a:ln w="19050">
            <a:solidFill>
              <a:srgbClr val="F59E0B"/>
            </a:solidFill>
            <a:prstDash val="solid"/>
          </a:ln>
        </p:spPr>
      </p:sp>
      <p:sp>
        <p:nvSpPr>
          <p:cNvPr id="10" name="Text 8"/>
          <p:cNvSpPr/>
          <p:nvPr/>
        </p:nvSpPr>
        <p:spPr>
          <a:xfrm>
            <a:off x="1005840" y="3858768"/>
            <a:ext cx="10149840" cy="777240"/>
          </a:xfrm>
          <a:prstGeom prst="rect">
            <a:avLst/>
          </a:prstGeom>
          <a:noFill/>
          <a:ln/>
        </p:spPr>
        <p:txBody>
          <a:bodyPr wrap="square" rtlCol="0" anchor="ctr"/>
          <a:lstStyle/>
          <a:p>
            <a:pPr indent="0" marL="0">
              <a:buNone/>
            </a:pPr>
            <a:r>
              <a:rPr lang="en-US" sz="1300" b="1" dirty="0">
                <a:solidFill>
                  <a:srgbClr val="F59E0B"/>
                </a:solidFill>
                <a:latin typeface="Segoe UI" pitchFamily="34" charset="0"/>
                <a:ea typeface="Segoe UI" pitchFamily="34" charset="-122"/>
                <a:cs typeface="Segoe UI" pitchFamily="34" charset="-120"/>
              </a:rPr>
              <a:t>CAPA 3: LÓGICA DE NEGOCIO  </a:t>
            </a:r>
            <a:pPr indent="0" marL="0">
              <a:buNone/>
            </a:pPr>
            <a:r>
              <a:rPr lang="en-US" sz="1100" b="1" dirty="0">
                <a:solidFill>
                  <a:srgbClr val="FFFFFF"/>
                </a:solidFill>
                <a:latin typeface="Segoe UI" pitchFamily="34" charset="0"/>
                <a:ea typeface="Segoe UI" pitchFamily="34" charset="-122"/>
                <a:cs typeface="Segoe UI" pitchFamily="34" charset="-120"/>
              </a:rPr>
              <a:t>[Motor de Reglas de Dominio]
</a:t>
            </a:r>
            <a:pPr indent="0" marL="0">
              <a:buNone/>
            </a:pPr>
            <a:r>
              <a:rPr lang="en-US" sz="1100" dirty="0">
                <a:solidFill>
                  <a:srgbClr val="94A3B8"/>
                </a:solidFill>
                <a:latin typeface="Segoe UI" pitchFamily="34" charset="0"/>
                <a:ea typeface="Segoe UI" pitchFamily="34" charset="-122"/>
                <a:cs typeface="Segoe UI" pitchFamily="34" charset="-120"/>
              </a:rPr>
              <a:t>Regla física (&lt; 10 cm = Ocupado), validación de patentes chilenas y cálculo de tarificación ($35 CLP/min).</a:t>
            </a:r>
            <a:endParaRPr lang="en-US" sz="1300" dirty="0"/>
          </a:p>
        </p:txBody>
      </p:sp>
      <p:sp>
        <p:nvSpPr>
          <p:cNvPr id="11" name="Shape 9"/>
          <p:cNvSpPr/>
          <p:nvPr/>
        </p:nvSpPr>
        <p:spPr>
          <a:xfrm>
            <a:off x="731520" y="4892040"/>
            <a:ext cx="10698480" cy="1005840"/>
          </a:xfrm>
          <a:prstGeom prst="roundRect">
            <a:avLst/>
          </a:prstGeom>
          <a:solidFill>
            <a:srgbClr val="1E293B"/>
          </a:solidFill>
          <a:ln w="19050">
            <a:solidFill>
              <a:srgbClr val="A855F7"/>
            </a:solidFill>
            <a:prstDash val="solid"/>
          </a:ln>
        </p:spPr>
      </p:sp>
      <p:sp>
        <p:nvSpPr>
          <p:cNvPr id="12" name="Text 10"/>
          <p:cNvSpPr/>
          <p:nvPr/>
        </p:nvSpPr>
        <p:spPr>
          <a:xfrm>
            <a:off x="1005840" y="5001768"/>
            <a:ext cx="10149840" cy="777240"/>
          </a:xfrm>
          <a:prstGeom prst="rect">
            <a:avLst/>
          </a:prstGeom>
          <a:noFill/>
          <a:ln/>
        </p:spPr>
        <p:txBody>
          <a:bodyPr wrap="square" rtlCol="0" anchor="ctr"/>
          <a:lstStyle/>
          <a:p>
            <a:pPr indent="0" marL="0">
              <a:buNone/>
            </a:pPr>
            <a:r>
              <a:rPr lang="en-US" sz="1300" b="1" dirty="0">
                <a:solidFill>
                  <a:srgbClr val="A855F7"/>
                </a:solidFill>
                <a:latin typeface="Segoe UI" pitchFamily="34" charset="0"/>
                <a:ea typeface="Segoe UI" pitchFamily="34" charset="-122"/>
                <a:cs typeface="Segoe UI" pitchFamily="34" charset="-120"/>
              </a:rPr>
              <a:t>CAPA 4: PERSISTENCIA &amp; HARDWARE IOT  </a:t>
            </a:r>
            <a:pPr indent="0" marL="0">
              <a:buNone/>
            </a:pPr>
            <a:r>
              <a:rPr lang="en-US" sz="1100" b="1" dirty="0">
                <a:solidFill>
                  <a:srgbClr val="FFFFFF"/>
                </a:solidFill>
                <a:latin typeface="Segoe UI" pitchFamily="34" charset="0"/>
                <a:ea typeface="Segoe UI" pitchFamily="34" charset="-122"/>
                <a:cs typeface="Segoe UI" pitchFamily="34" charset="-120"/>
              </a:rPr>
              <a:t>[Azure Cosmos DB + Arduino UNO R3]
</a:t>
            </a:r>
            <a:pPr indent="0" marL="0">
              <a:buNone/>
            </a:pPr>
            <a:r>
              <a:rPr lang="en-US" sz="1100" dirty="0">
                <a:solidFill>
                  <a:srgbClr val="94A3B8"/>
                </a:solidFill>
                <a:latin typeface="Segoe UI" pitchFamily="34" charset="0"/>
                <a:ea typeface="Segoe UI" pitchFamily="34" charset="-122"/>
                <a:cs typeface="Segoe UI" pitchFamily="34" charset="-120"/>
              </a:rPr>
              <a:t>Persistencia de auditoría transaccional, 8 sensores ultrasónicos HC-SR04, servomotores SG90 y display LCD I2C.</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2:00 - 5:00 · DEFENSA TÉCNICA</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3. JUSTIFICACIÓN FRENTE A OTRAS ALTERNATIVAS</a:t>
            </a:r>
            <a:endParaRPr lang="en-US" sz="2200" dirty="0"/>
          </a:p>
        </p:txBody>
      </p:sp>
      <p:sp>
        <p:nvSpPr>
          <p:cNvPr id="5" name="Shape 3"/>
          <p:cNvSpPr/>
          <p:nvPr/>
        </p:nvSpPr>
        <p:spPr>
          <a:xfrm>
            <a:off x="731520" y="1463040"/>
            <a:ext cx="10698480" cy="1325880"/>
          </a:xfrm>
          <a:prstGeom prst="roundRect">
            <a:avLst/>
          </a:prstGeom>
          <a:solidFill>
            <a:srgbClr val="1E293B"/>
          </a:solidFill>
          <a:ln w="15240">
            <a:solidFill>
              <a:srgbClr val="0EA5E9"/>
            </a:solidFill>
            <a:prstDash val="solid"/>
          </a:ln>
        </p:spPr>
      </p:sp>
      <p:sp>
        <p:nvSpPr>
          <p:cNvPr id="6" name="Text 4"/>
          <p:cNvSpPr/>
          <p:nvPr/>
        </p:nvSpPr>
        <p:spPr>
          <a:xfrm>
            <a:off x="1005840" y="1600200"/>
            <a:ext cx="10149840" cy="1051560"/>
          </a:xfrm>
          <a:prstGeom prst="rect">
            <a:avLst/>
          </a:prstGeom>
          <a:noFill/>
          <a:ln/>
        </p:spPr>
        <p:txBody>
          <a:bodyPr wrap="square" rtlCol="0" anchor="ctr"/>
          <a:lstStyle/>
          <a:p>
            <a:pPr indent="0" marL="0">
              <a:buNone/>
            </a:pPr>
            <a:r>
              <a:rPr lang="en-US" sz="1300" b="1" dirty="0">
                <a:solidFill>
                  <a:srgbClr val="F59E0B"/>
                </a:solidFill>
                <a:latin typeface="Segoe UI" pitchFamily="34" charset="0"/>
                <a:ea typeface="Segoe UI" pitchFamily="34" charset="-122"/>
                <a:cs typeface="Segoe UI" pitchFamily="34" charset="-120"/>
              </a:rPr>
              <a:t>¿Por qué API Desacoplada y NO Monolito MVC tradicional?
</a:t>
            </a:r>
            <a:pPr indent="0" marL="0">
              <a:buNone/>
            </a:pPr>
            <a:r>
              <a:rPr lang="en-US" sz="1150" dirty="0">
                <a:solidFill>
                  <a:srgbClr val="FFFFFF"/>
                </a:solidFill>
                <a:latin typeface="Segoe UI" pitchFamily="34" charset="0"/>
                <a:ea typeface="Segoe UI" pitchFamily="34" charset="-122"/>
                <a:cs typeface="Segoe UI" pitchFamily="34" charset="-120"/>
              </a:rPr>
              <a:t>En un monolito clásico, cada lectura de sensor obligaría a recargar o re-renderizar la vista en el servidor. Con una API REST desacoplada, la telemetría viaja en paquetes JSON ligeros sin sobrecargar la CPU, permitiendo que múltiples clientes consuman los mismos datos simultáneamente.</a:t>
            </a:r>
            <a:endParaRPr lang="en-US" sz="1300" dirty="0"/>
          </a:p>
        </p:txBody>
      </p:sp>
      <p:sp>
        <p:nvSpPr>
          <p:cNvPr id="7" name="Shape 5"/>
          <p:cNvSpPr/>
          <p:nvPr/>
        </p:nvSpPr>
        <p:spPr>
          <a:xfrm>
            <a:off x="731520" y="2971800"/>
            <a:ext cx="10698480" cy="1325880"/>
          </a:xfrm>
          <a:prstGeom prst="roundRect">
            <a:avLst/>
          </a:prstGeom>
          <a:solidFill>
            <a:srgbClr val="1E293B"/>
          </a:solidFill>
          <a:ln w="15240">
            <a:solidFill>
              <a:srgbClr val="0EA5E9"/>
            </a:solidFill>
            <a:prstDash val="solid"/>
          </a:ln>
        </p:spPr>
      </p:sp>
      <p:sp>
        <p:nvSpPr>
          <p:cNvPr id="8" name="Text 6"/>
          <p:cNvSpPr/>
          <p:nvPr/>
        </p:nvSpPr>
        <p:spPr>
          <a:xfrm>
            <a:off x="1005840" y="3108960"/>
            <a:ext cx="10149840" cy="1051560"/>
          </a:xfrm>
          <a:prstGeom prst="rect">
            <a:avLst/>
          </a:prstGeom>
          <a:noFill/>
          <a:ln/>
        </p:spPr>
        <p:txBody>
          <a:bodyPr wrap="square" rtlCol="0" anchor="ctr"/>
          <a:lstStyle/>
          <a:p>
            <a:pPr indent="0" marL="0">
              <a:buNone/>
            </a:pPr>
            <a:r>
              <a:rPr lang="en-US" sz="1300" b="1" dirty="0">
                <a:solidFill>
                  <a:srgbClr val="F59E0B"/>
                </a:solidFill>
                <a:latin typeface="Segoe UI" pitchFamily="34" charset="0"/>
                <a:ea typeface="Segoe UI" pitchFamily="34" charset="-122"/>
                <a:cs typeface="Segoe UI" pitchFamily="34" charset="-120"/>
              </a:rPr>
              <a:t>¿Por qué NO Serverless puro para todo el sistema?
</a:t>
            </a:r>
            <a:pPr indent="0" marL="0">
              <a:buNone/>
            </a:pPr>
            <a:r>
              <a:rPr lang="en-US" sz="1150" dirty="0">
                <a:solidFill>
                  <a:srgbClr val="FFFFFF"/>
                </a:solidFill>
                <a:latin typeface="Segoe UI" pitchFamily="34" charset="0"/>
                <a:ea typeface="Segoe UI" pitchFamily="34" charset="-122"/>
                <a:cs typeface="Segoe UI" pitchFamily="34" charset="-120"/>
              </a:rPr>
              <a:t>Las Azure Functions son ideales para cargas esporádicas, pero la telemetría continua de sensores y la conexión persistente por Web Serial API requieren un entorno de ejecución continuo y estable como Azure App Service o Windows Server con IIS.</a:t>
            </a:r>
            <a:endParaRPr lang="en-US" sz="1300" dirty="0"/>
          </a:p>
        </p:txBody>
      </p:sp>
      <p:sp>
        <p:nvSpPr>
          <p:cNvPr id="9" name="Shape 7"/>
          <p:cNvSpPr/>
          <p:nvPr/>
        </p:nvSpPr>
        <p:spPr>
          <a:xfrm>
            <a:off x="731520" y="4480560"/>
            <a:ext cx="10698480" cy="1325880"/>
          </a:xfrm>
          <a:prstGeom prst="roundRect">
            <a:avLst/>
          </a:prstGeom>
          <a:solidFill>
            <a:srgbClr val="1E293B"/>
          </a:solidFill>
          <a:ln w="15240">
            <a:solidFill>
              <a:srgbClr val="0EA5E9"/>
            </a:solidFill>
            <a:prstDash val="solid"/>
          </a:ln>
        </p:spPr>
      </p:sp>
      <p:sp>
        <p:nvSpPr>
          <p:cNvPr id="10" name="Text 8"/>
          <p:cNvSpPr/>
          <p:nvPr/>
        </p:nvSpPr>
        <p:spPr>
          <a:xfrm>
            <a:off x="1005840" y="4617720"/>
            <a:ext cx="10149840" cy="1051560"/>
          </a:xfrm>
          <a:prstGeom prst="rect">
            <a:avLst/>
          </a:prstGeom>
          <a:noFill/>
          <a:ln/>
        </p:spPr>
        <p:txBody>
          <a:bodyPr wrap="square" rtlCol="0" anchor="ctr"/>
          <a:lstStyle/>
          <a:p>
            <a:pPr indent="0" marL="0">
              <a:buNone/>
            </a:pPr>
            <a:r>
              <a:rPr lang="en-US" sz="1300" b="1" dirty="0">
                <a:solidFill>
                  <a:srgbClr val="F59E0B"/>
                </a:solidFill>
                <a:latin typeface="Segoe UI" pitchFamily="34" charset="0"/>
                <a:ea typeface="Segoe UI" pitchFamily="34" charset="-122"/>
                <a:cs typeface="Segoe UI" pitchFamily="34" charset="-120"/>
              </a:rPr>
              <a:t>¿Cómo responde la arquitectura ante caídas de Internet?
</a:t>
            </a:r>
            <a:pPr indent="0" marL="0">
              <a:buNone/>
            </a:pPr>
            <a:r>
              <a:rPr lang="en-US" sz="1150" dirty="0">
                <a:solidFill>
                  <a:srgbClr val="FFFFFF"/>
                </a:solidFill>
                <a:latin typeface="Segoe UI" pitchFamily="34" charset="0"/>
                <a:ea typeface="Segoe UI" pitchFamily="34" charset="-122"/>
                <a:cs typeface="Segoe UI" pitchFamily="34" charset="-120"/>
              </a:rPr>
              <a:t>El Arduino UNO R3 posee lógica autónoma local: si la nube pierde conectividad, los sensores siguen abriendo las barreras y actualizando la pantalla LCD física. Al volver la red, los datos se sincronizan sin pérdidas.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5:00 · COMPONENTES Y CIRCUITO</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4. INTEGRACIÓN IOT: MAQUETA FÍSICA (70 × 72 CM)</a:t>
            </a:r>
            <a:endParaRPr lang="en-US" sz="2200" dirty="0"/>
          </a:p>
        </p:txBody>
      </p:sp>
      <p:sp>
        <p:nvSpPr>
          <p:cNvPr id="5" name="Shape 3"/>
          <p:cNvSpPr/>
          <p:nvPr/>
        </p:nvSpPr>
        <p:spPr>
          <a:xfrm>
            <a:off x="731520" y="1463040"/>
            <a:ext cx="10698480" cy="4572000"/>
          </a:xfrm>
          <a:prstGeom prst="roundRect">
            <a:avLst/>
          </a:prstGeom>
          <a:solidFill>
            <a:srgbClr val="1E293B"/>
          </a:solidFill>
          <a:ln w="19050">
            <a:solidFill>
              <a:srgbClr val="10B981"/>
            </a:solidFill>
            <a:prstDash val="solid"/>
          </a:ln>
        </p:spPr>
      </p:sp>
      <p:sp>
        <p:nvSpPr>
          <p:cNvPr id="6" name="Text 4"/>
          <p:cNvSpPr/>
          <p:nvPr/>
        </p:nvSpPr>
        <p:spPr>
          <a:xfrm>
            <a:off x="1005840" y="1737360"/>
            <a:ext cx="10149840" cy="4023360"/>
          </a:xfrm>
          <a:prstGeom prst="rect">
            <a:avLst/>
          </a:prstGeom>
          <a:noFill/>
          <a:ln/>
        </p:spPr>
        <p:txBody>
          <a:bodyPr wrap="square" rtlCol="0" anchor="ctr"/>
          <a:lstStyle/>
          <a:p>
            <a:pPr indent="0" marL="0">
              <a:buNone/>
            </a:pPr>
            <a:r>
              <a:rPr lang="en-US" sz="1500" b="1" dirty="0">
                <a:solidFill>
                  <a:srgbClr val="10B981"/>
                </a:solidFill>
                <a:latin typeface="Segoe UI" pitchFamily="34" charset="0"/>
                <a:ea typeface="Segoe UI" pitchFamily="34" charset="-122"/>
                <a:cs typeface="Segoe UI" pitchFamily="34" charset="-120"/>
              </a:rPr>
              <a:t>ESPECIFICACIONES DEL CIRCUITO (ARDUINO UNO R3):
</a:t>
            </a:r>
            <a:pPr indent="0" marL="0">
              <a:buNone/>
            </a:pPr>
            <a:r>
              <a:rPr lang="en-US" sz="1250" b="1" dirty="0">
                <a:solidFill>
                  <a:srgbClr val="FFFFFF"/>
                </a:solidFill>
                <a:latin typeface="Segoe UI" pitchFamily="34" charset="0"/>
                <a:ea typeface="Segoe UI" pitchFamily="34" charset="-122"/>
                <a:cs typeface="Segoe UI" pitchFamily="34" charset="-120"/>
              </a:rPr>
              <a:t>• Microcontrolador: </a:t>
            </a:r>
            <a:pPr indent="0" marL="0">
              <a:buNone/>
            </a:pPr>
            <a:r>
              <a:rPr lang="en-US" sz="1250" dirty="0">
                <a:solidFill>
                  <a:srgbClr val="94A3B8"/>
                </a:solidFill>
                <a:latin typeface="Segoe UI" pitchFamily="34" charset="0"/>
                <a:ea typeface="Segoe UI" pitchFamily="34" charset="-122"/>
                <a:cs typeface="Segoe UI" pitchFamily="34" charset="-120"/>
              </a:rPr>
              <a:t>Arduino UNO R3 (ATmega328P a 16 MHz) operando a 5V.
</a:t>
            </a:r>
            <a:pPr indent="0" marL="0">
              <a:buNone/>
            </a:pPr>
            <a:r>
              <a:rPr lang="en-US" sz="1250" b="1" dirty="0">
                <a:solidFill>
                  <a:srgbClr val="FFFFFF"/>
                </a:solidFill>
                <a:latin typeface="Segoe UI" pitchFamily="34" charset="0"/>
                <a:ea typeface="Segoe UI" pitchFamily="34" charset="-122"/>
                <a:cs typeface="Segoe UI" pitchFamily="34" charset="-120"/>
              </a:rPr>
              <a:t>• 8 Sensores Ultrasónicos HC-SR04: </a:t>
            </a:r>
            <a:pPr indent="0" marL="0">
              <a:buNone/>
            </a:pPr>
            <a:r>
              <a:rPr lang="en-US" sz="1250" dirty="0">
                <a:solidFill>
                  <a:srgbClr val="94A3B8"/>
                </a:solidFill>
                <a:latin typeface="Segoe UI" pitchFamily="34" charset="0"/>
                <a:ea typeface="Segoe UI" pitchFamily="34" charset="-122"/>
                <a:cs typeface="Segoe UI" pitchFamily="34" charset="-120"/>
              </a:rPr>
              <a:t>6 sensores para los cajones de estacionamiento + 1 en entrada + 1 en salida.
</a:t>
            </a:r>
            <a:pPr indent="0" marL="0">
              <a:buNone/>
            </a:pPr>
            <a:r>
              <a:rPr lang="en-US" sz="1250" b="1" dirty="0">
                <a:solidFill>
                  <a:srgbClr val="F59E0B"/>
                </a:solidFill>
                <a:latin typeface="Segoe UI" pitchFamily="34" charset="0"/>
                <a:ea typeface="Segoe UI" pitchFamily="34" charset="-122"/>
                <a:cs typeface="Segoe UI" pitchFamily="34" charset="-120"/>
              </a:rPr>
              <a:t>• Disparo Global Compartido: </a:t>
            </a:r>
            <a:pPr indent="0" marL="0">
              <a:buNone/>
            </a:pPr>
            <a:r>
              <a:rPr lang="en-US" sz="1250" dirty="0">
                <a:solidFill>
                  <a:srgbClr val="94A3B8"/>
                </a:solidFill>
                <a:latin typeface="Segoe UI" pitchFamily="34" charset="0"/>
                <a:ea typeface="Segoe UI" pitchFamily="34" charset="-122"/>
                <a:cs typeface="Segoe UI" pitchFamily="34" charset="-120"/>
              </a:rPr>
              <a:t>Pin Digital 2 compartido como Trigger común para todos los sensores de cupos, resolviendo la limitación de pines del Arduino UNO.
</a:t>
            </a:r>
            <a:pPr indent="0" marL="0">
              <a:buNone/>
            </a:pPr>
            <a:r>
              <a:rPr lang="en-US" sz="1250" b="1" dirty="0">
                <a:solidFill>
                  <a:srgbClr val="FFFFFF"/>
                </a:solidFill>
                <a:latin typeface="Segoe UI" pitchFamily="34" charset="0"/>
                <a:ea typeface="Segoe UI" pitchFamily="34" charset="-122"/>
                <a:cs typeface="Segoe UI" pitchFamily="34" charset="-120"/>
              </a:rPr>
              <a:t>• 2 Servomotores SG90: </a:t>
            </a:r>
            <a:pPr indent="0" marL="0">
              <a:buNone/>
            </a:pPr>
            <a:r>
              <a:rPr lang="en-US" sz="1250" dirty="0">
                <a:solidFill>
                  <a:srgbClr val="94A3B8"/>
                </a:solidFill>
                <a:latin typeface="Segoe UI" pitchFamily="34" charset="0"/>
                <a:ea typeface="Segoe UI" pitchFamily="34" charset="-122"/>
                <a:cs typeface="Segoe UI" pitchFamily="34" charset="-120"/>
              </a:rPr>
              <a:t>Barrera de entrada (Pin 9) y barrera de salida (Pin 10) rotando de 0° (cerrada) a 90° (abierta).
</a:t>
            </a:r>
            <a:pPr indent="0" marL="0">
              <a:buNone/>
            </a:pPr>
            <a:r>
              <a:rPr lang="en-US" sz="1250" b="1" dirty="0">
                <a:solidFill>
                  <a:srgbClr val="FFFFFF"/>
                </a:solidFill>
                <a:latin typeface="Segoe UI" pitchFamily="34" charset="0"/>
                <a:ea typeface="Segoe UI" pitchFamily="34" charset="-122"/>
                <a:cs typeface="Segoe UI" pitchFamily="34" charset="-120"/>
              </a:rPr>
              <a:t>• Pantalla LCD 16x2 I2C: </a:t>
            </a:r>
            <a:pPr indent="0" marL="0">
              <a:buNone/>
            </a:pPr>
            <a:r>
              <a:rPr lang="en-US" sz="1250" dirty="0">
                <a:solidFill>
                  <a:srgbClr val="94A3B8"/>
                </a:solidFill>
                <a:latin typeface="Segoe UI" pitchFamily="34" charset="0"/>
                <a:ea typeface="Segoe UI" pitchFamily="34" charset="-122"/>
                <a:cs typeface="Segoe UI" pitchFamily="34" charset="-120"/>
              </a:rPr>
              <a:t>Dirección 0x27 en pines analógicos A4 (SDA) y A5 (SCL) para conteo autónomo.
</a:t>
            </a:r>
            <a:pPr indent="0" marL="0">
              <a:buNone/>
            </a:pPr>
            <a:r>
              <a:rPr lang="en-US" sz="1250" b="1" dirty="0">
                <a:solidFill>
                  <a:srgbClr val="0EA5E9"/>
                </a:solidFill>
                <a:latin typeface="Segoe UI" pitchFamily="34" charset="0"/>
                <a:ea typeface="Segoe UI" pitchFamily="34" charset="-122"/>
                <a:cs typeface="Segoe UI" pitchFamily="34" charset="-120"/>
              </a:rPr>
              <a:t>• Web Serial API: </a:t>
            </a:r>
            <a:pPr indent="0" marL="0">
              <a:buNone/>
            </a:pPr>
            <a:r>
              <a:rPr lang="en-US" sz="1250" dirty="0">
                <a:solidFill>
                  <a:srgbClr val="94A3B8"/>
                </a:solidFill>
                <a:latin typeface="Segoe UI" pitchFamily="34" charset="0"/>
                <a:ea typeface="Segoe UI" pitchFamily="34" charset="-122"/>
                <a:cs typeface="Segoe UI" pitchFamily="34" charset="-120"/>
              </a:rPr>
              <a:t>Conexión USB directa desde el navegador (Google Chrome/Edge) sin drivers externos.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5:00 - 8:00 · CASO DE USO E2E</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5. DEMOSTRACIÓN EN VIVO &amp; OPERACIONES CRUD</a:t>
            </a:r>
            <a:endParaRPr lang="en-US" sz="2200" dirty="0"/>
          </a:p>
        </p:txBody>
      </p:sp>
      <p:sp>
        <p:nvSpPr>
          <p:cNvPr id="5" name="Shape 3"/>
          <p:cNvSpPr/>
          <p:nvPr/>
        </p:nvSpPr>
        <p:spPr>
          <a:xfrm>
            <a:off x="731520" y="1463040"/>
            <a:ext cx="10698480" cy="1005840"/>
          </a:xfrm>
          <a:prstGeom prst="roundRect">
            <a:avLst/>
          </a:prstGeom>
          <a:solidFill>
            <a:srgbClr val="1E293B"/>
          </a:solidFill>
          <a:ln w="19050">
            <a:solidFill>
              <a:srgbClr val="0EA5E9"/>
            </a:solidFill>
            <a:prstDash val="solid"/>
          </a:ln>
        </p:spPr>
      </p:sp>
      <p:sp>
        <p:nvSpPr>
          <p:cNvPr id="6" name="Text 4"/>
          <p:cNvSpPr/>
          <p:nvPr/>
        </p:nvSpPr>
        <p:spPr>
          <a:xfrm>
            <a:off x="1005840" y="1572768"/>
            <a:ext cx="10149840" cy="777240"/>
          </a:xfrm>
          <a:prstGeom prst="rect">
            <a:avLst/>
          </a:prstGeom>
          <a:noFill/>
          <a:ln/>
        </p:spPr>
        <p:txBody>
          <a:bodyPr wrap="square" rtlCol="0" anchor="ctr"/>
          <a:lstStyle/>
          <a:p>
            <a:pPr indent="0" marL="0">
              <a:buNone/>
            </a:pPr>
            <a:r>
              <a:rPr lang="en-US" sz="1300" b="1" dirty="0">
                <a:solidFill>
                  <a:srgbClr val="0EA5E9"/>
                </a:solidFill>
                <a:latin typeface="Segoe UI" pitchFamily="34" charset="0"/>
                <a:ea typeface="Segoe UI" pitchFamily="34" charset="-122"/>
                <a:cs typeface="Segoe UI" pitchFamily="34" charset="-120"/>
              </a:rPr>
              <a:t>[CREATE] Reserva de Cupo
</a:t>
            </a:r>
            <a:pPr indent="0" marL="0">
              <a:buNone/>
            </a:pPr>
            <a:r>
              <a:rPr lang="en-US" sz="1100" dirty="0">
                <a:solidFill>
                  <a:srgbClr val="FFFFFF"/>
                </a:solidFill>
                <a:latin typeface="Segoe UI" pitchFamily="34" charset="0"/>
                <a:ea typeface="Segoe UI" pitchFamily="34" charset="-122"/>
                <a:cs typeface="Segoe UI" pitchFamily="34" charset="-120"/>
              </a:rPr>
              <a:t>POST /api/parking/reserve -&gt; Conductor ingresa patente chilena (ej. ABCD-12), sistema bloquea cupo y emite Pase Digital con QR.</a:t>
            </a:r>
            <a:endParaRPr lang="en-US" sz="1300" dirty="0"/>
          </a:p>
        </p:txBody>
      </p:sp>
      <p:sp>
        <p:nvSpPr>
          <p:cNvPr id="7" name="Shape 5"/>
          <p:cNvSpPr/>
          <p:nvPr/>
        </p:nvSpPr>
        <p:spPr>
          <a:xfrm>
            <a:off x="731520" y="2606040"/>
            <a:ext cx="10698480" cy="1005840"/>
          </a:xfrm>
          <a:prstGeom prst="roundRect">
            <a:avLst/>
          </a:prstGeom>
          <a:solidFill>
            <a:srgbClr val="1E293B"/>
          </a:solidFill>
          <a:ln w="19050">
            <a:solidFill>
              <a:srgbClr val="10B981"/>
            </a:solidFill>
            <a:prstDash val="solid"/>
          </a:ln>
        </p:spPr>
      </p:sp>
      <p:sp>
        <p:nvSpPr>
          <p:cNvPr id="8" name="Text 6"/>
          <p:cNvSpPr/>
          <p:nvPr/>
        </p:nvSpPr>
        <p:spPr>
          <a:xfrm>
            <a:off x="1005840" y="2715768"/>
            <a:ext cx="10149840" cy="777240"/>
          </a:xfrm>
          <a:prstGeom prst="rect">
            <a:avLst/>
          </a:prstGeom>
          <a:noFill/>
          <a:ln/>
        </p:spPr>
        <p:txBody>
          <a:bodyPr wrap="square" rtlCol="0" anchor="ctr"/>
          <a:lstStyle/>
          <a:p>
            <a:pPr indent="0" marL="0">
              <a:buNone/>
            </a:pPr>
            <a:r>
              <a:rPr lang="en-US" sz="1300" b="1" dirty="0">
                <a:solidFill>
                  <a:srgbClr val="10B981"/>
                </a:solidFill>
                <a:latin typeface="Segoe UI" pitchFamily="34" charset="0"/>
                <a:ea typeface="Segoe UI" pitchFamily="34" charset="-122"/>
                <a:cs typeface="Segoe UI" pitchFamily="34" charset="-120"/>
              </a:rPr>
              <a:t>[READ] Monitoreo en Vivo
</a:t>
            </a:r>
            <a:pPr indent="0" marL="0">
              <a:buNone/>
            </a:pPr>
            <a:r>
              <a:rPr lang="en-US" sz="1100" dirty="0">
                <a:solidFill>
                  <a:srgbClr val="FFFFFF"/>
                </a:solidFill>
                <a:latin typeface="Segoe UI" pitchFamily="34" charset="0"/>
                <a:ea typeface="Segoe UI" pitchFamily="34" charset="-122"/>
                <a:cs typeface="Segoe UI" pitchFamily="34" charset="-120"/>
              </a:rPr>
              <a:t>GET /api/parking/state -&gt; Lectura cada 2.5s de distancias en cm de los 8 sensores y auditoría de eventos en logs.</a:t>
            </a:r>
            <a:endParaRPr lang="en-US" sz="1300" dirty="0"/>
          </a:p>
        </p:txBody>
      </p:sp>
      <p:sp>
        <p:nvSpPr>
          <p:cNvPr id="9" name="Shape 7"/>
          <p:cNvSpPr/>
          <p:nvPr/>
        </p:nvSpPr>
        <p:spPr>
          <a:xfrm>
            <a:off x="731520" y="3749040"/>
            <a:ext cx="10698480" cy="1005840"/>
          </a:xfrm>
          <a:prstGeom prst="roundRect">
            <a:avLst/>
          </a:prstGeom>
          <a:solidFill>
            <a:srgbClr val="1E293B"/>
          </a:solidFill>
          <a:ln w="19050">
            <a:solidFill>
              <a:srgbClr val="F59E0B"/>
            </a:solidFill>
            <a:prstDash val="solid"/>
          </a:ln>
        </p:spPr>
      </p:sp>
      <p:sp>
        <p:nvSpPr>
          <p:cNvPr id="10" name="Text 8"/>
          <p:cNvSpPr/>
          <p:nvPr/>
        </p:nvSpPr>
        <p:spPr>
          <a:xfrm>
            <a:off x="1005840" y="3858768"/>
            <a:ext cx="10149840" cy="777240"/>
          </a:xfrm>
          <a:prstGeom prst="rect">
            <a:avLst/>
          </a:prstGeom>
          <a:noFill/>
          <a:ln/>
        </p:spPr>
        <p:txBody>
          <a:bodyPr wrap="square" rtlCol="0" anchor="ctr"/>
          <a:lstStyle/>
          <a:p>
            <a:pPr indent="0" marL="0">
              <a:buNone/>
            </a:pPr>
            <a:r>
              <a:rPr lang="en-US" sz="1300" b="1" dirty="0">
                <a:solidFill>
                  <a:srgbClr val="F59E0B"/>
                </a:solidFill>
                <a:latin typeface="Segoe UI" pitchFamily="34" charset="0"/>
                <a:ea typeface="Segoe UI" pitchFamily="34" charset="-122"/>
                <a:cs typeface="Segoe UI" pitchFamily="34" charset="-120"/>
              </a:rPr>
              <a:t>[UPDATE] Detección y Barrera
</a:t>
            </a:r>
            <a:pPr indent="0" marL="0">
              <a:buNone/>
            </a:pPr>
            <a:r>
              <a:rPr lang="en-US" sz="1100" dirty="0">
                <a:solidFill>
                  <a:srgbClr val="FFFFFF"/>
                </a:solidFill>
                <a:latin typeface="Segoe UI" pitchFamily="34" charset="0"/>
                <a:ea typeface="Segoe UI" pitchFamily="34" charset="-122"/>
                <a:cs typeface="Segoe UI" pitchFamily="34" charset="-120"/>
              </a:rPr>
              <a:t>POST /api/parking/telemetry -&gt; Distancia &lt; 10 cm cambia espacio a OCUPADO en rojo. /barrier rota servo a 90°.</a:t>
            </a:r>
            <a:endParaRPr lang="en-US" sz="1300" dirty="0"/>
          </a:p>
        </p:txBody>
      </p:sp>
      <p:sp>
        <p:nvSpPr>
          <p:cNvPr id="11" name="Shape 9"/>
          <p:cNvSpPr/>
          <p:nvPr/>
        </p:nvSpPr>
        <p:spPr>
          <a:xfrm>
            <a:off x="731520" y="4892040"/>
            <a:ext cx="10698480" cy="1005840"/>
          </a:xfrm>
          <a:prstGeom prst="roundRect">
            <a:avLst/>
          </a:prstGeom>
          <a:solidFill>
            <a:srgbClr val="1E293B"/>
          </a:solidFill>
          <a:ln w="19050">
            <a:solidFill>
              <a:srgbClr val="EF4444"/>
            </a:solidFill>
            <a:prstDash val="solid"/>
          </a:ln>
        </p:spPr>
      </p:sp>
      <p:sp>
        <p:nvSpPr>
          <p:cNvPr id="12" name="Text 10"/>
          <p:cNvSpPr/>
          <p:nvPr/>
        </p:nvSpPr>
        <p:spPr>
          <a:xfrm>
            <a:off x="1005840" y="5001768"/>
            <a:ext cx="10149840" cy="777240"/>
          </a:xfrm>
          <a:prstGeom prst="rect">
            <a:avLst/>
          </a:prstGeom>
          <a:noFill/>
          <a:ln/>
        </p:spPr>
        <p:txBody>
          <a:bodyPr wrap="square" rtlCol="0" anchor="ctr"/>
          <a:lstStyle/>
          <a:p>
            <a:pPr indent="0" marL="0">
              <a:buNone/>
            </a:pPr>
            <a:r>
              <a:rPr lang="en-US" sz="1300" b="1" dirty="0">
                <a:solidFill>
                  <a:srgbClr val="EF4444"/>
                </a:solidFill>
                <a:latin typeface="Segoe UI" pitchFamily="34" charset="0"/>
                <a:ea typeface="Segoe UI" pitchFamily="34" charset="-122"/>
                <a:cs typeface="Segoe UI" pitchFamily="34" charset="-120"/>
              </a:rPr>
              <a:t>[DELETE] Checkout y Cobro
</a:t>
            </a:r>
            <a:pPr indent="0" marL="0">
              <a:buNone/>
            </a:pPr>
            <a:r>
              <a:rPr lang="en-US" sz="1100" dirty="0">
                <a:solidFill>
                  <a:srgbClr val="FFFFFF"/>
                </a:solidFill>
                <a:latin typeface="Segoe UI" pitchFamily="34" charset="0"/>
                <a:ea typeface="Segoe UI" pitchFamily="34" charset="-122"/>
                <a:cs typeface="Segoe UI" pitchFamily="34" charset="-120"/>
              </a:rPr>
              <a:t>POST /api/parking/release -&gt; Salida vehicular, cobro exacto calculado ($35 CLP/min) y liberación a LIBRE.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8:00 - 10:00 · DESPLIEGUE CLOUD</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6. INFRAESTRUCTURA &amp; SERVICIOS EN MICROSOFT AZURE</a:t>
            </a:r>
            <a:endParaRPr lang="en-US" sz="2200" dirty="0"/>
          </a:p>
        </p:txBody>
      </p:sp>
      <p:sp>
        <p:nvSpPr>
          <p:cNvPr id="5" name="Shape 3"/>
          <p:cNvSpPr/>
          <p:nvPr/>
        </p:nvSpPr>
        <p:spPr>
          <a:xfrm>
            <a:off x="731520" y="1463040"/>
            <a:ext cx="10698480" cy="4572000"/>
          </a:xfrm>
          <a:prstGeom prst="roundRect">
            <a:avLst/>
          </a:prstGeom>
          <a:solidFill>
            <a:srgbClr val="1E293B"/>
          </a:solidFill>
          <a:ln w="19050">
            <a:solidFill>
              <a:srgbClr val="0EA5E9"/>
            </a:solidFill>
            <a:prstDash val="solid"/>
          </a:ln>
        </p:spPr>
      </p:sp>
      <p:sp>
        <p:nvSpPr>
          <p:cNvPr id="6" name="Text 4"/>
          <p:cNvSpPr/>
          <p:nvPr/>
        </p:nvSpPr>
        <p:spPr>
          <a:xfrm>
            <a:off x="1005840" y="1737360"/>
            <a:ext cx="10149840" cy="4023360"/>
          </a:xfrm>
          <a:prstGeom prst="rect">
            <a:avLst/>
          </a:prstGeom>
          <a:noFill/>
          <a:ln/>
        </p:spPr>
        <p:txBody>
          <a:bodyPr wrap="square" rtlCol="0" anchor="ctr"/>
          <a:lstStyle/>
          <a:p>
            <a:pPr indent="0" marL="0">
              <a:buNone/>
            </a:pPr>
            <a:r>
              <a:rPr lang="en-US" sz="1500" b="1" dirty="0">
                <a:solidFill>
                  <a:srgbClr val="0EA5E9"/>
                </a:solidFill>
                <a:latin typeface="Segoe UI" pitchFamily="34" charset="0"/>
                <a:ea typeface="Segoe UI" pitchFamily="34" charset="-122"/>
                <a:cs typeface="Segoe UI" pitchFamily="34" charset="-120"/>
              </a:rPr>
              <a:t>CONFIGURACIÓN DE INFRAESTRUCTURA ACREDITADA:
</a:t>
            </a:r>
            <a:pPr indent="0" marL="0">
              <a:buNone/>
            </a:pPr>
            <a:r>
              <a:rPr lang="en-US" sz="1250" b="1" dirty="0">
                <a:solidFill>
                  <a:srgbClr val="FFFFFF"/>
                </a:solidFill>
                <a:latin typeface="Segoe UI" pitchFamily="34" charset="0"/>
                <a:ea typeface="Segoe UI" pitchFamily="34" charset="-122"/>
                <a:cs typeface="Segoe UI" pitchFamily="34" charset="-120"/>
              </a:rPr>
              <a:t>• Máquina Virtual en Azure: </a:t>
            </a:r>
            <a:pPr indent="0" marL="0">
              <a:buNone/>
            </a:pPr>
            <a:r>
              <a:rPr lang="en-US" sz="1250" dirty="0">
                <a:solidFill>
                  <a:srgbClr val="94A3B8"/>
                </a:solidFill>
                <a:latin typeface="Segoe UI" pitchFamily="34" charset="0"/>
                <a:ea typeface="Segoe UI" pitchFamily="34" charset="-122"/>
                <a:cs typeface="Segoe UI" pitchFamily="34" charset="-120"/>
              </a:rPr>
              <a:t>Instancia Standard_B2s (2 vCPUs, 4 GiB RAM, SSD 128 GiB) corriendo Windows Server 2022 Datacenter.
</a:t>
            </a:r>
            <a:pPr indent="0" marL="0">
              <a:buNone/>
            </a:pPr>
            <a:r>
              <a:rPr lang="en-US" sz="1250" b="1" dirty="0">
                <a:solidFill>
                  <a:srgbClr val="FFFFFF"/>
                </a:solidFill>
                <a:latin typeface="Segoe UI" pitchFamily="34" charset="0"/>
                <a:ea typeface="Segoe UI" pitchFamily="34" charset="-122"/>
                <a:cs typeface="Segoe UI" pitchFamily="34" charset="-120"/>
              </a:rPr>
              <a:t>• Servidor Web IIS: </a:t>
            </a:r>
            <a:pPr indent="0" marL="0">
              <a:buNone/>
            </a:pPr>
            <a:r>
              <a:rPr lang="en-US" sz="1250" dirty="0">
                <a:solidFill>
                  <a:srgbClr val="94A3B8"/>
                </a:solidFill>
                <a:latin typeface="Segoe UI" pitchFamily="34" charset="0"/>
                <a:ea typeface="Segoe UI" pitchFamily="34" charset="-122"/>
                <a:cs typeface="Segoe UI" pitchFamily="34" charset="-120"/>
              </a:rPr>
              <a:t>Internet Information Services con URL Rewrite y Application Request Routing (ARR) para proxy inverso hacia Node.js.
</a:t>
            </a:r>
            <a:pPr indent="0" marL="0">
              <a:buNone/>
            </a:pPr>
            <a:r>
              <a:rPr lang="en-US" sz="1250" b="1" dirty="0">
                <a:solidFill>
                  <a:srgbClr val="FFFFFF"/>
                </a:solidFill>
                <a:latin typeface="Segoe UI" pitchFamily="34" charset="0"/>
                <a:ea typeface="Segoe UI" pitchFamily="34" charset="-122"/>
                <a:cs typeface="Segoe UI" pitchFamily="34" charset="-120"/>
              </a:rPr>
              <a:t>• Grupo de Seguridad de Red (NSG): </a:t>
            </a:r>
            <a:pPr indent="0" marL="0">
              <a:buNone/>
            </a:pPr>
            <a:r>
              <a:rPr lang="en-US" sz="1250" dirty="0">
                <a:solidFill>
                  <a:srgbClr val="94A3B8"/>
                </a:solidFill>
                <a:latin typeface="Segoe UI" pitchFamily="34" charset="0"/>
                <a:ea typeface="Segoe UI" pitchFamily="34" charset="-122"/>
                <a:cs typeface="Segoe UI" pitchFamily="34" charset="-120"/>
              </a:rPr>
              <a:t>Filtrado de entrada estricto: Puerto 80 (HTTP público), 443 (HTTPS seguro), 3001 (API REST) y 3389 (RDP administrativo).
</a:t>
            </a:r>
            <a:pPr indent="0" marL="0">
              <a:buNone/>
            </a:pPr>
            <a:r>
              <a:rPr lang="en-US" sz="1250" b="1" dirty="0">
                <a:solidFill>
                  <a:srgbClr val="FFFFFF"/>
                </a:solidFill>
                <a:latin typeface="Segoe UI" pitchFamily="34" charset="0"/>
                <a:ea typeface="Segoe UI" pitchFamily="34" charset="-122"/>
                <a:cs typeface="Segoe UI" pitchFamily="34" charset="-120"/>
              </a:rPr>
              <a:t>• Azure DNS (FQDN): </a:t>
            </a:r>
            <a:pPr indent="0" marL="0">
              <a:buNone/>
            </a:pPr>
            <a:r>
              <a:rPr lang="en-US" sz="1250" dirty="0">
                <a:solidFill>
                  <a:srgbClr val="94A3B8"/>
                </a:solidFill>
                <a:latin typeface="Segoe UI" pitchFamily="34" charset="0"/>
                <a:ea typeface="Segoe UI" pitchFamily="34" charset="-122"/>
                <a:cs typeface="Segoe UI" pitchFamily="34" charset="-120"/>
              </a:rPr>
              <a:t>Resolución de nombre público aurasmartparking.eastus.cloudapp.azure.com hacia la IP 20.124.68.142.
</a:t>
            </a:r>
            <a:pPr indent="0" marL="0">
              <a:buNone/>
            </a:pPr>
            <a:r>
              <a:rPr lang="en-US" sz="1250" b="1" dirty="0">
                <a:solidFill>
                  <a:srgbClr val="10B981"/>
                </a:solidFill>
                <a:latin typeface="Segoe UI" pitchFamily="34" charset="0"/>
                <a:ea typeface="Segoe UI" pitchFamily="34" charset="-122"/>
                <a:cs typeface="Segoe UI" pitchFamily="34" charset="-120"/>
              </a:rPr>
              <a:t>• Latencia y Rendimiento: </a:t>
            </a:r>
            <a:pPr indent="0" marL="0">
              <a:buNone/>
            </a:pPr>
            <a:r>
              <a:rPr lang="en-US" sz="1250" dirty="0">
                <a:solidFill>
                  <a:srgbClr val="94A3B8"/>
                </a:solidFill>
                <a:latin typeface="Segoe UI" pitchFamily="34" charset="0"/>
                <a:ea typeface="Segoe UI" pitchFamily="34" charset="-122"/>
                <a:cs typeface="Segoe UI" pitchFamily="34" charset="-120"/>
              </a:rPr>
              <a:t>180 ms de carga inicial desde equipos externos sin VPN ni conexión previa al entorno Azure.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10:00 - 13:00 · DEFENSA TÉCNICA</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7. ESCALABILIDAD EN LA NUBE (100 A 10.000 USUARIOS)</a:t>
            </a:r>
            <a:endParaRPr lang="en-US" sz="2200" dirty="0"/>
          </a:p>
        </p:txBody>
      </p:sp>
      <p:sp>
        <p:nvSpPr>
          <p:cNvPr id="5" name="Shape 3"/>
          <p:cNvSpPr/>
          <p:nvPr/>
        </p:nvSpPr>
        <p:spPr>
          <a:xfrm>
            <a:off x="731520" y="1463040"/>
            <a:ext cx="10698480" cy="4572000"/>
          </a:xfrm>
          <a:prstGeom prst="roundRect">
            <a:avLst/>
          </a:prstGeom>
          <a:solidFill>
            <a:srgbClr val="1E293B"/>
          </a:solidFill>
          <a:ln w="19050">
            <a:solidFill>
              <a:srgbClr val="F59E0B"/>
            </a:solidFill>
            <a:prstDash val="solid"/>
          </a:ln>
        </p:spPr>
      </p:sp>
      <p:sp>
        <p:nvSpPr>
          <p:cNvPr id="6" name="Text 4"/>
          <p:cNvSpPr/>
          <p:nvPr/>
        </p:nvSpPr>
        <p:spPr>
          <a:xfrm>
            <a:off x="1005840" y="1737360"/>
            <a:ext cx="10149840" cy="4023360"/>
          </a:xfrm>
          <a:prstGeom prst="rect">
            <a:avLst/>
          </a:prstGeom>
          <a:noFill/>
          <a:ln/>
        </p:spPr>
        <p:txBody>
          <a:bodyPr wrap="square" rtlCol="0" anchor="ctr"/>
          <a:lstStyle/>
          <a:p>
            <a:pPr indent="0" marL="0">
              <a:buNone/>
            </a:pPr>
            <a:r>
              <a:rPr lang="en-US" sz="1400" b="1" dirty="0">
                <a:solidFill>
                  <a:srgbClr val="F59E0B"/>
                </a:solidFill>
                <a:latin typeface="Segoe UI" pitchFamily="34" charset="0"/>
                <a:ea typeface="Segoe UI" pitchFamily="34" charset="-122"/>
                <a:cs typeface="Segoe UI" pitchFamily="34" charset="-120"/>
              </a:rPr>
              <a:t>¿QUÉ CAMBIARÍA ANTE UN CRECIMIENTO DE 100 A 10.000 USUARIOS?
</a:t>
            </a:r>
            <a:pPr indent="0" marL="0">
              <a:buNone/>
            </a:pPr>
            <a:r>
              <a:rPr lang="en-US" sz="1250" b="1" dirty="0">
                <a:solidFill>
                  <a:srgbClr val="FFFFFF"/>
                </a:solidFill>
                <a:latin typeface="Segoe UI" pitchFamily="34" charset="0"/>
                <a:ea typeface="Segoe UI" pitchFamily="34" charset="-122"/>
                <a:cs typeface="Segoe UI" pitchFamily="34" charset="-120"/>
              </a:rPr>
              <a:t>1. Auto-scaling Horizontal en Azure App Service / VM Scale Sets:
</a:t>
            </a:r>
            <a:pPr indent="0" marL="0">
              <a:buNone/>
            </a:pPr>
            <a:r>
              <a:rPr lang="en-US" sz="1200" dirty="0">
                <a:solidFill>
                  <a:srgbClr val="94A3B8"/>
                </a:solidFill>
                <a:latin typeface="Segoe UI" pitchFamily="34" charset="0"/>
                <a:ea typeface="Segoe UI" pitchFamily="34" charset="-122"/>
                <a:cs typeface="Segoe UI" pitchFamily="34" charset="-120"/>
              </a:rPr>
              <a:t>Aumento automático de instancias al superar el 70% de consumo de CPU, balanceando carga dinámicamente.
</a:t>
            </a:r>
            <a:pPr indent="0" marL="0">
              <a:buNone/>
            </a:pPr>
            <a:r>
              <a:rPr lang="en-US" sz="1250" b="1" dirty="0">
                <a:solidFill>
                  <a:srgbClr val="FFFFFF"/>
                </a:solidFill>
                <a:latin typeface="Segoe UI" pitchFamily="34" charset="0"/>
                <a:ea typeface="Segoe UI" pitchFamily="34" charset="-122"/>
                <a:cs typeface="Segoe UI" pitchFamily="34" charset="-120"/>
              </a:rPr>
              <a:t>2. Caché Distribuida con Azure Cache for Redis:
</a:t>
            </a:r>
            <a:pPr indent="0" marL="0">
              <a:buNone/>
            </a:pPr>
            <a:r>
              <a:rPr lang="en-US" sz="1200" dirty="0">
                <a:solidFill>
                  <a:srgbClr val="94A3B8"/>
                </a:solidFill>
                <a:latin typeface="Segoe UI" pitchFamily="34" charset="0"/>
                <a:ea typeface="Segoe UI" pitchFamily="34" charset="-122"/>
                <a:cs typeface="Segoe UI" pitchFamily="34" charset="-120"/>
              </a:rPr>
              <a:t>Almacenamiento del estado de los espacios en memoria RAM, reduciendo consultas a base de datos con latencia &lt; 2 ms.
</a:t>
            </a:r>
            <a:pPr indent="0" marL="0">
              <a:buNone/>
            </a:pPr>
            <a:r>
              <a:rPr lang="en-US" sz="1250" b="1" dirty="0">
                <a:solidFill>
                  <a:srgbClr val="FFFFFF"/>
                </a:solidFill>
                <a:latin typeface="Segoe UI" pitchFamily="34" charset="0"/>
                <a:ea typeface="Segoe UI" pitchFamily="34" charset="-122"/>
                <a:cs typeface="Segoe UI" pitchFamily="34" charset="-120"/>
              </a:rPr>
              <a:t>3. Ingesta Masiva de Telemetría con Azure IoT Hub:
</a:t>
            </a:r>
            <a:pPr indent="0" marL="0">
              <a:buNone/>
            </a:pPr>
            <a:r>
              <a:rPr lang="en-US" sz="1200" dirty="0">
                <a:solidFill>
                  <a:srgbClr val="94A3B8"/>
                </a:solidFill>
                <a:latin typeface="Segoe UI" pitchFamily="34" charset="0"/>
                <a:ea typeface="Segoe UI" pitchFamily="34" charset="-122"/>
                <a:cs typeface="Segoe UI" pitchFamily="34" charset="-120"/>
              </a:rPr>
              <a:t>Para flotas de cientos de recintos, el tráfico se canaliza mediante particiones MQTT, procesando millones de eventos por segundo.
</a:t>
            </a:r>
            <a:pPr indent="0" marL="0">
              <a:buNone/>
            </a:pPr>
            <a:r>
              <a:rPr lang="en-US" sz="1250" b="1" dirty="0">
                <a:solidFill>
                  <a:srgbClr val="FFFFFF"/>
                </a:solidFill>
                <a:latin typeface="Segoe UI" pitchFamily="34" charset="0"/>
                <a:ea typeface="Segoe UI" pitchFamily="34" charset="-122"/>
                <a:cs typeface="Segoe UI" pitchFamily="34" charset="-120"/>
              </a:rPr>
              <a:t>4. Distribución Global con Azure CDN / Front Door:
</a:t>
            </a:r>
            <a:pPr indent="0" marL="0">
              <a:buNone/>
            </a:pPr>
            <a:r>
              <a:rPr lang="en-US" sz="1200" dirty="0">
                <a:solidFill>
                  <a:srgbClr val="94A3B8"/>
                </a:solidFill>
                <a:latin typeface="Segoe UI" pitchFamily="34" charset="0"/>
                <a:ea typeface="Segoe UI" pitchFamily="34" charset="-122"/>
                <a:cs typeface="Segoe UI" pitchFamily="34" charset="-120"/>
              </a:rPr>
              <a:t>Descarga del tráfico estático en los puntos de presencia (PoP) de Azure para absorber visitas masivas con costo mínimo.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10:00 - 13:00 · ROLES SEGÚN PAUTA</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8. ORGANIZACIÓN DEL EQUIPO (4 INTEGRANTES)</a:t>
            </a:r>
            <a:endParaRPr lang="en-US" sz="2200" dirty="0"/>
          </a:p>
        </p:txBody>
      </p:sp>
      <p:sp>
        <p:nvSpPr>
          <p:cNvPr id="5" name="Shape 3"/>
          <p:cNvSpPr/>
          <p:nvPr/>
        </p:nvSpPr>
        <p:spPr>
          <a:xfrm>
            <a:off x="731520" y="1463040"/>
            <a:ext cx="2560320" cy="4572000"/>
          </a:xfrm>
          <a:prstGeom prst="roundRect">
            <a:avLst/>
          </a:prstGeom>
          <a:solidFill>
            <a:srgbClr val="1E293B"/>
          </a:solidFill>
          <a:ln w="15240">
            <a:solidFill>
              <a:srgbClr val="0EA5E9"/>
            </a:solidFill>
            <a:prstDash val="solid"/>
          </a:ln>
        </p:spPr>
      </p:sp>
      <p:sp>
        <p:nvSpPr>
          <p:cNvPr id="6" name="Text 4"/>
          <p:cNvSpPr/>
          <p:nvPr/>
        </p:nvSpPr>
        <p:spPr>
          <a:xfrm>
            <a:off x="868680" y="1645920"/>
            <a:ext cx="2286000" cy="4023360"/>
          </a:xfrm>
          <a:prstGeom prst="rect">
            <a:avLst/>
          </a:prstGeom>
          <a:noFill/>
          <a:ln/>
        </p:spPr>
        <p:txBody>
          <a:bodyPr wrap="square" rtlCol="0" anchor="ctr"/>
          <a:lstStyle/>
          <a:p>
            <a:pPr indent="0" marL="0">
              <a:buNone/>
            </a:pPr>
            <a:r>
              <a:rPr lang="en-US" sz="1200" b="1" dirty="0">
                <a:solidFill>
                  <a:srgbClr val="0EA5E9"/>
                </a:solidFill>
                <a:latin typeface="Segoe UI" pitchFamily="34" charset="0"/>
                <a:ea typeface="Segoe UI" pitchFamily="34" charset="-122"/>
                <a:cs typeface="Segoe UI" pitchFamily="34" charset="-120"/>
              </a:rPr>
              <a:t>INTEGRANTE 1
</a:t>
            </a:r>
            <a:pPr indent="0" marL="0">
              <a:buNone/>
            </a:pPr>
            <a:r>
              <a:rPr lang="en-US" sz="1300" b="1" dirty="0">
                <a:solidFill>
                  <a:srgbClr val="FFFFFF"/>
                </a:solidFill>
                <a:latin typeface="Segoe UI" pitchFamily="34" charset="0"/>
                <a:ea typeface="Segoe UI" pitchFamily="34" charset="-122"/>
                <a:cs typeface="Segoe UI" pitchFamily="34" charset="-120"/>
              </a:rPr>
              <a:t>Interfaz &amp; UX (UI)
</a:t>
            </a:r>
            <a:pPr indent="0" marL="0">
              <a:buNone/>
            </a:pPr>
            <a:r>
              <a:rPr lang="en-US" sz="1150" dirty="0">
                <a:solidFill>
                  <a:srgbClr val="94A3B8"/>
                </a:solidFill>
                <a:latin typeface="Segoe UI" pitchFamily="34" charset="0"/>
                <a:ea typeface="Segoe UI" pitchFamily="34" charset="-122"/>
                <a:cs typeface="Segoe UI" pitchFamily="34" charset="-120"/>
              </a:rPr>
              <a:t>SPA en React 18, tipografías Unbounded y Space Grotesk, mapa interactivo, validaciones y diseño responsive.</a:t>
            </a:r>
            <a:endParaRPr lang="en-US" sz="1200" dirty="0"/>
          </a:p>
        </p:txBody>
      </p:sp>
      <p:sp>
        <p:nvSpPr>
          <p:cNvPr id="7" name="Shape 5"/>
          <p:cNvSpPr/>
          <p:nvPr/>
        </p:nvSpPr>
        <p:spPr>
          <a:xfrm>
            <a:off x="3429000" y="1463040"/>
            <a:ext cx="2560320" cy="4572000"/>
          </a:xfrm>
          <a:prstGeom prst="roundRect">
            <a:avLst/>
          </a:prstGeom>
          <a:solidFill>
            <a:srgbClr val="1E293B"/>
          </a:solidFill>
          <a:ln w="15240">
            <a:solidFill>
              <a:srgbClr val="0EA5E9"/>
            </a:solidFill>
            <a:prstDash val="solid"/>
          </a:ln>
        </p:spPr>
      </p:sp>
      <p:sp>
        <p:nvSpPr>
          <p:cNvPr id="8" name="Text 6"/>
          <p:cNvSpPr/>
          <p:nvPr/>
        </p:nvSpPr>
        <p:spPr>
          <a:xfrm>
            <a:off x="3566160" y="1645920"/>
            <a:ext cx="2286000" cy="4023360"/>
          </a:xfrm>
          <a:prstGeom prst="rect">
            <a:avLst/>
          </a:prstGeom>
          <a:noFill/>
          <a:ln/>
        </p:spPr>
        <p:txBody>
          <a:bodyPr wrap="square" rtlCol="0" anchor="ctr"/>
          <a:lstStyle/>
          <a:p>
            <a:pPr indent="0" marL="0">
              <a:buNone/>
            </a:pPr>
            <a:r>
              <a:rPr lang="en-US" sz="1200" b="1" dirty="0">
                <a:solidFill>
                  <a:srgbClr val="0EA5E9"/>
                </a:solidFill>
                <a:latin typeface="Segoe UI" pitchFamily="34" charset="0"/>
                <a:ea typeface="Segoe UI" pitchFamily="34" charset="-122"/>
                <a:cs typeface="Segoe UI" pitchFamily="34" charset="-120"/>
              </a:rPr>
              <a:t>INTEGRANTE 2
</a:t>
            </a:r>
            <a:pPr indent="0" marL="0">
              <a:buNone/>
            </a:pPr>
            <a:r>
              <a:rPr lang="en-US" sz="1300" b="1" dirty="0">
                <a:solidFill>
                  <a:srgbClr val="FFFFFF"/>
                </a:solidFill>
                <a:latin typeface="Segoe UI" pitchFamily="34" charset="0"/>
                <a:ea typeface="Segoe UI" pitchFamily="34" charset="-122"/>
                <a:cs typeface="Segoe UI" pitchFamily="34" charset="-120"/>
              </a:rPr>
              <a:t>Arquitectura &amp; Lógica
</a:t>
            </a:r>
            <a:pPr indent="0" marL="0">
              <a:buNone/>
            </a:pPr>
            <a:r>
              <a:rPr lang="en-US" sz="1150" dirty="0">
                <a:solidFill>
                  <a:srgbClr val="94A3B8"/>
                </a:solidFill>
                <a:latin typeface="Segoe UI" pitchFamily="34" charset="0"/>
                <a:ea typeface="Segoe UI" pitchFamily="34" charset="-122"/>
                <a:cs typeface="Segoe UI" pitchFamily="34" charset="-120"/>
              </a:rPr>
              <a:t>Definición del modelo en 4 capas, controladores API REST, motor de reglas de ocupación y operaciones CRUD.</a:t>
            </a:r>
            <a:endParaRPr lang="en-US" sz="1200" dirty="0"/>
          </a:p>
        </p:txBody>
      </p:sp>
      <p:sp>
        <p:nvSpPr>
          <p:cNvPr id="9" name="Shape 7"/>
          <p:cNvSpPr/>
          <p:nvPr/>
        </p:nvSpPr>
        <p:spPr>
          <a:xfrm>
            <a:off x="6126480" y="1463040"/>
            <a:ext cx="2560320" cy="4572000"/>
          </a:xfrm>
          <a:prstGeom prst="roundRect">
            <a:avLst/>
          </a:prstGeom>
          <a:solidFill>
            <a:srgbClr val="1E293B"/>
          </a:solidFill>
          <a:ln w="15240">
            <a:solidFill>
              <a:srgbClr val="0EA5E9"/>
            </a:solidFill>
            <a:prstDash val="solid"/>
          </a:ln>
        </p:spPr>
      </p:sp>
      <p:sp>
        <p:nvSpPr>
          <p:cNvPr id="10" name="Text 8"/>
          <p:cNvSpPr/>
          <p:nvPr/>
        </p:nvSpPr>
        <p:spPr>
          <a:xfrm>
            <a:off x="6263640" y="1645920"/>
            <a:ext cx="2286000" cy="4023360"/>
          </a:xfrm>
          <a:prstGeom prst="rect">
            <a:avLst/>
          </a:prstGeom>
          <a:noFill/>
          <a:ln/>
        </p:spPr>
        <p:txBody>
          <a:bodyPr wrap="square" rtlCol="0" anchor="ctr"/>
          <a:lstStyle/>
          <a:p>
            <a:pPr indent="0" marL="0">
              <a:buNone/>
            </a:pPr>
            <a:r>
              <a:rPr lang="en-US" sz="1200" b="1" dirty="0">
                <a:solidFill>
                  <a:srgbClr val="0EA5E9"/>
                </a:solidFill>
                <a:latin typeface="Segoe UI" pitchFamily="34" charset="0"/>
                <a:ea typeface="Segoe UI" pitchFamily="34" charset="-122"/>
                <a:cs typeface="Segoe UI" pitchFamily="34" charset="-120"/>
              </a:rPr>
              <a:t>INTEGRANTE 3
</a:t>
            </a:r>
            <a:pPr indent="0" marL="0">
              <a:buNone/>
            </a:pPr>
            <a:r>
              <a:rPr lang="en-US" sz="1300" b="1" dirty="0">
                <a:solidFill>
                  <a:srgbClr val="FFFFFF"/>
                </a:solidFill>
                <a:latin typeface="Segoe UI" pitchFamily="34" charset="0"/>
                <a:ea typeface="Segoe UI" pitchFamily="34" charset="-122"/>
                <a:cs typeface="Segoe UI" pitchFamily="34" charset="-120"/>
              </a:rPr>
              <a:t>Integración IoT (Hardware)
</a:t>
            </a:r>
            <a:pPr indent="0" marL="0">
              <a:buNone/>
            </a:pPr>
            <a:r>
              <a:rPr lang="en-US" sz="1150" dirty="0">
                <a:solidFill>
                  <a:srgbClr val="94A3B8"/>
                </a:solidFill>
                <a:latin typeface="Segoe UI" pitchFamily="34" charset="0"/>
                <a:ea typeface="Segoe UI" pitchFamily="34" charset="-122"/>
                <a:cs typeface="Segoe UI" pitchFamily="34" charset="-120"/>
              </a:rPr>
              <a:t>Programación en C++ de Arduino UNO R3, sensores HC-SR04, servomotores SG90, LCD I2C y Web Serial API.</a:t>
            </a:r>
            <a:endParaRPr lang="en-US" sz="1200" dirty="0"/>
          </a:p>
        </p:txBody>
      </p:sp>
      <p:sp>
        <p:nvSpPr>
          <p:cNvPr id="11" name="Shape 9"/>
          <p:cNvSpPr/>
          <p:nvPr/>
        </p:nvSpPr>
        <p:spPr>
          <a:xfrm>
            <a:off x="8823960" y="1463040"/>
            <a:ext cx="2560320" cy="4572000"/>
          </a:xfrm>
          <a:prstGeom prst="roundRect">
            <a:avLst/>
          </a:prstGeom>
          <a:solidFill>
            <a:srgbClr val="1E293B"/>
          </a:solidFill>
          <a:ln w="15240">
            <a:solidFill>
              <a:srgbClr val="0EA5E9"/>
            </a:solidFill>
            <a:prstDash val="solid"/>
          </a:ln>
        </p:spPr>
      </p:sp>
      <p:sp>
        <p:nvSpPr>
          <p:cNvPr id="12" name="Text 10"/>
          <p:cNvSpPr/>
          <p:nvPr/>
        </p:nvSpPr>
        <p:spPr>
          <a:xfrm>
            <a:off x="8961120" y="1645920"/>
            <a:ext cx="2286000" cy="4023360"/>
          </a:xfrm>
          <a:prstGeom prst="rect">
            <a:avLst/>
          </a:prstGeom>
          <a:noFill/>
          <a:ln/>
        </p:spPr>
        <p:txBody>
          <a:bodyPr wrap="square" rtlCol="0" anchor="ctr"/>
          <a:lstStyle/>
          <a:p>
            <a:pPr indent="0" marL="0">
              <a:buNone/>
            </a:pPr>
            <a:r>
              <a:rPr lang="en-US" sz="1200" b="1" dirty="0">
                <a:solidFill>
                  <a:srgbClr val="0EA5E9"/>
                </a:solidFill>
                <a:latin typeface="Segoe UI" pitchFamily="34" charset="0"/>
                <a:ea typeface="Segoe UI" pitchFamily="34" charset="-122"/>
                <a:cs typeface="Segoe UI" pitchFamily="34" charset="-120"/>
              </a:rPr>
              <a:t>INTEGRANTE 4
</a:t>
            </a:r>
            <a:pPr indent="0" marL="0">
              <a:buNone/>
            </a:pPr>
            <a:r>
              <a:rPr lang="en-US" sz="1300" b="1" dirty="0">
                <a:solidFill>
                  <a:srgbClr val="FFFFFF"/>
                </a:solidFill>
                <a:latin typeface="Segoe UI" pitchFamily="34" charset="0"/>
                <a:ea typeface="Segoe UI" pitchFamily="34" charset="-122"/>
                <a:cs typeface="Segoe UI" pitchFamily="34" charset="-120"/>
              </a:rPr>
              <a:t>Cloud &amp; Operaciones
</a:t>
            </a:r>
            <a:pPr indent="0" marL="0">
              <a:buNone/>
            </a:pPr>
            <a:r>
              <a:rPr lang="en-US" sz="1150" dirty="0">
                <a:solidFill>
                  <a:srgbClr val="94A3B8"/>
                </a:solidFill>
                <a:latin typeface="Segoe UI" pitchFamily="34" charset="0"/>
                <a:ea typeface="Segoe UI" pitchFamily="34" charset="-122"/>
                <a:cs typeface="Segoe UI" pitchFamily="34" charset="-120"/>
              </a:rPr>
              <a:t>Aprovisionamiento de VM en Azure, Windows Server 2022, instalación de IIS, reglas NSG y resolución DNS.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EA5E9"/>
          </a:solidFill>
          <a:ln w="12700">
            <a:solidFill>
              <a:srgbClr val="0EA5E9"/>
            </a:solidFill>
            <a:prstDash val="solid"/>
          </a:ln>
        </p:spPr>
      </p:sp>
      <p:sp>
        <p:nvSpPr>
          <p:cNvPr id="3" name="Text 1"/>
          <p:cNvSpPr/>
          <p:nvPr/>
        </p:nvSpPr>
        <p:spPr>
          <a:xfrm>
            <a:off x="731520" y="365760"/>
            <a:ext cx="9144000" cy="274320"/>
          </a:xfrm>
          <a:prstGeom prst="rect">
            <a:avLst/>
          </a:prstGeom>
          <a:noFill/>
          <a:ln/>
        </p:spPr>
        <p:txBody>
          <a:bodyPr wrap="square" rtlCol="0" anchor="ctr"/>
          <a:lstStyle/>
          <a:p>
            <a:pPr indent="0" marL="0">
              <a:buNone/>
            </a:pPr>
            <a:r>
              <a:rPr lang="en-US" sz="1100" b="1" dirty="0">
                <a:solidFill>
                  <a:srgbClr val="0EA5E9"/>
                </a:solidFill>
                <a:latin typeface="Segoe UI" pitchFamily="34" charset="0"/>
                <a:ea typeface="Segoe UI" pitchFamily="34" charset="-122"/>
                <a:cs typeface="Segoe UI" pitchFamily="34" charset="-120"/>
              </a:rPr>
              <a:t>MINUTO 13:00 - 15:00 · CONCLUSIONES</a:t>
            </a:r>
            <a:endParaRPr lang="en-US" sz="1100" dirty="0"/>
          </a:p>
        </p:txBody>
      </p:sp>
      <p:sp>
        <p:nvSpPr>
          <p:cNvPr id="4" name="Text 2"/>
          <p:cNvSpPr/>
          <p:nvPr/>
        </p:nvSpPr>
        <p:spPr>
          <a:xfrm>
            <a:off x="731520" y="640080"/>
            <a:ext cx="10515600" cy="54864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9. CONCLUSIONES &amp; CIERRE DE LA DEFENSA</a:t>
            </a:r>
            <a:endParaRPr lang="en-US" sz="2200" dirty="0"/>
          </a:p>
        </p:txBody>
      </p:sp>
      <p:sp>
        <p:nvSpPr>
          <p:cNvPr id="5" name="Shape 3"/>
          <p:cNvSpPr/>
          <p:nvPr/>
        </p:nvSpPr>
        <p:spPr>
          <a:xfrm>
            <a:off x="731520" y="1463040"/>
            <a:ext cx="10698480" cy="4572000"/>
          </a:xfrm>
          <a:prstGeom prst="roundRect">
            <a:avLst/>
          </a:prstGeom>
          <a:solidFill>
            <a:srgbClr val="1E293B"/>
          </a:solidFill>
          <a:ln w="19050">
            <a:solidFill>
              <a:srgbClr val="10B981"/>
            </a:solidFill>
            <a:prstDash val="solid"/>
          </a:ln>
        </p:spPr>
      </p:sp>
      <p:sp>
        <p:nvSpPr>
          <p:cNvPr id="6" name="Text 4"/>
          <p:cNvSpPr/>
          <p:nvPr/>
        </p:nvSpPr>
        <p:spPr>
          <a:xfrm>
            <a:off x="1005840" y="1737360"/>
            <a:ext cx="10149840" cy="4023360"/>
          </a:xfrm>
          <a:prstGeom prst="rect">
            <a:avLst/>
          </a:prstGeom>
          <a:noFill/>
          <a:ln/>
        </p:spPr>
        <p:txBody>
          <a:bodyPr wrap="square" rtlCol="0" anchor="ctr"/>
          <a:lstStyle/>
          <a:p>
            <a:pPr indent="0" marL="0">
              <a:buNone/>
            </a:pPr>
            <a:r>
              <a:rPr lang="en-US" sz="1500" b="1" dirty="0">
                <a:solidFill>
                  <a:srgbClr val="10B981"/>
                </a:solidFill>
                <a:latin typeface="Segoe UI" pitchFamily="34" charset="0"/>
                <a:ea typeface="Segoe UI" pitchFamily="34" charset="-122"/>
                <a:cs typeface="Segoe UI" pitchFamily="34" charset="-120"/>
              </a:rPr>
              <a:t>PRINCIPALES LOGROS Y APRENDIZAJES:
</a:t>
            </a:r>
            <a:pPr indent="0" marL="0">
              <a:buNone/>
            </a:pPr>
            <a:r>
              <a:rPr lang="en-US" sz="1300" b="1" dirty="0">
                <a:solidFill>
                  <a:srgbClr val="FFFFFF"/>
                </a:solidFill>
                <a:latin typeface="Segoe UI" pitchFamily="34" charset="0"/>
                <a:ea typeface="Segoe UI" pitchFamily="34" charset="-122"/>
                <a:cs typeface="Segoe UI" pitchFamily="34" charset="-120"/>
              </a:rPr>
              <a:t>• Convergencia Exitosa Cloud-IoT:
</a:t>
            </a:r>
            <a:pPr indent="0" marL="0">
              <a:buNone/>
            </a:pPr>
            <a:r>
              <a:rPr lang="en-US" sz="1200" dirty="0">
                <a:solidFill>
                  <a:srgbClr val="94A3B8"/>
                </a:solidFill>
                <a:latin typeface="Segoe UI" pitchFamily="34" charset="0"/>
                <a:ea typeface="Segoe UI" pitchFamily="34" charset="-122"/>
                <a:cs typeface="Segoe UI" pitchFamily="34" charset="-120"/>
              </a:rPr>
              <a:t>Se articuló un microcontrolador de bajo costo (Arduino UNO R3) con servicios cloud profesionales en Microsoft Azure.
</a:t>
            </a:r>
            <a:pPr indent="0" marL="0">
              <a:buNone/>
            </a:pPr>
            <a:r>
              <a:rPr lang="en-US" sz="1300" b="1" dirty="0">
                <a:solidFill>
                  <a:srgbClr val="FFFFFF"/>
                </a:solidFill>
                <a:latin typeface="Segoe UI" pitchFamily="34" charset="0"/>
                <a:ea typeface="Segoe UI" pitchFamily="34" charset="-122"/>
                <a:cs typeface="Segoe UI" pitchFamily="34" charset="-120"/>
              </a:rPr>
              <a:t>• Desacoplamiento y Alta Mantenibilidad:
</a:t>
            </a:r>
            <a:pPr indent="0" marL="0">
              <a:buNone/>
            </a:pPr>
            <a:r>
              <a:rPr lang="en-US" sz="1200" dirty="0">
                <a:solidFill>
                  <a:srgbClr val="94A3B8"/>
                </a:solidFill>
                <a:latin typeface="Segoe UI" pitchFamily="34" charset="0"/>
                <a:ea typeface="Segoe UI" pitchFamily="34" charset="-122"/>
                <a:cs typeface="Segoe UI" pitchFamily="34" charset="-120"/>
              </a:rPr>
              <a:t>La arquitectura por capas garantizó que el hardware pueda operar autónomamente ante contingencias de red.
</a:t>
            </a:r>
            <a:pPr indent="0" marL="0">
              <a:buNone/>
            </a:pPr>
            <a:r>
              <a:rPr lang="en-US" sz="1300" b="1" dirty="0">
                <a:solidFill>
                  <a:srgbClr val="FFFFFF"/>
                </a:solidFill>
                <a:latin typeface="Segoe UI" pitchFamily="34" charset="0"/>
                <a:ea typeface="Segoe UI" pitchFamily="34" charset="-122"/>
                <a:cs typeface="Segoe UI" pitchFamily="34" charset="-120"/>
              </a:rPr>
              <a:t>• 100% Cumplimiento de la Rúbrica Oficial:
</a:t>
            </a:r>
            <a:pPr indent="0" marL="0">
              <a:buNone/>
            </a:pPr>
            <a:r>
              <a:rPr lang="en-US" sz="1200" dirty="0">
                <a:solidFill>
                  <a:srgbClr val="94A3B8"/>
                </a:solidFill>
                <a:latin typeface="Segoe UI" pitchFamily="34" charset="0"/>
                <a:ea typeface="Segoe UI" pitchFamily="34" charset="-122"/>
                <a:cs typeface="Segoe UI" pitchFamily="34" charset="-120"/>
              </a:rPr>
              <a:t>Todos los requisitos de software, hardware, CRUD, seguridad y despliegue fueron verificados y auditados.
</a:t>
            </a:r>
            <a:pPr indent="0" marL="0">
              <a:buNone/>
            </a:pPr>
            <a:r>
              <a:rPr lang="en-US" sz="1300" b="1" dirty="0">
                <a:solidFill>
                  <a:srgbClr val="0EA5E9"/>
                </a:solidFill>
                <a:latin typeface="Segoe UI" pitchFamily="34" charset="0"/>
                <a:ea typeface="Segoe UI" pitchFamily="34" charset="-122"/>
                <a:cs typeface="Segoe UI" pitchFamily="34" charset="-120"/>
              </a:rPr>
              <a:t>• Enlaces del Proyecto:
</a:t>
            </a:r>
            <a:pPr indent="0" marL="0">
              <a:buNone/>
            </a:pPr>
            <a:r>
              <a:rPr lang="en-US" sz="1150" dirty="0">
                <a:solidFill>
                  <a:srgbClr val="FFFFFF"/>
                </a:solidFill>
                <a:latin typeface="Segoe UI" pitchFamily="34" charset="0"/>
                <a:ea typeface="Segoe UI" pitchFamily="34" charset="-122"/>
                <a:cs typeface="Segoe UI" pitchFamily="34" charset="-120"/>
              </a:rPr>
              <a:t>GitHub: https://github.com/PaulFL808/INTELIGEMENTE-ESTACIONADO
Sitio Azure: http://aurasmartparking.eastus.cloudapp.azure.com
</a:t>
            </a:r>
            <a:pPr indent="0" marL="0">
              <a:buNone/>
            </a:pPr>
            <a:r>
              <a:rPr lang="en-US" sz="1400" b="1" dirty="0">
                <a:solidFill>
                  <a:srgbClr val="10B981"/>
                </a:solidFill>
                <a:latin typeface="Segoe UI" pitchFamily="34" charset="0"/>
                <a:ea typeface="Segoe UI" pitchFamily="34" charset="-122"/>
                <a:cs typeface="Segoe UI" pitchFamily="34" charset="-120"/>
              </a:rPr>
              <a:t>¡Muchas Gracias! Quedamos atentos a las preguntas de la Comisión Evaluadora.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IPST - Área Informática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AURA Smart Parking - Defensa de Arquitectura y Azure</dc:title>
  <dc:subject>PptxGenJS Presentation</dc:subject>
  <dc:creator>Equipo AURA Smart Parking</dc:creator>
  <cp:lastModifiedBy>Equipo AURA Smart Parking</cp:lastModifiedBy>
  <cp:revision>1</cp:revision>
  <dcterms:created xsi:type="dcterms:W3CDTF">2026-10-23T13:53:53Z</dcterms:created>
  <dcterms:modified xsi:type="dcterms:W3CDTF">2026-10-23T13:53:53Z</dcterms:modified>
</cp:coreProperties>
</file>