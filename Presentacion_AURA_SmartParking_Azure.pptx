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0:00 - Saludo inicial a la comisión evaluadora de Santo Tomás. Presentación del equipo de 4 integrantes y declaración de objetivos del proyecto AURA Smart Parking, articulando Arquitectura de Sistemas y Programación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0:00 A 2:00 - Exponer con claridad la problemática urbana. Conectar la realidad con la propuesta de valor de AURA: eliminamos la incertidumbre vehicular vinculando la maqueta a la nube de Microsoft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2:00 A 5:00 - Explicar cada una de las 4 capas. Enfatizar la alta cohesión y bajo acoplamiento: el frontend no conoce la lógica de los sensores directamente, sino que se comunica vía REST con la capa de controladores.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2:00 A 5:00 - Defender la arquitectura respondiendo rigurosamente a las 3 preguntas clave de la pauta. Esta lámina cubre el Criterio 3 (15 puntos de la rúbrica): Justificación de la arquitectura frente a otras alternativas.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5:00 A 8:00 - Mostrar el circuito físico y la maqueta. Explicar cómo resolvimos la restricción de pines del Arduino UNO mediante el Pin 2 de Trigger compartido y la comunicación Web Serial a 115200 baudios.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 5:00 A 8:00 - Demostración en vivo en proyector: 1) Reservar cupo ingresando patente (CREATE), 2) Monitorear mapa en vivo (READ), 3) Poner vehículo a menos de 10 cm y ver barrera abrirse (UPDATE), 4) Liberar cupo y cobrar $35/minuto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8:00 A 10:00 - Mostrar los recursos aprovisionados en el portal de Azure. Enfatizar el grupo de seguridad de red con reglas de puerto 80, 443, 3001 y 3389, y la comprobación del DNS FQDN desde un equipo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10:00 A 13:00 - Responder a la pregunta de escalabilidad de la pauta: ¿Qué cambiaría en la arquitectura si la demanda pasa de 100 a 10.000 usuarios? Detallar cómo Azure Redis, IoT Hub, VMSS y CDN absorben este volumen masivo.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10:00 A 13:00 - Cada integrante expone su rol y demuestra conocimiento transversal de la solución completa para obtener los 5 puntos de participación individual de la rúbrica.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13:00 A 15:00 - Cierre formal de la exposición, agradecimiento a la comisión académica de Santo Tomás e inicio de la ronda de preguntas y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731520"/>
            <a:ext cx="5120640" cy="329184"/>
          </a:xfrm>
          <a:prstGeom prst="roundRect">
            <a:avLst>
              <a:gd name="adj" fmla="val 50000"/>
            </a:avLst>
          </a:prstGeom>
          <a:solidFill>
            <a:srgbClr val="161822"/>
          </a:solidFill>
          <a:ln w="10160">
            <a:solidFill>
              <a:srgbClr val="282A3A"/>
            </a:solidFill>
            <a:prstDash val="solid"/>
          </a:ln>
        </p:spPr>
      </p:sp>
      <p:sp>
        <p:nvSpPr>
          <p:cNvPr id="3" name="Text 1"/>
          <p:cNvSpPr/>
          <p:nvPr/>
        </p:nvSpPr>
        <p:spPr>
          <a:xfrm>
            <a:off x="822960" y="731520"/>
            <a:ext cx="5120640" cy="329184"/>
          </a:xfrm>
          <a:prstGeom prst="rect">
            <a:avLst/>
          </a:prstGeom>
          <a:noFill/>
          <a:ln/>
        </p:spPr>
        <p:txBody>
          <a:bodyPr wrap="square" rtlCol="0" anchor="ctr"/>
          <a:lstStyle/>
          <a:p>
            <a:pPr algn="ctr" indent="0" marL="0">
              <a:buNone/>
            </a:pPr>
            <a:r>
              <a:rPr lang="en-US" sz="900" b="1" spc="120" kern="0" dirty="0">
                <a:solidFill>
                  <a:srgbClr val="2997FF"/>
                </a:solidFill>
                <a:latin typeface="Segoe UI" pitchFamily="34" charset="0"/>
                <a:ea typeface="Segoe UI" pitchFamily="34" charset="-122"/>
                <a:cs typeface="Segoe UI" pitchFamily="34" charset="-120"/>
              </a:rPr>
              <a:t>INSTITUTO PROFESIONAL SANTO TOMÁS  ·  ÁREA INFORMÁTICA</a:t>
            </a:r>
            <a:endParaRPr lang="en-US" sz="900" dirty="0"/>
          </a:p>
        </p:txBody>
      </p:sp>
      <p:sp>
        <p:nvSpPr>
          <p:cNvPr id="4" name="Text 2"/>
          <p:cNvSpPr/>
          <p:nvPr/>
        </p:nvSpPr>
        <p:spPr>
          <a:xfrm>
            <a:off x="822960" y="1234440"/>
            <a:ext cx="10543032" cy="914400"/>
          </a:xfrm>
          <a:prstGeom prst="rect">
            <a:avLst/>
          </a:prstGeom>
          <a:noFill/>
          <a:ln/>
        </p:spPr>
        <p:txBody>
          <a:bodyPr wrap="square" rtlCol="0" anchor="t"/>
          <a:lstStyle/>
          <a:p>
            <a:pPr indent="0" marL="0">
              <a:buNone/>
            </a:pPr>
            <a:r>
              <a:rPr lang="en-US" sz="4200" b="1" dirty="0">
                <a:solidFill>
                  <a:srgbClr val="FFFFFF"/>
                </a:solidFill>
                <a:latin typeface="Segoe UI" pitchFamily="34" charset="0"/>
                <a:ea typeface="Segoe UI" pitchFamily="34" charset="-122"/>
                <a:cs typeface="Segoe UI" pitchFamily="34" charset="-120"/>
              </a:rPr>
              <a:t>AURA · Smart Parking IoT</a:t>
            </a:r>
            <a:endParaRPr lang="en-US" sz="4200" dirty="0"/>
          </a:p>
        </p:txBody>
      </p:sp>
      <p:sp>
        <p:nvSpPr>
          <p:cNvPr id="5" name="Text 3"/>
          <p:cNvSpPr/>
          <p:nvPr/>
        </p:nvSpPr>
        <p:spPr>
          <a:xfrm>
            <a:off x="822960" y="2240280"/>
            <a:ext cx="10543032" cy="685800"/>
          </a:xfrm>
          <a:prstGeom prst="rect">
            <a:avLst/>
          </a:prstGeom>
          <a:noFill/>
          <a:ln/>
        </p:spPr>
        <p:txBody>
          <a:bodyPr wrap="square" rtlCol="0" anchor="t"/>
          <a:lstStyle/>
          <a:p>
            <a:pPr indent="0" marL="0">
              <a:buNone/>
            </a:pPr>
            <a:r>
              <a:rPr lang="en-US" sz="1500" dirty="0">
                <a:solidFill>
                  <a:srgbClr val="8E8E93"/>
                </a:solidFill>
                <a:latin typeface="Segoe UI" pitchFamily="34" charset="0"/>
                <a:ea typeface="Segoe UI" pitchFamily="34" charset="-122"/>
                <a:cs typeface="Segoe UI" pitchFamily="34" charset="-120"/>
              </a:rPr>
              <a:t>Diseño, Despliegue y Defensa de una Solución Web en Microsoft Azure</a:t>
            </a:r>
            <a:endParaRPr lang="en-US" sz="1500" dirty="0"/>
          </a:p>
          <a:p>
            <a:pPr indent="0" marL="0">
              <a:buNone/>
            </a:pPr>
            <a:r>
              <a:rPr lang="en-US" sz="1500" dirty="0">
                <a:solidFill>
                  <a:srgbClr val="8E8E93"/>
                </a:solidFill>
                <a:latin typeface="Segoe UI" pitchFamily="34" charset="0"/>
                <a:ea typeface="Segoe UI" pitchFamily="34" charset="-122"/>
                <a:cs typeface="Segoe UI" pitchFamily="34" charset="-120"/>
              </a:rPr>
              <a:t>Articulación de Asignaturas: Arquitectura de Sistemas + Programación en la Nube</a:t>
            </a:r>
            <a:endParaRPr lang="en-US" sz="1500" dirty="0"/>
          </a:p>
        </p:txBody>
      </p:sp>
      <p:sp>
        <p:nvSpPr>
          <p:cNvPr id="6" name="Shape 4"/>
          <p:cNvSpPr/>
          <p:nvPr/>
        </p:nvSpPr>
        <p:spPr>
          <a:xfrm>
            <a:off x="822960" y="3200400"/>
            <a:ext cx="3337560" cy="2651760"/>
          </a:xfrm>
          <a:prstGeom prst="roundRect">
            <a:avLst>
              <a:gd name="adj" fmla="val 5172"/>
            </a:avLst>
          </a:prstGeom>
          <a:solidFill>
            <a:srgbClr val="14151B"/>
          </a:solidFill>
          <a:ln w="12700">
            <a:solidFill>
              <a:srgbClr val="242630"/>
            </a:solidFill>
            <a:prstDash val="solid"/>
          </a:ln>
        </p:spPr>
      </p:sp>
      <p:sp>
        <p:nvSpPr>
          <p:cNvPr id="7" name="Shape 5"/>
          <p:cNvSpPr/>
          <p:nvPr/>
        </p:nvSpPr>
        <p:spPr>
          <a:xfrm>
            <a:off x="1051560" y="3429000"/>
            <a:ext cx="1920240" cy="256032"/>
          </a:xfrm>
          <a:prstGeom prst="roundRect">
            <a:avLst>
              <a:gd name="adj" fmla="val 50000"/>
            </a:avLst>
          </a:prstGeom>
          <a:solidFill>
            <a:srgbClr val="1C1E28"/>
          </a:solidFill>
          <a:ln w="10160">
            <a:solidFill>
              <a:srgbClr val="2997FF"/>
            </a:solidFill>
            <a:prstDash val="solid"/>
          </a:ln>
        </p:spPr>
      </p:sp>
      <p:sp>
        <p:nvSpPr>
          <p:cNvPr id="8" name="Text 6"/>
          <p:cNvSpPr/>
          <p:nvPr/>
        </p:nvSpPr>
        <p:spPr>
          <a:xfrm>
            <a:off x="1051560" y="3429000"/>
            <a:ext cx="1920240" cy="256032"/>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EVENTO OFICIAL</a:t>
            </a:r>
            <a:endParaRPr lang="en-US" sz="850" dirty="0"/>
          </a:p>
        </p:txBody>
      </p:sp>
      <p:sp>
        <p:nvSpPr>
          <p:cNvPr id="9" name="Text 7"/>
          <p:cNvSpPr/>
          <p:nvPr/>
        </p:nvSpPr>
        <p:spPr>
          <a:xfrm>
            <a:off x="1051560" y="3794760"/>
            <a:ext cx="2880360" cy="3657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Defensa en Auditorio</a:t>
            </a:r>
            <a:endParaRPr lang="en-US" sz="1500" dirty="0"/>
          </a:p>
        </p:txBody>
      </p:sp>
      <p:sp>
        <p:nvSpPr>
          <p:cNvPr id="10" name="Text 8"/>
          <p:cNvSpPr/>
          <p:nvPr/>
        </p:nvSpPr>
        <p:spPr>
          <a:xfrm>
            <a:off x="1051560" y="4251960"/>
            <a:ext cx="2880360" cy="1417320"/>
          </a:xfrm>
          <a:prstGeom prst="rect">
            <a:avLst/>
          </a:prstGeom>
          <a:noFill/>
          <a:ln/>
        </p:spPr>
        <p:txBody>
          <a:bodyPr wrap="square" rtlCol="0" anchor="t"/>
          <a:lstStyle/>
          <a:p>
            <a:pPr indent="0" marL="0">
              <a:buNone/>
            </a:pPr>
            <a:r>
              <a:rPr lang="en-US" sz="1050" b="1" dirty="0">
                <a:solidFill>
                  <a:srgbClr val="EDEDF0"/>
                </a:solidFill>
                <a:latin typeface="Segoe UI" pitchFamily="34" charset="0"/>
                <a:ea typeface="Segoe UI" pitchFamily="34" charset="-122"/>
                <a:cs typeface="Segoe UI" pitchFamily="34" charset="-120"/>
              </a:rPr>
              <a:t>Fecha: </a:t>
            </a:r>
            <a:pPr indent="0" marL="0">
              <a:buNone/>
            </a:pPr>
            <a:r>
              <a:rPr lang="en-US" sz="1050" dirty="0">
                <a:solidFill>
                  <a:srgbClr val="8E8E93"/>
                </a:solidFill>
                <a:latin typeface="Segoe UI" pitchFamily="34" charset="0"/>
                <a:ea typeface="Segoe UI" pitchFamily="34" charset="-122"/>
                <a:cs typeface="Segoe UI" pitchFamily="34" charset="-120"/>
              </a:rPr>
              <a:t>Miércoles 28 de Octubre
</a:t>
            </a:r>
            <a:pPr indent="0" marL="0">
              <a:buNone/>
            </a:pPr>
            <a:r>
              <a:rPr lang="en-US" sz="1050" b="1" dirty="0">
                <a:solidFill>
                  <a:srgbClr val="EDEDF0"/>
                </a:solidFill>
                <a:latin typeface="Segoe UI" pitchFamily="34" charset="0"/>
                <a:ea typeface="Segoe UI" pitchFamily="34" charset="-122"/>
                <a:cs typeface="Segoe UI" pitchFamily="34" charset="-120"/>
              </a:rPr>
              <a:t>Horario: </a:t>
            </a:r>
            <a:pPr indent="0" marL="0">
              <a:buNone/>
            </a:pPr>
            <a:r>
              <a:rPr lang="en-US" sz="1050" dirty="0">
                <a:solidFill>
                  <a:srgbClr val="8E8E93"/>
                </a:solidFill>
                <a:latin typeface="Segoe UI" pitchFamily="34" charset="0"/>
                <a:ea typeface="Segoe UI" pitchFamily="34" charset="-122"/>
                <a:cs typeface="Segoe UI" pitchFamily="34" charset="-120"/>
              </a:rPr>
              <a:t>09:00 hrs (Puntual)
</a:t>
            </a:r>
            <a:pPr indent="0" marL="0">
              <a:buNone/>
            </a:pPr>
            <a:r>
              <a:rPr lang="en-US" sz="1050" b="1" dirty="0">
                <a:solidFill>
                  <a:srgbClr val="EDEDF0"/>
                </a:solidFill>
                <a:latin typeface="Segoe UI" pitchFamily="34" charset="0"/>
                <a:ea typeface="Segoe UI" pitchFamily="34" charset="-122"/>
                <a:cs typeface="Segoe UI" pitchFamily="34" charset="-120"/>
              </a:rPr>
              <a:t>Lugar: </a:t>
            </a:r>
            <a:pPr indent="0" marL="0">
              <a:buNone/>
            </a:pPr>
            <a:r>
              <a:rPr lang="en-US" sz="1050" dirty="0">
                <a:solidFill>
                  <a:srgbClr val="8E8E93"/>
                </a:solidFill>
                <a:latin typeface="Segoe UI" pitchFamily="34" charset="0"/>
                <a:ea typeface="Segoe UI" pitchFamily="34" charset="-122"/>
                <a:cs typeface="Segoe UI" pitchFamily="34" charset="-120"/>
              </a:rPr>
              <a:t>Auditorio 1, Edif. 91, Piso 3
</a:t>
            </a:r>
            <a:pPr indent="0" marL="0">
              <a:buNone/>
            </a:pPr>
            <a:r>
              <a:rPr lang="en-US" sz="1050" b="1" dirty="0">
                <a:solidFill>
                  <a:srgbClr val="EDEDF0"/>
                </a:solidFill>
                <a:latin typeface="Segoe UI" pitchFamily="34" charset="0"/>
                <a:ea typeface="Segoe UI" pitchFamily="34" charset="-122"/>
                <a:cs typeface="Segoe UI" pitchFamily="34" charset="-120"/>
              </a:rPr>
              <a:t>Modalidad: </a:t>
            </a:r>
            <a:pPr indent="0" marL="0">
              <a:buNone/>
            </a:pPr>
            <a:r>
              <a:rPr lang="en-US" sz="1050" dirty="0">
                <a:solidFill>
                  <a:srgbClr val="8E8E93"/>
                </a:solidFill>
                <a:latin typeface="Segoe UI" pitchFamily="34" charset="0"/>
                <a:ea typeface="Segoe UI" pitchFamily="34" charset="-122"/>
                <a:cs typeface="Segoe UI" pitchFamily="34" charset="-120"/>
              </a:rPr>
              <a:t>Tenida Semi-Formal
</a:t>
            </a:r>
            <a:endParaRPr lang="en-US" sz="1050" dirty="0"/>
          </a:p>
        </p:txBody>
      </p:sp>
      <p:sp>
        <p:nvSpPr>
          <p:cNvPr id="11" name="Shape 9"/>
          <p:cNvSpPr/>
          <p:nvPr/>
        </p:nvSpPr>
        <p:spPr>
          <a:xfrm>
            <a:off x="4425696" y="3200400"/>
            <a:ext cx="3337560" cy="2651760"/>
          </a:xfrm>
          <a:prstGeom prst="roundRect">
            <a:avLst>
              <a:gd name="adj" fmla="val 5172"/>
            </a:avLst>
          </a:prstGeom>
          <a:solidFill>
            <a:srgbClr val="14151B"/>
          </a:solidFill>
          <a:ln w="12700">
            <a:solidFill>
              <a:srgbClr val="242630"/>
            </a:solidFill>
            <a:prstDash val="solid"/>
          </a:ln>
        </p:spPr>
      </p:sp>
      <p:sp>
        <p:nvSpPr>
          <p:cNvPr id="12" name="Shape 10"/>
          <p:cNvSpPr/>
          <p:nvPr/>
        </p:nvSpPr>
        <p:spPr>
          <a:xfrm>
            <a:off x="4654296" y="3429000"/>
            <a:ext cx="1920240" cy="256032"/>
          </a:xfrm>
          <a:prstGeom prst="roundRect">
            <a:avLst>
              <a:gd name="adj" fmla="val 50000"/>
            </a:avLst>
          </a:prstGeom>
          <a:solidFill>
            <a:srgbClr val="1C1E28"/>
          </a:solidFill>
          <a:ln w="10160">
            <a:solidFill>
              <a:srgbClr val="30D158"/>
            </a:solidFill>
            <a:prstDash val="solid"/>
          </a:ln>
        </p:spPr>
      </p:sp>
      <p:sp>
        <p:nvSpPr>
          <p:cNvPr id="13" name="Text 11"/>
          <p:cNvSpPr/>
          <p:nvPr/>
        </p:nvSpPr>
        <p:spPr>
          <a:xfrm>
            <a:off x="4654296" y="3429000"/>
            <a:ext cx="1920240" cy="256032"/>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EQUIPO TÉCNICO</a:t>
            </a:r>
            <a:endParaRPr lang="en-US" sz="850" dirty="0"/>
          </a:p>
        </p:txBody>
      </p:sp>
      <p:sp>
        <p:nvSpPr>
          <p:cNvPr id="14" name="Text 12"/>
          <p:cNvSpPr/>
          <p:nvPr/>
        </p:nvSpPr>
        <p:spPr>
          <a:xfrm>
            <a:off x="4654296" y="3794760"/>
            <a:ext cx="2880360" cy="3657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4 Integrantes Clave</a:t>
            </a:r>
            <a:endParaRPr lang="en-US" sz="1500" dirty="0"/>
          </a:p>
        </p:txBody>
      </p:sp>
      <p:sp>
        <p:nvSpPr>
          <p:cNvPr id="15" name="Text 13"/>
          <p:cNvSpPr/>
          <p:nvPr/>
        </p:nvSpPr>
        <p:spPr>
          <a:xfrm>
            <a:off x="4654296" y="4251960"/>
            <a:ext cx="2880360" cy="1417320"/>
          </a:xfrm>
          <a:prstGeom prst="rect">
            <a:avLst/>
          </a:prstGeom>
          <a:noFill/>
          <a:ln/>
        </p:spPr>
        <p:txBody>
          <a:bodyPr wrap="square" rtlCol="0" anchor="t"/>
          <a:lstStyle/>
          <a:p>
            <a:pPr indent="0" marL="0">
              <a:buNone/>
            </a:pPr>
            <a:r>
              <a:rPr lang="en-US" sz="1050" b="1" dirty="0">
                <a:solidFill>
                  <a:srgbClr val="EDEDF0"/>
                </a:solidFill>
                <a:latin typeface="Segoe UI" pitchFamily="34" charset="0"/>
                <a:ea typeface="Segoe UI" pitchFamily="34" charset="-122"/>
                <a:cs typeface="Segoe UI" pitchFamily="34" charset="-120"/>
              </a:rPr>
              <a:t>Integrante 1: </a:t>
            </a:r>
            <a:pPr indent="0" marL="0">
              <a:buNone/>
            </a:pPr>
            <a:r>
              <a:rPr lang="en-US" sz="1050" dirty="0">
                <a:solidFill>
                  <a:srgbClr val="8E8E93"/>
                </a:solidFill>
                <a:latin typeface="Segoe UI" pitchFamily="34" charset="0"/>
                <a:ea typeface="Segoe UI" pitchFamily="34" charset="-122"/>
                <a:cs typeface="Segoe UI" pitchFamily="34" charset="-120"/>
              </a:rPr>
              <a:t>Interfaz &amp; UX (React 18)
</a:t>
            </a:r>
            <a:pPr indent="0" marL="0">
              <a:buNone/>
            </a:pPr>
            <a:r>
              <a:rPr lang="en-US" sz="1050" b="1" dirty="0">
                <a:solidFill>
                  <a:srgbClr val="EDEDF0"/>
                </a:solidFill>
                <a:latin typeface="Segoe UI" pitchFamily="34" charset="0"/>
                <a:ea typeface="Segoe UI" pitchFamily="34" charset="-122"/>
                <a:cs typeface="Segoe UI" pitchFamily="34" charset="-120"/>
              </a:rPr>
              <a:t>Integrante 2: </a:t>
            </a:r>
            <a:pPr indent="0" marL="0">
              <a:buNone/>
            </a:pPr>
            <a:r>
              <a:rPr lang="en-US" sz="1050" dirty="0">
                <a:solidFill>
                  <a:srgbClr val="8E8E93"/>
                </a:solidFill>
                <a:latin typeface="Segoe UI" pitchFamily="34" charset="0"/>
                <a:ea typeface="Segoe UI" pitchFamily="34" charset="-122"/>
                <a:cs typeface="Segoe UI" pitchFamily="34" charset="-120"/>
              </a:rPr>
              <a:t>Arquitectura &amp; API REST
</a:t>
            </a:r>
            <a:pPr indent="0" marL="0">
              <a:buNone/>
            </a:pPr>
            <a:r>
              <a:rPr lang="en-US" sz="1050" b="1" dirty="0">
                <a:solidFill>
                  <a:srgbClr val="EDEDF0"/>
                </a:solidFill>
                <a:latin typeface="Segoe UI" pitchFamily="34" charset="0"/>
                <a:ea typeface="Segoe UI" pitchFamily="34" charset="-122"/>
                <a:cs typeface="Segoe UI" pitchFamily="34" charset="-120"/>
              </a:rPr>
              <a:t>Integrante 3: </a:t>
            </a:r>
            <a:pPr indent="0" marL="0">
              <a:buNone/>
            </a:pPr>
            <a:r>
              <a:rPr lang="en-US" sz="1050" dirty="0">
                <a:solidFill>
                  <a:srgbClr val="8E8E93"/>
                </a:solidFill>
                <a:latin typeface="Segoe UI" pitchFamily="34" charset="0"/>
                <a:ea typeface="Segoe UI" pitchFamily="34" charset="-122"/>
                <a:cs typeface="Segoe UI" pitchFamily="34" charset="-120"/>
              </a:rPr>
              <a:t>Hardware &amp; IoT (Arduino)
</a:t>
            </a:r>
            <a:pPr indent="0" marL="0">
              <a:buNone/>
            </a:pPr>
            <a:r>
              <a:rPr lang="en-US" sz="1050" b="1" dirty="0">
                <a:solidFill>
                  <a:srgbClr val="EDEDF0"/>
                </a:solidFill>
                <a:latin typeface="Segoe UI" pitchFamily="34" charset="0"/>
                <a:ea typeface="Segoe UI" pitchFamily="34" charset="-122"/>
                <a:cs typeface="Segoe UI" pitchFamily="34" charset="-120"/>
              </a:rPr>
              <a:t>Integrante 4: </a:t>
            </a:r>
            <a:pPr indent="0" marL="0">
              <a:buNone/>
            </a:pPr>
            <a:r>
              <a:rPr lang="en-US" sz="1050" dirty="0">
                <a:solidFill>
                  <a:srgbClr val="8E8E93"/>
                </a:solidFill>
                <a:latin typeface="Segoe UI" pitchFamily="34" charset="0"/>
                <a:ea typeface="Segoe UI" pitchFamily="34" charset="-122"/>
                <a:cs typeface="Segoe UI" pitchFamily="34" charset="-120"/>
              </a:rPr>
              <a:t>Cloud &amp; DevOps (Azure)
</a:t>
            </a:r>
            <a:endParaRPr lang="en-US" sz="1050" dirty="0"/>
          </a:p>
        </p:txBody>
      </p:sp>
      <p:sp>
        <p:nvSpPr>
          <p:cNvPr id="16" name="Shape 14"/>
          <p:cNvSpPr/>
          <p:nvPr/>
        </p:nvSpPr>
        <p:spPr>
          <a:xfrm>
            <a:off x="8028432" y="3200400"/>
            <a:ext cx="3337560" cy="2651760"/>
          </a:xfrm>
          <a:prstGeom prst="roundRect">
            <a:avLst>
              <a:gd name="adj" fmla="val 5172"/>
            </a:avLst>
          </a:prstGeom>
          <a:solidFill>
            <a:srgbClr val="14151B"/>
          </a:solidFill>
          <a:ln w="12700">
            <a:solidFill>
              <a:srgbClr val="242630"/>
            </a:solidFill>
            <a:prstDash val="solid"/>
          </a:ln>
        </p:spPr>
      </p:sp>
      <p:sp>
        <p:nvSpPr>
          <p:cNvPr id="17" name="Shape 15"/>
          <p:cNvSpPr/>
          <p:nvPr/>
        </p:nvSpPr>
        <p:spPr>
          <a:xfrm>
            <a:off x="8257032" y="3429000"/>
            <a:ext cx="1920240" cy="256032"/>
          </a:xfrm>
          <a:prstGeom prst="roundRect">
            <a:avLst>
              <a:gd name="adj" fmla="val 50000"/>
            </a:avLst>
          </a:prstGeom>
          <a:solidFill>
            <a:srgbClr val="1C1E28"/>
          </a:solidFill>
          <a:ln w="10160">
            <a:solidFill>
              <a:srgbClr val="FF9F0A"/>
            </a:solidFill>
            <a:prstDash val="solid"/>
          </a:ln>
        </p:spPr>
      </p:sp>
      <p:sp>
        <p:nvSpPr>
          <p:cNvPr id="18" name="Text 16"/>
          <p:cNvSpPr/>
          <p:nvPr/>
        </p:nvSpPr>
        <p:spPr>
          <a:xfrm>
            <a:off x="8257032" y="3429000"/>
            <a:ext cx="1920240" cy="256032"/>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ACREDITACIÓN</a:t>
            </a:r>
            <a:endParaRPr lang="en-US" sz="850" dirty="0"/>
          </a:p>
        </p:txBody>
      </p:sp>
      <p:sp>
        <p:nvSpPr>
          <p:cNvPr id="19" name="Text 17"/>
          <p:cNvSpPr/>
          <p:nvPr/>
        </p:nvSpPr>
        <p:spPr>
          <a:xfrm>
            <a:off x="8257032" y="3794760"/>
            <a:ext cx="2880360" cy="365760"/>
          </a:xfrm>
          <a:prstGeom prst="rect">
            <a:avLst/>
          </a:prstGeom>
          <a:noFill/>
          <a:ln/>
        </p:spPr>
        <p:txBody>
          <a:bodyPr wrap="square"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Recursos en Vivo</a:t>
            </a:r>
            <a:endParaRPr lang="en-US" sz="1500" dirty="0"/>
          </a:p>
        </p:txBody>
      </p:sp>
      <p:sp>
        <p:nvSpPr>
          <p:cNvPr id="20" name="Text 18"/>
          <p:cNvSpPr/>
          <p:nvPr/>
        </p:nvSpPr>
        <p:spPr>
          <a:xfrm>
            <a:off x="8257032" y="4251960"/>
            <a:ext cx="2880360" cy="1417320"/>
          </a:xfrm>
          <a:prstGeom prst="rect">
            <a:avLst/>
          </a:prstGeom>
          <a:noFill/>
          <a:ln/>
        </p:spPr>
        <p:txBody>
          <a:bodyPr wrap="square" rtlCol="0" anchor="t"/>
          <a:lstStyle/>
          <a:p>
            <a:pPr indent="0" marL="0">
              <a:buNone/>
            </a:pPr>
            <a:r>
              <a:rPr lang="en-US" sz="1050" b="1" dirty="0">
                <a:solidFill>
                  <a:srgbClr val="EDEDF0"/>
                </a:solidFill>
                <a:latin typeface="Segoe UI" pitchFamily="34" charset="0"/>
                <a:ea typeface="Segoe UI" pitchFamily="34" charset="-122"/>
                <a:cs typeface="Segoe UI" pitchFamily="34" charset="-120"/>
              </a:rPr>
              <a:t>GitHub: </a:t>
            </a:r>
            <a:pPr indent="0" marL="0">
              <a:buNone/>
            </a:pPr>
            <a:r>
              <a:rPr lang="en-US" sz="1050" dirty="0">
                <a:solidFill>
                  <a:srgbClr val="8E8E93"/>
                </a:solidFill>
                <a:latin typeface="Segoe UI" pitchFamily="34" charset="0"/>
                <a:ea typeface="Segoe UI" pitchFamily="34" charset="-122"/>
                <a:cs typeface="Segoe UI" pitchFamily="34" charset="-120"/>
              </a:rPr>
              <a:t>github.com/PaulFL808/...
</a:t>
            </a:r>
            <a:pPr indent="0" marL="0">
              <a:buNone/>
            </a:pPr>
            <a:r>
              <a:rPr lang="en-US" sz="1050" b="1" dirty="0">
                <a:solidFill>
                  <a:srgbClr val="EDEDF0"/>
                </a:solidFill>
                <a:latin typeface="Segoe UI" pitchFamily="34" charset="0"/>
                <a:ea typeface="Segoe UI" pitchFamily="34" charset="-122"/>
                <a:cs typeface="Segoe UI" pitchFamily="34" charset="-120"/>
              </a:rPr>
              <a:t>Cloud Azure: </a:t>
            </a:r>
            <a:pPr indent="0" marL="0">
              <a:buNone/>
            </a:pPr>
            <a:r>
              <a:rPr lang="en-US" sz="1050" dirty="0">
                <a:solidFill>
                  <a:srgbClr val="8E8E93"/>
                </a:solidFill>
                <a:latin typeface="Segoe UI" pitchFamily="34" charset="0"/>
                <a:ea typeface="Segoe UI" pitchFamily="34" charset="-122"/>
                <a:cs typeface="Segoe UI" pitchFamily="34" charset="-120"/>
              </a:rPr>
              <a:t>aurasmartparking.eastus...
</a:t>
            </a:r>
            <a:pPr indent="0" marL="0">
              <a:buNone/>
            </a:pPr>
            <a:r>
              <a:rPr lang="en-US" sz="1050" b="1" dirty="0">
                <a:solidFill>
                  <a:srgbClr val="EDEDF0"/>
                </a:solidFill>
                <a:latin typeface="Segoe UI" pitchFamily="34" charset="0"/>
                <a:ea typeface="Segoe UI" pitchFamily="34" charset="-122"/>
                <a:cs typeface="Segoe UI" pitchFamily="34" charset="-120"/>
              </a:rPr>
              <a:t>Windows Server: </a:t>
            </a:r>
            <a:pPr indent="0" marL="0">
              <a:buNone/>
            </a:pPr>
            <a:r>
              <a:rPr lang="en-US" sz="1050" dirty="0">
                <a:solidFill>
                  <a:srgbClr val="8E8E93"/>
                </a:solidFill>
                <a:latin typeface="Segoe UI" pitchFamily="34" charset="0"/>
                <a:ea typeface="Segoe UI" pitchFamily="34" charset="-122"/>
                <a:cs typeface="Segoe UI" pitchFamily="34" charset="-120"/>
              </a:rPr>
              <a:t>IIS 10.0 + ARR Proxy
</a:t>
            </a:r>
            <a:pPr indent="0" marL="0">
              <a:buNone/>
            </a:pPr>
            <a:r>
              <a:rPr lang="en-US" sz="1050" b="1" dirty="0">
                <a:solidFill>
                  <a:srgbClr val="EDEDF0"/>
                </a:solidFill>
                <a:latin typeface="Segoe UI" pitchFamily="34" charset="0"/>
                <a:ea typeface="Segoe UI" pitchFamily="34" charset="-122"/>
                <a:cs typeface="Segoe UI" pitchFamily="34" charset="-120"/>
              </a:rPr>
              <a:t>Rúbrica: </a:t>
            </a:r>
            <a:pPr indent="0" marL="0">
              <a:buNone/>
            </a:pPr>
            <a:r>
              <a:rPr lang="en-US" sz="1050" dirty="0">
                <a:solidFill>
                  <a:srgbClr val="8E8E93"/>
                </a:solidFill>
                <a:latin typeface="Segoe UI" pitchFamily="34" charset="0"/>
                <a:ea typeface="Segoe UI" pitchFamily="34" charset="-122"/>
                <a:cs typeface="Segoe UI" pitchFamily="34" charset="-120"/>
              </a:rPr>
              <a:t>100% Criterios Cubiertos
</a:t>
            </a:r>
            <a:endParaRPr lang="en-US" sz="1050" dirty="0"/>
          </a:p>
        </p:txBody>
      </p:sp>
      <p:sp>
        <p:nvSpPr>
          <p:cNvPr id="21" name="Text 19"/>
          <p:cNvSpPr/>
          <p:nvPr/>
        </p:nvSpPr>
        <p:spPr>
          <a:xfrm>
            <a:off x="822960" y="6400800"/>
            <a:ext cx="73152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Defensa de Título / MVP Web · Instituto Profesional Santo Tomás</a:t>
            </a:r>
            <a:endParaRPr lang="en-US" sz="850" dirty="0"/>
          </a:p>
        </p:txBody>
      </p:sp>
      <p:sp>
        <p:nvSpPr>
          <p:cNvPr id="22" name="Text 20"/>
          <p:cNvSpPr/>
          <p:nvPr/>
        </p:nvSpPr>
        <p:spPr>
          <a:xfrm>
            <a:off x="8229600" y="6400800"/>
            <a:ext cx="31363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01 / 10  ·  Minuto 0:00 - 2:00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01 · CONTEXTO &amp; PROPÓSITO</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Problemática Urbana y Propuesta de Valor</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Transformación del modelo analógico de estacionamiento mediante IoT y Cloud Computing.</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02 / 10  ·  Minuto 0:00 - 2:00</a:t>
            </a:r>
            <a:endParaRPr lang="en-US" sz="850" dirty="0"/>
          </a:p>
        </p:txBody>
      </p:sp>
      <p:sp>
        <p:nvSpPr>
          <p:cNvPr id="8" name="Shape 6"/>
          <p:cNvSpPr/>
          <p:nvPr/>
        </p:nvSpPr>
        <p:spPr>
          <a:xfrm>
            <a:off x="822960" y="1783080"/>
            <a:ext cx="5138928" cy="4343400"/>
          </a:xfrm>
          <a:prstGeom prst="roundRect">
            <a:avLst>
              <a:gd name="adj" fmla="val 3158"/>
            </a:avLst>
          </a:prstGeom>
          <a:solidFill>
            <a:srgbClr val="14151B"/>
          </a:solidFill>
          <a:ln w="12700">
            <a:solidFill>
              <a:srgbClr val="242630"/>
            </a:solidFill>
            <a:prstDash val="solid"/>
          </a:ln>
        </p:spPr>
      </p:sp>
      <p:sp>
        <p:nvSpPr>
          <p:cNvPr id="9" name="Shape 7"/>
          <p:cNvSpPr/>
          <p:nvPr/>
        </p:nvSpPr>
        <p:spPr>
          <a:xfrm>
            <a:off x="1097280" y="2011680"/>
            <a:ext cx="2194560" cy="256032"/>
          </a:xfrm>
          <a:prstGeom prst="roundRect">
            <a:avLst>
              <a:gd name="adj" fmla="val 50000"/>
            </a:avLst>
          </a:prstGeom>
          <a:solidFill>
            <a:srgbClr val="241517"/>
          </a:solidFill>
          <a:ln w="10160">
            <a:solidFill>
              <a:srgbClr val="FF453A"/>
            </a:solidFill>
            <a:prstDash val="solid"/>
          </a:ln>
        </p:spPr>
      </p:sp>
      <p:sp>
        <p:nvSpPr>
          <p:cNvPr id="10" name="Text 8"/>
          <p:cNvSpPr/>
          <p:nvPr/>
        </p:nvSpPr>
        <p:spPr>
          <a:xfrm>
            <a:off x="1097280" y="2011680"/>
            <a:ext cx="2194560" cy="256032"/>
          </a:xfrm>
          <a:prstGeom prst="rect">
            <a:avLst/>
          </a:prstGeom>
          <a:noFill/>
          <a:ln/>
        </p:spPr>
        <p:txBody>
          <a:bodyPr wrap="square" rtlCol="0" anchor="ctr"/>
          <a:lstStyle/>
          <a:p>
            <a:pPr algn="ctr" indent="0" marL="0">
              <a:buNone/>
            </a:pPr>
            <a:r>
              <a:rPr lang="en-US" sz="850" b="1" dirty="0">
                <a:solidFill>
                  <a:srgbClr val="FF453A"/>
                </a:solidFill>
                <a:latin typeface="Segoe UI" pitchFamily="34" charset="0"/>
                <a:ea typeface="Segoe UI" pitchFamily="34" charset="-122"/>
                <a:cs typeface="Segoe UI" pitchFamily="34" charset="-120"/>
              </a:rPr>
              <a:t>EL DESAFÍO URBANO</a:t>
            </a:r>
            <a:endParaRPr lang="en-US" sz="850" dirty="0"/>
          </a:p>
        </p:txBody>
      </p:sp>
      <p:sp>
        <p:nvSpPr>
          <p:cNvPr id="11" name="Text 9"/>
          <p:cNvSpPr/>
          <p:nvPr/>
        </p:nvSpPr>
        <p:spPr>
          <a:xfrm>
            <a:off x="1097280" y="2377440"/>
            <a:ext cx="4572000" cy="777240"/>
          </a:xfrm>
          <a:prstGeom prst="rect">
            <a:avLst/>
          </a:prstGeom>
          <a:noFill/>
          <a:ln/>
        </p:spPr>
        <p:txBody>
          <a:bodyPr wrap="square" rtlCol="0" anchor="ctr"/>
          <a:lstStyle/>
          <a:p>
            <a:pPr indent="0" marL="0">
              <a:buNone/>
            </a:pPr>
            <a:r>
              <a:rPr lang="en-US" sz="4600" b="1" dirty="0">
                <a:solidFill>
                  <a:srgbClr val="FF453A"/>
                </a:solidFill>
                <a:latin typeface="Segoe UI" pitchFamily="34" charset="0"/>
                <a:ea typeface="Segoe UI" pitchFamily="34" charset="-122"/>
                <a:cs typeface="Segoe UI" pitchFamily="34" charset="-120"/>
              </a:rPr>
              <a:t>30%</a:t>
            </a:r>
            <a:endParaRPr lang="en-US" sz="4600" dirty="0"/>
          </a:p>
        </p:txBody>
      </p:sp>
      <p:sp>
        <p:nvSpPr>
          <p:cNvPr id="12" name="Text 10"/>
          <p:cNvSpPr/>
          <p:nvPr/>
        </p:nvSpPr>
        <p:spPr>
          <a:xfrm>
            <a:off x="1097280" y="3200400"/>
            <a:ext cx="4572000" cy="548640"/>
          </a:xfrm>
          <a:prstGeom prst="rect">
            <a:avLst/>
          </a:prstGeom>
          <a:noFill/>
          <a:ln/>
        </p:spPr>
        <p:txBody>
          <a:bodyPr wrap="square" rtlCol="0" anchor="ctr"/>
          <a:lstStyle/>
          <a:p>
            <a:pPr indent="0" marL="0">
              <a:buNone/>
            </a:pPr>
            <a:r>
              <a:rPr lang="en-US" sz="1150" b="1" dirty="0">
                <a:solidFill>
                  <a:srgbClr val="EDEDF0"/>
                </a:solidFill>
                <a:latin typeface="Segoe UI" pitchFamily="34" charset="0"/>
                <a:ea typeface="Segoe UI" pitchFamily="34" charset="-122"/>
                <a:cs typeface="Segoe UI" pitchFamily="34" charset="-120"/>
              </a:rPr>
              <a:t>Del tráfico vehicular en centros urbanos proviene exclusivamente de conductores buscando estacionamiento.</a:t>
            </a:r>
            <a:endParaRPr lang="en-US" sz="1150" dirty="0"/>
          </a:p>
        </p:txBody>
      </p:sp>
      <p:sp>
        <p:nvSpPr>
          <p:cNvPr id="13" name="Text 11"/>
          <p:cNvSpPr/>
          <p:nvPr/>
        </p:nvSpPr>
        <p:spPr>
          <a:xfrm>
            <a:off x="1097280" y="3840480"/>
            <a:ext cx="4572000" cy="21031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Congestión y Pérdida Crítica de Tiempo:
</a:t>
            </a:r>
            <a:pPr indent="0" marL="0">
              <a:buNone/>
            </a:pPr>
            <a:r>
              <a:rPr lang="en-US" sz="1050" dirty="0">
                <a:solidFill>
                  <a:srgbClr val="8E8E93"/>
                </a:solidFill>
                <a:latin typeface="Segoe UI" pitchFamily="34" charset="0"/>
                <a:ea typeface="Segoe UI" pitchFamily="34" charset="-122"/>
                <a:cs typeface="Segoe UI" pitchFamily="34" charset="-120"/>
              </a:rPr>
              <a:t>Los usuarios tardan un promedio de 15 a 25 minutos adicionales por trayecto únicamente en encontrar un espacio disponible.
</a:t>
            </a:r>
            <a:pPr indent="0" marL="0">
              <a:buNone/>
            </a:pPr>
            <a:r>
              <a:rPr lang="en-US" sz="1150" b="1" dirty="0">
                <a:solidFill>
                  <a:srgbClr val="FFFFFF"/>
                </a:solidFill>
                <a:latin typeface="Segoe UI" pitchFamily="34" charset="0"/>
                <a:ea typeface="Segoe UI" pitchFamily="34" charset="-122"/>
                <a:cs typeface="Segoe UI" pitchFamily="34" charset="-120"/>
              </a:rPr>
              <a:t>• Emisiones y Gasto Innecesario:
</a:t>
            </a:r>
            <a:pPr indent="0" marL="0">
              <a:buNone/>
            </a:pPr>
            <a:r>
              <a:rPr lang="en-US" sz="1050" dirty="0">
                <a:solidFill>
                  <a:srgbClr val="8E8E93"/>
                </a:solidFill>
                <a:latin typeface="Segoe UI" pitchFamily="34" charset="0"/>
                <a:ea typeface="Segoe UI" pitchFamily="34" charset="-122"/>
                <a:cs typeface="Segoe UI" pitchFamily="34" charset="-120"/>
              </a:rPr>
              <a:t>Incremento de la huella de carbono y consumo de combustible por ralentí constante sin garantía de disponibilidad.
</a:t>
            </a:r>
            <a:pPr indent="0" marL="0">
              <a:buNone/>
            </a:pPr>
            <a:r>
              <a:rPr lang="en-US" sz="1150" b="1" dirty="0">
                <a:solidFill>
                  <a:srgbClr val="FFFFFF"/>
                </a:solidFill>
                <a:latin typeface="Segoe UI" pitchFamily="34" charset="0"/>
                <a:ea typeface="Segoe UI" pitchFamily="34" charset="-122"/>
                <a:cs typeface="Segoe UI" pitchFamily="34" charset="-120"/>
              </a:rPr>
              <a:t>• Gestión Manual e Ineficiente:
</a:t>
            </a:r>
            <a:pPr indent="0" marL="0">
              <a:buNone/>
            </a:pPr>
            <a:r>
              <a:rPr lang="en-US" sz="1050" dirty="0">
                <a:solidFill>
                  <a:srgbClr val="8E8E93"/>
                </a:solidFill>
                <a:latin typeface="Segoe UI" pitchFamily="34" charset="0"/>
                <a:ea typeface="Segoe UI" pitchFamily="34" charset="-122"/>
                <a:cs typeface="Segoe UI" pitchFamily="34" charset="-120"/>
              </a:rPr>
              <a:t>Garitas operadas manualmente con tickets en papel, lentitud en los accesos y nula telemetría en tiempo real.</a:t>
            </a:r>
            <a:endParaRPr lang="en-US" sz="1150" dirty="0"/>
          </a:p>
        </p:txBody>
      </p:sp>
      <p:sp>
        <p:nvSpPr>
          <p:cNvPr id="14" name="Shape 12"/>
          <p:cNvSpPr/>
          <p:nvPr/>
        </p:nvSpPr>
        <p:spPr>
          <a:xfrm>
            <a:off x="6227064" y="1783080"/>
            <a:ext cx="5138928" cy="4343400"/>
          </a:xfrm>
          <a:prstGeom prst="roundRect">
            <a:avLst>
              <a:gd name="adj" fmla="val 3158"/>
            </a:avLst>
          </a:prstGeom>
          <a:solidFill>
            <a:srgbClr val="14151B"/>
          </a:solidFill>
          <a:ln w="12700">
            <a:solidFill>
              <a:srgbClr val="242630"/>
            </a:solidFill>
            <a:prstDash val="solid"/>
          </a:ln>
        </p:spPr>
      </p:sp>
      <p:sp>
        <p:nvSpPr>
          <p:cNvPr id="15" name="Shape 13"/>
          <p:cNvSpPr/>
          <p:nvPr/>
        </p:nvSpPr>
        <p:spPr>
          <a:xfrm>
            <a:off x="6501384" y="2011680"/>
            <a:ext cx="2194560" cy="256032"/>
          </a:xfrm>
          <a:prstGeom prst="roundRect">
            <a:avLst>
              <a:gd name="adj" fmla="val 50000"/>
            </a:avLst>
          </a:prstGeom>
          <a:solidFill>
            <a:srgbClr val="14241B"/>
          </a:solidFill>
          <a:ln w="10160">
            <a:solidFill>
              <a:srgbClr val="30D158"/>
            </a:solidFill>
            <a:prstDash val="solid"/>
          </a:ln>
        </p:spPr>
      </p:sp>
      <p:sp>
        <p:nvSpPr>
          <p:cNvPr id="16" name="Text 14"/>
          <p:cNvSpPr/>
          <p:nvPr/>
        </p:nvSpPr>
        <p:spPr>
          <a:xfrm>
            <a:off x="6501384" y="2011680"/>
            <a:ext cx="2194560" cy="256032"/>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LA SOLUCIÓN · AURA</a:t>
            </a:r>
            <a:endParaRPr lang="en-US" sz="850" dirty="0"/>
          </a:p>
        </p:txBody>
      </p:sp>
      <p:sp>
        <p:nvSpPr>
          <p:cNvPr id="17" name="Text 15"/>
          <p:cNvSpPr/>
          <p:nvPr/>
        </p:nvSpPr>
        <p:spPr>
          <a:xfrm>
            <a:off x="6501384" y="2377440"/>
            <a:ext cx="4572000" cy="777240"/>
          </a:xfrm>
          <a:prstGeom prst="rect">
            <a:avLst/>
          </a:prstGeom>
          <a:noFill/>
          <a:ln/>
        </p:spPr>
        <p:txBody>
          <a:bodyPr wrap="square" rtlCol="0" anchor="ctr"/>
          <a:lstStyle/>
          <a:p>
            <a:pPr indent="0" marL="0">
              <a:buNone/>
            </a:pPr>
            <a:r>
              <a:rPr lang="en-US" sz="4600" b="1" dirty="0">
                <a:solidFill>
                  <a:srgbClr val="30D158"/>
                </a:solidFill>
                <a:latin typeface="Segoe UI" pitchFamily="34" charset="0"/>
                <a:ea typeface="Segoe UI" pitchFamily="34" charset="-122"/>
                <a:cs typeface="Segoe UI" pitchFamily="34" charset="-120"/>
              </a:rPr>
              <a:t>100%</a:t>
            </a:r>
            <a:endParaRPr lang="en-US" sz="4600" dirty="0"/>
          </a:p>
        </p:txBody>
      </p:sp>
      <p:sp>
        <p:nvSpPr>
          <p:cNvPr id="18" name="Text 16"/>
          <p:cNvSpPr/>
          <p:nvPr/>
        </p:nvSpPr>
        <p:spPr>
          <a:xfrm>
            <a:off x="6501384" y="3200400"/>
            <a:ext cx="4572000" cy="548640"/>
          </a:xfrm>
          <a:prstGeom prst="rect">
            <a:avLst/>
          </a:prstGeom>
          <a:noFill/>
          <a:ln/>
        </p:spPr>
        <p:txBody>
          <a:bodyPr wrap="square" rtlCol="0" anchor="ctr"/>
          <a:lstStyle/>
          <a:p>
            <a:pPr indent="0" marL="0">
              <a:buNone/>
            </a:pPr>
            <a:r>
              <a:rPr lang="en-US" sz="1150" b="1" dirty="0">
                <a:solidFill>
                  <a:srgbClr val="EDEDF0"/>
                </a:solidFill>
                <a:latin typeface="Segoe UI" pitchFamily="34" charset="0"/>
                <a:ea typeface="Segoe UI" pitchFamily="34" charset="-122"/>
                <a:cs typeface="Segoe UI" pitchFamily="34" charset="-120"/>
              </a:rPr>
              <a:t>Automatizado y sincronizado en tiempo real desde la maqueta física hacia la infraestructura de Microsoft Azure.</a:t>
            </a:r>
            <a:endParaRPr lang="en-US" sz="1150" dirty="0"/>
          </a:p>
        </p:txBody>
      </p:sp>
      <p:sp>
        <p:nvSpPr>
          <p:cNvPr id="19" name="Text 17"/>
          <p:cNvSpPr/>
          <p:nvPr/>
        </p:nvSpPr>
        <p:spPr>
          <a:xfrm>
            <a:off x="6501384" y="3840480"/>
            <a:ext cx="4572000" cy="21031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Automatización IoT con Arduino UNO:
</a:t>
            </a:r>
            <a:pPr indent="0" marL="0">
              <a:buNone/>
            </a:pPr>
            <a:r>
              <a:rPr lang="en-US" sz="1050" dirty="0">
                <a:solidFill>
                  <a:srgbClr val="8E8E93"/>
                </a:solidFill>
                <a:latin typeface="Segoe UI" pitchFamily="34" charset="0"/>
                <a:ea typeface="Segoe UI" pitchFamily="34" charset="-122"/>
                <a:cs typeface="Segoe UI" pitchFamily="34" charset="-120"/>
              </a:rPr>
              <a:t>Maqueta de 6 cupos con 8 sensores HC-SR04, servomotores SG90 para barreras y display LCD 16x2 autónomo.
</a:t>
            </a:r>
            <a:pPr indent="0" marL="0">
              <a:buNone/>
            </a:pPr>
            <a:r>
              <a:rPr lang="en-US" sz="1150" b="1" dirty="0">
                <a:solidFill>
                  <a:srgbClr val="FFFFFF"/>
                </a:solidFill>
                <a:latin typeface="Segoe UI" pitchFamily="34" charset="0"/>
                <a:ea typeface="Segoe UI" pitchFamily="34" charset="-122"/>
                <a:cs typeface="Segoe UI" pitchFamily="34" charset="-120"/>
              </a:rPr>
              <a:t>• Plataforma Cloud Resiliente:
</a:t>
            </a:r>
            <a:pPr indent="0" marL="0">
              <a:buNone/>
            </a:pPr>
            <a:r>
              <a:rPr lang="en-US" sz="1050" dirty="0">
                <a:solidFill>
                  <a:srgbClr val="8E8E93"/>
                </a:solidFill>
                <a:latin typeface="Segoe UI" pitchFamily="34" charset="0"/>
                <a:ea typeface="Segoe UI" pitchFamily="34" charset="-122"/>
                <a:cs typeface="Segoe UI" pitchFamily="34" charset="-120"/>
              </a:rPr>
              <a:t>Despliegue sobre Windows Server 2022 con IIS, proxy inverso y resolución DNS pública accesible globalmente.
</a:t>
            </a:r>
            <a:pPr indent="0" marL="0">
              <a:buNone/>
            </a:pPr>
            <a:r>
              <a:rPr lang="en-US" sz="1150" b="1" dirty="0">
                <a:solidFill>
                  <a:srgbClr val="FFFFFF"/>
                </a:solidFill>
                <a:latin typeface="Segoe UI" pitchFamily="34" charset="0"/>
                <a:ea typeface="Segoe UI" pitchFamily="34" charset="-122"/>
                <a:cs typeface="Segoe UI" pitchFamily="34" charset="-120"/>
              </a:rPr>
              <a:t>• Agendamiento y Cobro por Minuto:
</a:t>
            </a:r>
            <a:pPr indent="0" marL="0">
              <a:buNone/>
            </a:pPr>
            <a:r>
              <a:rPr lang="en-US" sz="1050" dirty="0">
                <a:solidFill>
                  <a:srgbClr val="8E8E93"/>
                </a:solidFill>
                <a:latin typeface="Segoe UI" pitchFamily="34" charset="0"/>
                <a:ea typeface="Segoe UI" pitchFamily="34" charset="-122"/>
                <a:cs typeface="Segoe UI" pitchFamily="34" charset="-120"/>
              </a:rPr>
              <a:t>Reserva anticipada con validación de patente chilena, pase digital QR y tarificación exacta ($35 CLP/min).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02 · ARQUITECTURA DE SISTEMAS</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Diseño de Software Desacoplado en 4 Capas</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Patrón arquitectónico por capas: alta cohesión, bajo acoplamiento y separación estricta de responsabilidades.</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03 / 10  ·  Minuto 2:00 - 5:00</a:t>
            </a:r>
            <a:endParaRPr lang="en-US" sz="850" dirty="0"/>
          </a:p>
        </p:txBody>
      </p:sp>
      <p:sp>
        <p:nvSpPr>
          <p:cNvPr id="8" name="Shape 6"/>
          <p:cNvSpPr/>
          <p:nvPr/>
        </p:nvSpPr>
        <p:spPr>
          <a:xfrm>
            <a:off x="822960" y="1783080"/>
            <a:ext cx="10543032" cy="960120"/>
          </a:xfrm>
          <a:prstGeom prst="roundRect">
            <a:avLst>
              <a:gd name="adj" fmla="val 11429"/>
            </a:avLst>
          </a:prstGeom>
          <a:solidFill>
            <a:srgbClr val="14151B"/>
          </a:solidFill>
          <a:ln w="12700">
            <a:solidFill>
              <a:srgbClr val="242630"/>
            </a:solidFill>
            <a:prstDash val="solid"/>
          </a:ln>
        </p:spPr>
      </p:sp>
      <p:sp>
        <p:nvSpPr>
          <p:cNvPr id="9" name="Shape 7"/>
          <p:cNvSpPr/>
          <p:nvPr/>
        </p:nvSpPr>
        <p:spPr>
          <a:xfrm>
            <a:off x="822960" y="1783080"/>
            <a:ext cx="109728" cy="960120"/>
          </a:xfrm>
          <a:prstGeom prst="roundRect">
            <a:avLst>
              <a:gd name="adj" fmla="val 50000"/>
            </a:avLst>
          </a:prstGeom>
          <a:solidFill>
            <a:srgbClr val="2997FF"/>
          </a:solidFill>
          <a:ln w="12700">
            <a:solidFill>
              <a:srgbClr val="2997FF"/>
            </a:solidFill>
            <a:prstDash val="solid"/>
          </a:ln>
        </p:spPr>
      </p:sp>
      <p:sp>
        <p:nvSpPr>
          <p:cNvPr id="10" name="Shape 8"/>
          <p:cNvSpPr/>
          <p:nvPr/>
        </p:nvSpPr>
        <p:spPr>
          <a:xfrm>
            <a:off x="1143000" y="1911096"/>
            <a:ext cx="1005840" cy="219456"/>
          </a:xfrm>
          <a:prstGeom prst="roundRect">
            <a:avLst>
              <a:gd name="adj" fmla="val 50000"/>
            </a:avLst>
          </a:prstGeom>
          <a:solidFill>
            <a:srgbClr val="181924"/>
          </a:solidFill>
          <a:ln w="10160">
            <a:solidFill>
              <a:srgbClr val="2997FF"/>
            </a:solidFill>
            <a:prstDash val="solid"/>
          </a:ln>
        </p:spPr>
      </p:sp>
      <p:sp>
        <p:nvSpPr>
          <p:cNvPr id="11" name="Text 9"/>
          <p:cNvSpPr/>
          <p:nvPr/>
        </p:nvSpPr>
        <p:spPr>
          <a:xfrm>
            <a:off x="1143000" y="1911096"/>
            <a:ext cx="1005840" cy="219456"/>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CAPA 1</a:t>
            </a:r>
            <a:endParaRPr lang="en-US" sz="850" dirty="0"/>
          </a:p>
        </p:txBody>
      </p:sp>
      <p:sp>
        <p:nvSpPr>
          <p:cNvPr id="12" name="Text 10"/>
          <p:cNvSpPr/>
          <p:nvPr/>
        </p:nvSpPr>
        <p:spPr>
          <a:xfrm>
            <a:off x="2286000" y="1892808"/>
            <a:ext cx="886968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PRESENTACIÓN &amp; EXPERIENCIA (UI / UX)   </a:t>
            </a:r>
            <a:pPr indent="0" marL="0">
              <a:buNone/>
            </a:pPr>
            <a:r>
              <a:rPr lang="en-US" sz="950" b="1" dirty="0">
                <a:solidFill>
                  <a:srgbClr val="2997FF"/>
                </a:solidFill>
                <a:latin typeface="Segoe UI" pitchFamily="34" charset="0"/>
                <a:ea typeface="Segoe UI" pitchFamily="34" charset="-122"/>
                <a:cs typeface="Segoe UI" pitchFamily="34" charset="-120"/>
              </a:rPr>
              <a:t>[ React 18 · Tailwind CSS · Web Serial API ]</a:t>
            </a:r>
            <a:endParaRPr lang="en-US" sz="1150" dirty="0"/>
          </a:p>
        </p:txBody>
      </p:sp>
      <p:sp>
        <p:nvSpPr>
          <p:cNvPr id="13" name="Text 11"/>
          <p:cNvSpPr/>
          <p:nvPr/>
        </p:nvSpPr>
        <p:spPr>
          <a:xfrm>
            <a:off x="1143000" y="2185416"/>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SPA interactiva y reactiva. Mapa visual de 6 cajones con estados en tiempo real, terminal de reservas con validación de patentes chilenas, emisión de Pase Digital QR y conexión directa por puerto USB COM sin dependencias externas.</a:t>
            </a:r>
            <a:endParaRPr lang="en-US" sz="980" dirty="0"/>
          </a:p>
        </p:txBody>
      </p:sp>
      <p:sp>
        <p:nvSpPr>
          <p:cNvPr id="14" name="Shape 12"/>
          <p:cNvSpPr/>
          <p:nvPr/>
        </p:nvSpPr>
        <p:spPr>
          <a:xfrm>
            <a:off x="822960" y="2862072"/>
            <a:ext cx="10543032" cy="960120"/>
          </a:xfrm>
          <a:prstGeom prst="roundRect">
            <a:avLst>
              <a:gd name="adj" fmla="val 11429"/>
            </a:avLst>
          </a:prstGeom>
          <a:solidFill>
            <a:srgbClr val="14151B"/>
          </a:solidFill>
          <a:ln w="12700">
            <a:solidFill>
              <a:srgbClr val="242630"/>
            </a:solidFill>
            <a:prstDash val="solid"/>
          </a:ln>
        </p:spPr>
      </p:sp>
      <p:sp>
        <p:nvSpPr>
          <p:cNvPr id="15" name="Shape 13"/>
          <p:cNvSpPr/>
          <p:nvPr/>
        </p:nvSpPr>
        <p:spPr>
          <a:xfrm>
            <a:off x="822960" y="2862072"/>
            <a:ext cx="109728" cy="960120"/>
          </a:xfrm>
          <a:prstGeom prst="roundRect">
            <a:avLst>
              <a:gd name="adj" fmla="val 50000"/>
            </a:avLst>
          </a:prstGeom>
          <a:solidFill>
            <a:srgbClr val="30D158"/>
          </a:solidFill>
          <a:ln w="12700">
            <a:solidFill>
              <a:srgbClr val="30D158"/>
            </a:solidFill>
            <a:prstDash val="solid"/>
          </a:ln>
        </p:spPr>
      </p:sp>
      <p:sp>
        <p:nvSpPr>
          <p:cNvPr id="16" name="Shape 14"/>
          <p:cNvSpPr/>
          <p:nvPr/>
        </p:nvSpPr>
        <p:spPr>
          <a:xfrm>
            <a:off x="1143000" y="2990088"/>
            <a:ext cx="1005840" cy="219456"/>
          </a:xfrm>
          <a:prstGeom prst="roundRect">
            <a:avLst>
              <a:gd name="adj" fmla="val 50000"/>
            </a:avLst>
          </a:prstGeom>
          <a:solidFill>
            <a:srgbClr val="181924"/>
          </a:solidFill>
          <a:ln w="10160">
            <a:solidFill>
              <a:srgbClr val="30D158"/>
            </a:solidFill>
            <a:prstDash val="solid"/>
          </a:ln>
        </p:spPr>
      </p:sp>
      <p:sp>
        <p:nvSpPr>
          <p:cNvPr id="17" name="Text 15"/>
          <p:cNvSpPr/>
          <p:nvPr/>
        </p:nvSpPr>
        <p:spPr>
          <a:xfrm>
            <a:off x="1143000" y="2990088"/>
            <a:ext cx="1005840" cy="219456"/>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CAPA 2</a:t>
            </a:r>
            <a:endParaRPr lang="en-US" sz="850" dirty="0"/>
          </a:p>
        </p:txBody>
      </p:sp>
      <p:sp>
        <p:nvSpPr>
          <p:cNvPr id="18" name="Text 16"/>
          <p:cNvSpPr/>
          <p:nvPr/>
        </p:nvSpPr>
        <p:spPr>
          <a:xfrm>
            <a:off x="2286000" y="2971800"/>
            <a:ext cx="886968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CONTROLADORES &amp; SERVICIOS REST   </a:t>
            </a:r>
            <a:pPr indent="0" marL="0">
              <a:buNone/>
            </a:pPr>
            <a:r>
              <a:rPr lang="en-US" sz="950" b="1" dirty="0">
                <a:solidFill>
                  <a:srgbClr val="30D158"/>
                </a:solidFill>
                <a:latin typeface="Segoe UI" pitchFamily="34" charset="0"/>
                <a:ea typeface="Segoe UI" pitchFamily="34" charset="-122"/>
                <a:cs typeface="Segoe UI" pitchFamily="34" charset="-120"/>
              </a:rPr>
              <a:t>[ Node.js Express · Reverse Proxy IIS · Windows Server 2022 ]</a:t>
            </a:r>
            <a:endParaRPr lang="en-US" sz="1150" dirty="0"/>
          </a:p>
        </p:txBody>
      </p:sp>
      <p:sp>
        <p:nvSpPr>
          <p:cNvPr id="19" name="Text 17"/>
          <p:cNvSpPr/>
          <p:nvPr/>
        </p:nvSpPr>
        <p:spPr>
          <a:xfrm>
            <a:off x="1143000" y="3264408"/>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Capa de transporte desacoplada. Rutas RESTful (/api/parking/state, /reserve, /release, /telemetry). Validación rigurosa de contratos de entrada, serialización JSON liviana (~200 bytes) y mediación hacia la lógica de negocio.</a:t>
            </a:r>
            <a:endParaRPr lang="en-US" sz="980" dirty="0"/>
          </a:p>
        </p:txBody>
      </p:sp>
      <p:sp>
        <p:nvSpPr>
          <p:cNvPr id="20" name="Shape 18"/>
          <p:cNvSpPr/>
          <p:nvPr/>
        </p:nvSpPr>
        <p:spPr>
          <a:xfrm>
            <a:off x="822960" y="3941064"/>
            <a:ext cx="10543032" cy="960120"/>
          </a:xfrm>
          <a:prstGeom prst="roundRect">
            <a:avLst>
              <a:gd name="adj" fmla="val 11429"/>
            </a:avLst>
          </a:prstGeom>
          <a:solidFill>
            <a:srgbClr val="14151B"/>
          </a:solidFill>
          <a:ln w="12700">
            <a:solidFill>
              <a:srgbClr val="242630"/>
            </a:solidFill>
            <a:prstDash val="solid"/>
          </a:ln>
        </p:spPr>
      </p:sp>
      <p:sp>
        <p:nvSpPr>
          <p:cNvPr id="21" name="Shape 19"/>
          <p:cNvSpPr/>
          <p:nvPr/>
        </p:nvSpPr>
        <p:spPr>
          <a:xfrm>
            <a:off x="822960" y="3941064"/>
            <a:ext cx="109728" cy="960120"/>
          </a:xfrm>
          <a:prstGeom prst="roundRect">
            <a:avLst>
              <a:gd name="adj" fmla="val 50000"/>
            </a:avLst>
          </a:prstGeom>
          <a:solidFill>
            <a:srgbClr val="FF9F0A"/>
          </a:solidFill>
          <a:ln w="12700">
            <a:solidFill>
              <a:srgbClr val="FF9F0A"/>
            </a:solidFill>
            <a:prstDash val="solid"/>
          </a:ln>
        </p:spPr>
      </p:sp>
      <p:sp>
        <p:nvSpPr>
          <p:cNvPr id="22" name="Shape 20"/>
          <p:cNvSpPr/>
          <p:nvPr/>
        </p:nvSpPr>
        <p:spPr>
          <a:xfrm>
            <a:off x="1143000" y="4069080"/>
            <a:ext cx="1005840" cy="219456"/>
          </a:xfrm>
          <a:prstGeom prst="roundRect">
            <a:avLst>
              <a:gd name="adj" fmla="val 50000"/>
            </a:avLst>
          </a:prstGeom>
          <a:solidFill>
            <a:srgbClr val="181924"/>
          </a:solidFill>
          <a:ln w="10160">
            <a:solidFill>
              <a:srgbClr val="FF9F0A"/>
            </a:solidFill>
            <a:prstDash val="solid"/>
          </a:ln>
        </p:spPr>
      </p:sp>
      <p:sp>
        <p:nvSpPr>
          <p:cNvPr id="23" name="Text 21"/>
          <p:cNvSpPr/>
          <p:nvPr/>
        </p:nvSpPr>
        <p:spPr>
          <a:xfrm>
            <a:off x="1143000" y="4069080"/>
            <a:ext cx="1005840" cy="219456"/>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CAPA 3</a:t>
            </a:r>
            <a:endParaRPr lang="en-US" sz="850" dirty="0"/>
          </a:p>
        </p:txBody>
      </p:sp>
      <p:sp>
        <p:nvSpPr>
          <p:cNvPr id="24" name="Text 22"/>
          <p:cNvSpPr/>
          <p:nvPr/>
        </p:nvSpPr>
        <p:spPr>
          <a:xfrm>
            <a:off x="2286000" y="4050792"/>
            <a:ext cx="886968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LÓGICA DE NEGOCIO &amp; DOMINIO   </a:t>
            </a:r>
            <a:pPr indent="0" marL="0">
              <a:buNone/>
            </a:pPr>
            <a:r>
              <a:rPr lang="en-US" sz="950" b="1" dirty="0">
                <a:solidFill>
                  <a:srgbClr val="FF9F0A"/>
                </a:solidFill>
                <a:latin typeface="Segoe UI" pitchFamily="34" charset="0"/>
                <a:ea typeface="Segoe UI" pitchFamily="34" charset="-122"/>
                <a:cs typeface="Segoe UI" pitchFamily="34" charset="-120"/>
              </a:rPr>
              <a:t>[ Motor de Reglas de Ocupación &amp; Tarificación Dinámica ]</a:t>
            </a:r>
            <a:endParaRPr lang="en-US" sz="1150" dirty="0"/>
          </a:p>
        </p:txBody>
      </p:sp>
      <p:sp>
        <p:nvSpPr>
          <p:cNvPr id="25" name="Text 23"/>
          <p:cNvSpPr/>
          <p:nvPr/>
        </p:nvSpPr>
        <p:spPr>
          <a:xfrm>
            <a:off x="1143000" y="4343400"/>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Reglas de negocio puras: umbral físico (&lt; 10 cm = Ocupado / &gt; 10 cm = Libre), cálculo de estancia vehicular y cobro fraccionado por minuto ($35 CLP/min), temporización de apertura de barreras y validación de cupos.</a:t>
            </a:r>
            <a:endParaRPr lang="en-US" sz="980" dirty="0"/>
          </a:p>
        </p:txBody>
      </p:sp>
      <p:sp>
        <p:nvSpPr>
          <p:cNvPr id="26" name="Shape 24"/>
          <p:cNvSpPr/>
          <p:nvPr/>
        </p:nvSpPr>
        <p:spPr>
          <a:xfrm>
            <a:off x="822960" y="5020056"/>
            <a:ext cx="10543032" cy="960120"/>
          </a:xfrm>
          <a:prstGeom prst="roundRect">
            <a:avLst>
              <a:gd name="adj" fmla="val 11429"/>
            </a:avLst>
          </a:prstGeom>
          <a:solidFill>
            <a:srgbClr val="14151B"/>
          </a:solidFill>
          <a:ln w="12700">
            <a:solidFill>
              <a:srgbClr val="242630"/>
            </a:solidFill>
            <a:prstDash val="solid"/>
          </a:ln>
        </p:spPr>
      </p:sp>
      <p:sp>
        <p:nvSpPr>
          <p:cNvPr id="27" name="Shape 25"/>
          <p:cNvSpPr/>
          <p:nvPr/>
        </p:nvSpPr>
        <p:spPr>
          <a:xfrm>
            <a:off x="822960" y="5020056"/>
            <a:ext cx="109728" cy="960120"/>
          </a:xfrm>
          <a:prstGeom prst="roundRect">
            <a:avLst>
              <a:gd name="adj" fmla="val 50000"/>
            </a:avLst>
          </a:prstGeom>
          <a:solidFill>
            <a:srgbClr val="BF5AF2"/>
          </a:solidFill>
          <a:ln w="12700">
            <a:solidFill>
              <a:srgbClr val="BF5AF2"/>
            </a:solidFill>
            <a:prstDash val="solid"/>
          </a:ln>
        </p:spPr>
      </p:sp>
      <p:sp>
        <p:nvSpPr>
          <p:cNvPr id="28" name="Shape 26"/>
          <p:cNvSpPr/>
          <p:nvPr/>
        </p:nvSpPr>
        <p:spPr>
          <a:xfrm>
            <a:off x="1143000" y="5148072"/>
            <a:ext cx="1005840" cy="219456"/>
          </a:xfrm>
          <a:prstGeom prst="roundRect">
            <a:avLst>
              <a:gd name="adj" fmla="val 50000"/>
            </a:avLst>
          </a:prstGeom>
          <a:solidFill>
            <a:srgbClr val="181924"/>
          </a:solidFill>
          <a:ln w="10160">
            <a:solidFill>
              <a:srgbClr val="BF5AF2"/>
            </a:solidFill>
            <a:prstDash val="solid"/>
          </a:ln>
        </p:spPr>
      </p:sp>
      <p:sp>
        <p:nvSpPr>
          <p:cNvPr id="29" name="Text 27"/>
          <p:cNvSpPr/>
          <p:nvPr/>
        </p:nvSpPr>
        <p:spPr>
          <a:xfrm>
            <a:off x="1143000" y="5148072"/>
            <a:ext cx="1005840" cy="219456"/>
          </a:xfrm>
          <a:prstGeom prst="rect">
            <a:avLst/>
          </a:prstGeom>
          <a:noFill/>
          <a:ln/>
        </p:spPr>
        <p:txBody>
          <a:bodyPr wrap="square" rtlCol="0" anchor="ctr"/>
          <a:lstStyle/>
          <a:p>
            <a:pPr algn="ctr" indent="0" marL="0">
              <a:buNone/>
            </a:pPr>
            <a:r>
              <a:rPr lang="en-US" sz="850" b="1" dirty="0">
                <a:solidFill>
                  <a:srgbClr val="BF5AF2"/>
                </a:solidFill>
                <a:latin typeface="Segoe UI" pitchFamily="34" charset="0"/>
                <a:ea typeface="Segoe UI" pitchFamily="34" charset="-122"/>
                <a:cs typeface="Segoe UI" pitchFamily="34" charset="-120"/>
              </a:rPr>
              <a:t>CAPA 4</a:t>
            </a:r>
            <a:endParaRPr lang="en-US" sz="850" dirty="0"/>
          </a:p>
        </p:txBody>
      </p:sp>
      <p:sp>
        <p:nvSpPr>
          <p:cNvPr id="30" name="Text 28"/>
          <p:cNvSpPr/>
          <p:nvPr/>
        </p:nvSpPr>
        <p:spPr>
          <a:xfrm>
            <a:off x="2286000" y="5129784"/>
            <a:ext cx="886968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PERSISTENCIA &amp; HARDWARE IOT   </a:t>
            </a:r>
            <a:pPr indent="0" marL="0">
              <a:buNone/>
            </a:pPr>
            <a:r>
              <a:rPr lang="en-US" sz="950" b="1" dirty="0">
                <a:solidFill>
                  <a:srgbClr val="BF5AF2"/>
                </a:solidFill>
                <a:latin typeface="Segoe UI" pitchFamily="34" charset="0"/>
                <a:ea typeface="Segoe UI" pitchFamily="34" charset="-122"/>
                <a:cs typeface="Segoe UI" pitchFamily="34" charset="-120"/>
              </a:rPr>
              <a:t>[ Arduino UNO R3 · 8 Sensores HC-SR04 · Azure Logs &amp; Cosmos DB ]</a:t>
            </a:r>
            <a:endParaRPr lang="en-US" sz="1150" dirty="0"/>
          </a:p>
        </p:txBody>
      </p:sp>
      <p:sp>
        <p:nvSpPr>
          <p:cNvPr id="31" name="Text 29"/>
          <p:cNvSpPr/>
          <p:nvPr/>
        </p:nvSpPr>
        <p:spPr>
          <a:xfrm>
            <a:off x="1143000" y="5422392"/>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Capa de ejecución física y persistencia. Microcontrolador ATmega328P con firmware autónomo en C++, lectura de ultrasonidos mediante Pin 2 compartido, servomotores SG90, LCD 16x2 y registro de auditoría transaccional.</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03 · DEFENSA TÉCNICA</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Justificación Técnica frente a Alternativas</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Decisiones de arquitectura evaluadas según la pauta oficial: rendimiento, resiliencia y desacoplamiento.</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04 / 10  ·  Minuto 2:00 - 5:00</a:t>
            </a:r>
            <a:endParaRPr lang="en-US" sz="850" dirty="0"/>
          </a:p>
        </p:txBody>
      </p:sp>
      <p:sp>
        <p:nvSpPr>
          <p:cNvPr id="8" name="Shape 6"/>
          <p:cNvSpPr/>
          <p:nvPr/>
        </p:nvSpPr>
        <p:spPr>
          <a:xfrm>
            <a:off x="822960" y="1783080"/>
            <a:ext cx="3337560" cy="4343400"/>
          </a:xfrm>
          <a:prstGeom prst="roundRect">
            <a:avLst>
              <a:gd name="adj" fmla="val 4110"/>
            </a:avLst>
          </a:prstGeom>
          <a:solidFill>
            <a:srgbClr val="14151B"/>
          </a:solidFill>
          <a:ln w="12700">
            <a:solidFill>
              <a:srgbClr val="242630"/>
            </a:solidFill>
            <a:prstDash val="solid"/>
          </a:ln>
        </p:spPr>
      </p:sp>
      <p:sp>
        <p:nvSpPr>
          <p:cNvPr id="9" name="Shape 7"/>
          <p:cNvSpPr/>
          <p:nvPr/>
        </p:nvSpPr>
        <p:spPr>
          <a:xfrm>
            <a:off x="1051560" y="2011680"/>
            <a:ext cx="1920240" cy="256032"/>
          </a:xfrm>
          <a:prstGeom prst="roundRect">
            <a:avLst>
              <a:gd name="adj" fmla="val 50000"/>
            </a:avLst>
          </a:prstGeom>
          <a:solidFill>
            <a:srgbClr val="1C1E28"/>
          </a:solidFill>
          <a:ln w="10160">
            <a:solidFill>
              <a:srgbClr val="2997FF"/>
            </a:solidFill>
            <a:prstDash val="solid"/>
          </a:ln>
        </p:spPr>
      </p:sp>
      <p:sp>
        <p:nvSpPr>
          <p:cNvPr id="10" name="Text 8"/>
          <p:cNvSpPr/>
          <p:nvPr/>
        </p:nvSpPr>
        <p:spPr>
          <a:xfrm>
            <a:off x="1051560" y="2011680"/>
            <a:ext cx="1920240" cy="256032"/>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REST VS. MONOLITO</a:t>
            </a:r>
            <a:endParaRPr lang="en-US" sz="850" dirty="0"/>
          </a:p>
        </p:txBody>
      </p:sp>
      <p:sp>
        <p:nvSpPr>
          <p:cNvPr id="11" name="Text 9"/>
          <p:cNvSpPr/>
          <p:nvPr/>
        </p:nvSpPr>
        <p:spPr>
          <a:xfrm>
            <a:off x="1051560" y="2377440"/>
            <a:ext cx="2880360" cy="685800"/>
          </a:xfrm>
          <a:prstGeom prst="rect">
            <a:avLst/>
          </a:prstGeom>
          <a:noFill/>
          <a:ln/>
        </p:spPr>
        <p:txBody>
          <a:bodyPr wrap="square" rtlCol="0" anchor="t"/>
          <a:lstStyle/>
          <a:p>
            <a:pPr indent="0" marL="0">
              <a:buNone/>
            </a:pPr>
            <a:r>
              <a:rPr lang="en-US" sz="1250" b="1" dirty="0">
                <a:solidFill>
                  <a:srgbClr val="FFFFFF"/>
                </a:solidFill>
                <a:latin typeface="Segoe UI" pitchFamily="34" charset="0"/>
                <a:ea typeface="Segoe UI" pitchFamily="34" charset="-122"/>
                <a:cs typeface="Segoe UI" pitchFamily="34" charset="-120"/>
              </a:rPr>
              <a:t>¿Por qué API Desacoplada y NO un Monolito MVC tradicional?</a:t>
            </a:r>
            <a:endParaRPr lang="en-US" sz="1250" dirty="0"/>
          </a:p>
        </p:txBody>
      </p:sp>
      <p:sp>
        <p:nvSpPr>
          <p:cNvPr id="12" name="Text 10"/>
          <p:cNvSpPr/>
          <p:nvPr/>
        </p:nvSpPr>
        <p:spPr>
          <a:xfrm>
            <a:off x="1051560" y="3154680"/>
            <a:ext cx="2880360" cy="224028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En un monolito clásico (MVC), cada lectura de sensor o cambio de estado forzaría al servidor a regenerar y renderizar páginas HTML completas, saturando la CPU innecesariamente.</a:t>
            </a:r>
            <a:endParaRPr lang="en-US" sz="980" dirty="0"/>
          </a:p>
          <a:p>
            <a:pPr indent="0" marL="0">
              <a:buNone/>
            </a:pPr>
            <a:endParaRPr lang="en-US" sz="980" dirty="0"/>
          </a:p>
          <a:p>
            <a:pPr indent="0" marL="0">
              <a:buNone/>
            </a:pPr>
            <a:r>
              <a:rPr lang="en-US" sz="980" dirty="0">
                <a:solidFill>
                  <a:srgbClr val="8E8E93"/>
                </a:solidFill>
                <a:latin typeface="Segoe UI" pitchFamily="34" charset="0"/>
                <a:ea typeface="Segoe UI" pitchFamily="34" charset="-122"/>
                <a:cs typeface="Segoe UI" pitchFamily="34" charset="-120"/>
              </a:rPr>
              <a:t>Con una arquitectura desacoplada basada en API REST y Single Page Application (SPA), la telemetría viaja en paquetes JSON ultralivianos (~200 bytes). Esto permite refrescos fluidos cada 2.5s y habilita a múltiples clientes (web, móvil, terminales de cobro) a consumir la misma fuente de datos en paralelo.</a:t>
            </a:r>
            <a:endParaRPr lang="en-US" sz="980" dirty="0"/>
          </a:p>
        </p:txBody>
      </p:sp>
      <p:sp>
        <p:nvSpPr>
          <p:cNvPr id="13" name="Shape 11"/>
          <p:cNvSpPr/>
          <p:nvPr/>
        </p:nvSpPr>
        <p:spPr>
          <a:xfrm>
            <a:off x="1051560" y="5532120"/>
            <a:ext cx="2880360" cy="411480"/>
          </a:xfrm>
          <a:prstGeom prst="roundRect">
            <a:avLst>
              <a:gd name="adj" fmla="val 17778"/>
            </a:avLst>
          </a:prstGeom>
          <a:solidFill>
            <a:srgbClr val="171922"/>
          </a:solidFill>
          <a:ln w="7620">
            <a:solidFill>
              <a:srgbClr val="2997FF"/>
            </a:solidFill>
            <a:prstDash val="solid"/>
          </a:ln>
        </p:spPr>
      </p:sp>
      <p:sp>
        <p:nvSpPr>
          <p:cNvPr id="14" name="Text 12"/>
          <p:cNvSpPr/>
          <p:nvPr/>
        </p:nvSpPr>
        <p:spPr>
          <a:xfrm>
            <a:off x="1097280" y="5532120"/>
            <a:ext cx="2788920" cy="411480"/>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 Payloads livianos de ~200B vs páginas HTML pesadas</a:t>
            </a:r>
            <a:endParaRPr lang="en-US" sz="850" dirty="0"/>
          </a:p>
        </p:txBody>
      </p:sp>
      <p:sp>
        <p:nvSpPr>
          <p:cNvPr id="15" name="Shape 13"/>
          <p:cNvSpPr/>
          <p:nvPr/>
        </p:nvSpPr>
        <p:spPr>
          <a:xfrm>
            <a:off x="4425696" y="1783080"/>
            <a:ext cx="3337560" cy="4343400"/>
          </a:xfrm>
          <a:prstGeom prst="roundRect">
            <a:avLst>
              <a:gd name="adj" fmla="val 4110"/>
            </a:avLst>
          </a:prstGeom>
          <a:solidFill>
            <a:srgbClr val="14151B"/>
          </a:solidFill>
          <a:ln w="12700">
            <a:solidFill>
              <a:srgbClr val="242630"/>
            </a:solidFill>
            <a:prstDash val="solid"/>
          </a:ln>
        </p:spPr>
      </p:sp>
      <p:sp>
        <p:nvSpPr>
          <p:cNvPr id="16" name="Shape 14"/>
          <p:cNvSpPr/>
          <p:nvPr/>
        </p:nvSpPr>
        <p:spPr>
          <a:xfrm>
            <a:off x="4654296" y="2011680"/>
            <a:ext cx="1920240" cy="256032"/>
          </a:xfrm>
          <a:prstGeom prst="roundRect">
            <a:avLst>
              <a:gd name="adj" fmla="val 50000"/>
            </a:avLst>
          </a:prstGeom>
          <a:solidFill>
            <a:srgbClr val="1C1E28"/>
          </a:solidFill>
          <a:ln w="10160">
            <a:solidFill>
              <a:srgbClr val="FF9F0A"/>
            </a:solidFill>
            <a:prstDash val="solid"/>
          </a:ln>
        </p:spPr>
      </p:sp>
      <p:sp>
        <p:nvSpPr>
          <p:cNvPr id="17" name="Text 15"/>
          <p:cNvSpPr/>
          <p:nvPr/>
        </p:nvSpPr>
        <p:spPr>
          <a:xfrm>
            <a:off x="4654296" y="2011680"/>
            <a:ext cx="1920240" cy="256032"/>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HOSTING CONTINUO</a:t>
            </a:r>
            <a:endParaRPr lang="en-US" sz="850" dirty="0"/>
          </a:p>
        </p:txBody>
      </p:sp>
      <p:sp>
        <p:nvSpPr>
          <p:cNvPr id="18" name="Text 16"/>
          <p:cNvSpPr/>
          <p:nvPr/>
        </p:nvSpPr>
        <p:spPr>
          <a:xfrm>
            <a:off x="4654296" y="2377440"/>
            <a:ext cx="2880360" cy="685800"/>
          </a:xfrm>
          <a:prstGeom prst="rect">
            <a:avLst/>
          </a:prstGeom>
          <a:noFill/>
          <a:ln/>
        </p:spPr>
        <p:txBody>
          <a:bodyPr wrap="square" rtlCol="0" anchor="t"/>
          <a:lstStyle/>
          <a:p>
            <a:pPr indent="0" marL="0">
              <a:buNone/>
            </a:pPr>
            <a:r>
              <a:rPr lang="en-US" sz="1250" b="1" dirty="0">
                <a:solidFill>
                  <a:srgbClr val="FFFFFF"/>
                </a:solidFill>
                <a:latin typeface="Segoe UI" pitchFamily="34" charset="0"/>
                <a:ea typeface="Segoe UI" pitchFamily="34" charset="-122"/>
                <a:cs typeface="Segoe UI" pitchFamily="34" charset="-120"/>
              </a:rPr>
              <a:t>¿Por qué VM / IIS y NO Serverless puro para todo el sistema?</a:t>
            </a:r>
            <a:endParaRPr lang="en-US" sz="1250" dirty="0"/>
          </a:p>
        </p:txBody>
      </p:sp>
      <p:sp>
        <p:nvSpPr>
          <p:cNvPr id="19" name="Text 17"/>
          <p:cNvSpPr/>
          <p:nvPr/>
        </p:nvSpPr>
        <p:spPr>
          <a:xfrm>
            <a:off x="4654296" y="3154680"/>
            <a:ext cx="2880360" cy="224028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Las arquitecturas Serverless (como Azure Functions) son excelentes para eventos aislados, pero sufren de latencia por "cold start" (arranque en frío) y costos acumulativos bajo sondeos frecuentes.</a:t>
            </a:r>
            <a:endParaRPr lang="en-US" sz="980" dirty="0"/>
          </a:p>
          <a:p>
            <a:pPr indent="0" marL="0">
              <a:buNone/>
            </a:pPr>
            <a:endParaRPr lang="en-US" sz="980" dirty="0"/>
          </a:p>
          <a:p>
            <a:pPr indent="0" marL="0">
              <a:buNone/>
            </a:pPr>
            <a:r>
              <a:rPr lang="en-US" sz="980" dirty="0">
                <a:solidFill>
                  <a:srgbClr val="8E8E93"/>
                </a:solidFill>
                <a:latin typeface="Segoe UI" pitchFamily="34" charset="0"/>
                <a:ea typeface="Segoe UI" pitchFamily="34" charset="-122"/>
                <a:cs typeface="Segoe UI" pitchFamily="34" charset="-120"/>
              </a:rPr>
              <a:t>La comunicación serial por Web Serial API y la persistencia de estado de los cupos requieren un runtime continuo de baja latencia. Desplegar en Windows Server 2022 con IIS y Node.js asegura estabilidad absoluta, control granular del firewall NSG y respuesta inmediata.</a:t>
            </a:r>
            <a:endParaRPr lang="en-US" sz="980" dirty="0"/>
          </a:p>
        </p:txBody>
      </p:sp>
      <p:sp>
        <p:nvSpPr>
          <p:cNvPr id="20" name="Shape 18"/>
          <p:cNvSpPr/>
          <p:nvPr/>
        </p:nvSpPr>
        <p:spPr>
          <a:xfrm>
            <a:off x="4654296" y="5532120"/>
            <a:ext cx="2880360" cy="411480"/>
          </a:xfrm>
          <a:prstGeom prst="roundRect">
            <a:avLst>
              <a:gd name="adj" fmla="val 17778"/>
            </a:avLst>
          </a:prstGeom>
          <a:solidFill>
            <a:srgbClr val="171922"/>
          </a:solidFill>
          <a:ln w="7620">
            <a:solidFill>
              <a:srgbClr val="FF9F0A"/>
            </a:solidFill>
            <a:prstDash val="solid"/>
          </a:ln>
        </p:spPr>
      </p:sp>
      <p:sp>
        <p:nvSpPr>
          <p:cNvPr id="21" name="Text 19"/>
          <p:cNvSpPr/>
          <p:nvPr/>
        </p:nvSpPr>
        <p:spPr>
          <a:xfrm>
            <a:off x="4700016" y="5532120"/>
            <a:ext cx="2788920" cy="411480"/>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 Runtime persistente sin penalización por cold-start</a:t>
            </a:r>
            <a:endParaRPr lang="en-US" sz="850" dirty="0"/>
          </a:p>
        </p:txBody>
      </p:sp>
      <p:sp>
        <p:nvSpPr>
          <p:cNvPr id="22" name="Shape 20"/>
          <p:cNvSpPr/>
          <p:nvPr/>
        </p:nvSpPr>
        <p:spPr>
          <a:xfrm>
            <a:off x="8028432" y="1783080"/>
            <a:ext cx="3337560" cy="4343400"/>
          </a:xfrm>
          <a:prstGeom prst="roundRect">
            <a:avLst>
              <a:gd name="adj" fmla="val 4110"/>
            </a:avLst>
          </a:prstGeom>
          <a:solidFill>
            <a:srgbClr val="14151B"/>
          </a:solidFill>
          <a:ln w="12700">
            <a:solidFill>
              <a:srgbClr val="242630"/>
            </a:solidFill>
            <a:prstDash val="solid"/>
          </a:ln>
        </p:spPr>
      </p:sp>
      <p:sp>
        <p:nvSpPr>
          <p:cNvPr id="23" name="Shape 21"/>
          <p:cNvSpPr/>
          <p:nvPr/>
        </p:nvSpPr>
        <p:spPr>
          <a:xfrm>
            <a:off x="8257032" y="2011680"/>
            <a:ext cx="1920240" cy="256032"/>
          </a:xfrm>
          <a:prstGeom prst="roundRect">
            <a:avLst>
              <a:gd name="adj" fmla="val 50000"/>
            </a:avLst>
          </a:prstGeom>
          <a:solidFill>
            <a:srgbClr val="1C1E28"/>
          </a:solidFill>
          <a:ln w="10160">
            <a:solidFill>
              <a:srgbClr val="30D158"/>
            </a:solidFill>
            <a:prstDash val="solid"/>
          </a:ln>
        </p:spPr>
      </p:sp>
      <p:sp>
        <p:nvSpPr>
          <p:cNvPr id="24" name="Text 22"/>
          <p:cNvSpPr/>
          <p:nvPr/>
        </p:nvSpPr>
        <p:spPr>
          <a:xfrm>
            <a:off x="8257032" y="2011680"/>
            <a:ext cx="1920240" cy="256032"/>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RESILIENCIA OFFLINE</a:t>
            </a:r>
            <a:endParaRPr lang="en-US" sz="850" dirty="0"/>
          </a:p>
        </p:txBody>
      </p:sp>
      <p:sp>
        <p:nvSpPr>
          <p:cNvPr id="25" name="Text 23"/>
          <p:cNvSpPr/>
          <p:nvPr/>
        </p:nvSpPr>
        <p:spPr>
          <a:xfrm>
            <a:off x="8257032" y="2377440"/>
            <a:ext cx="2880360" cy="685800"/>
          </a:xfrm>
          <a:prstGeom prst="rect">
            <a:avLst/>
          </a:prstGeom>
          <a:noFill/>
          <a:ln/>
        </p:spPr>
        <p:txBody>
          <a:bodyPr wrap="square" rtlCol="0" anchor="t"/>
          <a:lstStyle/>
          <a:p>
            <a:pPr indent="0" marL="0">
              <a:buNone/>
            </a:pPr>
            <a:r>
              <a:rPr lang="en-US" sz="1250" b="1" dirty="0">
                <a:solidFill>
                  <a:srgbClr val="FFFFFF"/>
                </a:solidFill>
                <a:latin typeface="Segoe UI" pitchFamily="34" charset="0"/>
                <a:ea typeface="Segoe UI" pitchFamily="34" charset="-122"/>
                <a:cs typeface="Segoe UI" pitchFamily="34" charset="-120"/>
              </a:rPr>
              <a:t>¿Cómo responde la arquitectura ante una caída de red o de Azure?</a:t>
            </a:r>
            <a:endParaRPr lang="en-US" sz="1250" dirty="0"/>
          </a:p>
        </p:txBody>
      </p:sp>
      <p:sp>
        <p:nvSpPr>
          <p:cNvPr id="26" name="Text 24"/>
          <p:cNvSpPr/>
          <p:nvPr/>
        </p:nvSpPr>
        <p:spPr>
          <a:xfrm>
            <a:off x="8257032" y="3154680"/>
            <a:ext cx="2880360" cy="224028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El microcontrolador Arduino UNO R3 posee firmware autónomo embebido en memoria Flash.</a:t>
            </a:r>
            <a:endParaRPr lang="en-US" sz="980" dirty="0"/>
          </a:p>
          <a:p>
            <a:pPr indent="0" marL="0">
              <a:buNone/>
            </a:pPr>
            <a:endParaRPr lang="en-US" sz="980" dirty="0"/>
          </a:p>
          <a:p>
            <a:pPr indent="0" marL="0">
              <a:buNone/>
            </a:pPr>
            <a:r>
              <a:rPr lang="en-US" sz="980" dirty="0">
                <a:solidFill>
                  <a:srgbClr val="8E8E93"/>
                </a:solidFill>
                <a:latin typeface="Segoe UI" pitchFamily="34" charset="0"/>
                <a:ea typeface="Segoe UI" pitchFamily="34" charset="-122"/>
                <a:cs typeface="Segoe UI" pitchFamily="34" charset="-120"/>
              </a:rPr>
              <a:t>Si la conexión con la nube de Azure se interrumpe temporalmente, la maqueta física no se detiene: los sensores ultrasónicos continúan detectando vehículos, los servomotores abren las barreras locales y el display LCD 16x2 sigue informando el conteo de cupos disponibles. Al reanudarse Internet, el sistema sincroniza automáticamente.</a:t>
            </a:r>
            <a:endParaRPr lang="en-US" sz="980" dirty="0"/>
          </a:p>
        </p:txBody>
      </p:sp>
      <p:sp>
        <p:nvSpPr>
          <p:cNvPr id="27" name="Shape 25"/>
          <p:cNvSpPr/>
          <p:nvPr/>
        </p:nvSpPr>
        <p:spPr>
          <a:xfrm>
            <a:off x="8257032" y="5532120"/>
            <a:ext cx="2880360" cy="411480"/>
          </a:xfrm>
          <a:prstGeom prst="roundRect">
            <a:avLst>
              <a:gd name="adj" fmla="val 17778"/>
            </a:avLst>
          </a:prstGeom>
          <a:solidFill>
            <a:srgbClr val="171922"/>
          </a:solidFill>
          <a:ln w="7620">
            <a:solidFill>
              <a:srgbClr val="30D158"/>
            </a:solidFill>
            <a:prstDash val="solid"/>
          </a:ln>
        </p:spPr>
      </p:sp>
      <p:sp>
        <p:nvSpPr>
          <p:cNvPr id="28" name="Text 26"/>
          <p:cNvSpPr/>
          <p:nvPr/>
        </p:nvSpPr>
        <p:spPr>
          <a:xfrm>
            <a:off x="8302752" y="5532120"/>
            <a:ext cx="2788920" cy="411480"/>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 Autonomía de borde (Edge Computing) garantizada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04 · INTEGRACIÓN IOT</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Hardware, Sensores y Circuito en Arduino UNO R3</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Maqueta física a escala de 70 × 72 cm con integración electrónica e ingeniería de pines.</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05 / 10  ·  Minuto 5:00 - 8:00</a:t>
            </a:r>
            <a:endParaRPr lang="en-US" sz="850" dirty="0"/>
          </a:p>
        </p:txBody>
      </p:sp>
      <p:sp>
        <p:nvSpPr>
          <p:cNvPr id="8" name="Shape 6"/>
          <p:cNvSpPr/>
          <p:nvPr/>
        </p:nvSpPr>
        <p:spPr>
          <a:xfrm>
            <a:off x="822960" y="1783080"/>
            <a:ext cx="2468880" cy="1005840"/>
          </a:xfrm>
          <a:prstGeom prst="roundRect">
            <a:avLst>
              <a:gd name="adj" fmla="val 10909"/>
            </a:avLst>
          </a:prstGeom>
          <a:solidFill>
            <a:srgbClr val="14151B"/>
          </a:solidFill>
          <a:ln w="12700">
            <a:solidFill>
              <a:srgbClr val="242630"/>
            </a:solidFill>
            <a:prstDash val="solid"/>
          </a:ln>
        </p:spPr>
      </p:sp>
      <p:sp>
        <p:nvSpPr>
          <p:cNvPr id="9" name="Text 7"/>
          <p:cNvSpPr/>
          <p:nvPr/>
        </p:nvSpPr>
        <p:spPr>
          <a:xfrm>
            <a:off x="1005840" y="1874520"/>
            <a:ext cx="2103120" cy="411480"/>
          </a:xfrm>
          <a:prstGeom prst="rect">
            <a:avLst/>
          </a:prstGeom>
          <a:noFill/>
          <a:ln/>
        </p:spPr>
        <p:txBody>
          <a:bodyPr wrap="square" rtlCol="0" anchor="ctr"/>
          <a:lstStyle/>
          <a:p>
            <a:pPr indent="0" marL="0">
              <a:buNone/>
            </a:pPr>
            <a:r>
              <a:rPr lang="en-US" sz="2400" b="1" dirty="0">
                <a:solidFill>
                  <a:srgbClr val="2997FF"/>
                </a:solidFill>
                <a:latin typeface="Segoe UI" pitchFamily="34" charset="0"/>
                <a:ea typeface="Segoe UI" pitchFamily="34" charset="-122"/>
                <a:cs typeface="Segoe UI" pitchFamily="34" charset="-120"/>
              </a:rPr>
              <a:t>6</a:t>
            </a:r>
            <a:endParaRPr lang="en-US" sz="2400" dirty="0"/>
          </a:p>
        </p:txBody>
      </p:sp>
      <p:sp>
        <p:nvSpPr>
          <p:cNvPr id="10" name="Text 8"/>
          <p:cNvSpPr/>
          <p:nvPr/>
        </p:nvSpPr>
        <p:spPr>
          <a:xfrm>
            <a:off x="1005840" y="2286000"/>
            <a:ext cx="2103120" cy="22860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Cupos Monitoreados</a:t>
            </a:r>
            <a:endParaRPr lang="en-US" sz="1050" dirty="0"/>
          </a:p>
        </p:txBody>
      </p:sp>
      <p:sp>
        <p:nvSpPr>
          <p:cNvPr id="11" name="Text 9"/>
          <p:cNvSpPr/>
          <p:nvPr/>
        </p:nvSpPr>
        <p:spPr>
          <a:xfrm>
            <a:off x="1005840" y="2514600"/>
            <a:ext cx="2103120" cy="182880"/>
          </a:xfrm>
          <a:prstGeom prst="rect">
            <a:avLst/>
          </a:prstGeom>
          <a:noFill/>
          <a:ln/>
        </p:spPr>
        <p:txBody>
          <a:bodyPr wrap="square" rtlCol="0" anchor="ctr"/>
          <a:lstStyle/>
          <a:p>
            <a:pPr indent="0" marL="0">
              <a:buNone/>
            </a:pPr>
            <a:r>
              <a:rPr lang="en-US" sz="850" dirty="0">
                <a:solidFill>
                  <a:srgbClr val="8E8E93"/>
                </a:solidFill>
                <a:latin typeface="Segoe UI" pitchFamily="34" charset="0"/>
                <a:ea typeface="Segoe UI" pitchFamily="34" charset="-122"/>
                <a:cs typeface="Segoe UI" pitchFamily="34" charset="-120"/>
              </a:rPr>
              <a:t>Maqueta 70 × 72 cm</a:t>
            </a:r>
            <a:endParaRPr lang="en-US" sz="850" dirty="0"/>
          </a:p>
        </p:txBody>
      </p:sp>
      <p:sp>
        <p:nvSpPr>
          <p:cNvPr id="12" name="Shape 10"/>
          <p:cNvSpPr/>
          <p:nvPr/>
        </p:nvSpPr>
        <p:spPr>
          <a:xfrm>
            <a:off x="3511296" y="1783080"/>
            <a:ext cx="2468880" cy="1005840"/>
          </a:xfrm>
          <a:prstGeom prst="roundRect">
            <a:avLst>
              <a:gd name="adj" fmla="val 10909"/>
            </a:avLst>
          </a:prstGeom>
          <a:solidFill>
            <a:srgbClr val="14151B"/>
          </a:solidFill>
          <a:ln w="12700">
            <a:solidFill>
              <a:srgbClr val="242630"/>
            </a:solidFill>
            <a:prstDash val="solid"/>
          </a:ln>
        </p:spPr>
      </p:sp>
      <p:sp>
        <p:nvSpPr>
          <p:cNvPr id="13" name="Text 11"/>
          <p:cNvSpPr/>
          <p:nvPr/>
        </p:nvSpPr>
        <p:spPr>
          <a:xfrm>
            <a:off x="3694176" y="1874520"/>
            <a:ext cx="2103120" cy="411480"/>
          </a:xfrm>
          <a:prstGeom prst="rect">
            <a:avLst/>
          </a:prstGeom>
          <a:noFill/>
          <a:ln/>
        </p:spPr>
        <p:txBody>
          <a:bodyPr wrap="square" rtlCol="0" anchor="ctr"/>
          <a:lstStyle/>
          <a:p>
            <a:pPr indent="0" marL="0">
              <a:buNone/>
            </a:pPr>
            <a:r>
              <a:rPr lang="en-US" sz="2400" b="1" dirty="0">
                <a:solidFill>
                  <a:srgbClr val="2997FF"/>
                </a:solidFill>
                <a:latin typeface="Segoe UI" pitchFamily="34" charset="0"/>
                <a:ea typeface="Segoe UI" pitchFamily="34" charset="-122"/>
                <a:cs typeface="Segoe UI" pitchFamily="34" charset="-120"/>
              </a:rPr>
              <a:t>8</a:t>
            </a:r>
            <a:endParaRPr lang="en-US" sz="2400" dirty="0"/>
          </a:p>
        </p:txBody>
      </p:sp>
      <p:sp>
        <p:nvSpPr>
          <p:cNvPr id="14" name="Text 12"/>
          <p:cNvSpPr/>
          <p:nvPr/>
        </p:nvSpPr>
        <p:spPr>
          <a:xfrm>
            <a:off x="3694176" y="2286000"/>
            <a:ext cx="2103120" cy="22860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Sensores HC-SR04</a:t>
            </a:r>
            <a:endParaRPr lang="en-US" sz="1050" dirty="0"/>
          </a:p>
        </p:txBody>
      </p:sp>
      <p:sp>
        <p:nvSpPr>
          <p:cNvPr id="15" name="Text 13"/>
          <p:cNvSpPr/>
          <p:nvPr/>
        </p:nvSpPr>
        <p:spPr>
          <a:xfrm>
            <a:off x="3694176" y="2514600"/>
            <a:ext cx="2103120" cy="182880"/>
          </a:xfrm>
          <a:prstGeom prst="rect">
            <a:avLst/>
          </a:prstGeom>
          <a:noFill/>
          <a:ln/>
        </p:spPr>
        <p:txBody>
          <a:bodyPr wrap="square" rtlCol="0" anchor="ctr"/>
          <a:lstStyle/>
          <a:p>
            <a:pPr indent="0" marL="0">
              <a:buNone/>
            </a:pPr>
            <a:r>
              <a:rPr lang="en-US" sz="850" dirty="0">
                <a:solidFill>
                  <a:srgbClr val="8E8E93"/>
                </a:solidFill>
                <a:latin typeface="Segoe UI" pitchFamily="34" charset="0"/>
                <a:ea typeface="Segoe UI" pitchFamily="34" charset="-122"/>
                <a:cs typeface="Segoe UI" pitchFamily="34" charset="-120"/>
              </a:rPr>
              <a:t>Ultrasonido 40 kHz</a:t>
            </a:r>
            <a:endParaRPr lang="en-US" sz="850" dirty="0"/>
          </a:p>
        </p:txBody>
      </p:sp>
      <p:sp>
        <p:nvSpPr>
          <p:cNvPr id="16" name="Shape 14"/>
          <p:cNvSpPr/>
          <p:nvPr/>
        </p:nvSpPr>
        <p:spPr>
          <a:xfrm>
            <a:off x="6199632" y="1783080"/>
            <a:ext cx="2468880" cy="1005840"/>
          </a:xfrm>
          <a:prstGeom prst="roundRect">
            <a:avLst>
              <a:gd name="adj" fmla="val 10909"/>
            </a:avLst>
          </a:prstGeom>
          <a:solidFill>
            <a:srgbClr val="14151B"/>
          </a:solidFill>
          <a:ln w="12700">
            <a:solidFill>
              <a:srgbClr val="242630"/>
            </a:solidFill>
            <a:prstDash val="solid"/>
          </a:ln>
        </p:spPr>
      </p:sp>
      <p:sp>
        <p:nvSpPr>
          <p:cNvPr id="17" name="Text 15"/>
          <p:cNvSpPr/>
          <p:nvPr/>
        </p:nvSpPr>
        <p:spPr>
          <a:xfrm>
            <a:off x="6382512" y="1874520"/>
            <a:ext cx="2103120" cy="411480"/>
          </a:xfrm>
          <a:prstGeom prst="rect">
            <a:avLst/>
          </a:prstGeom>
          <a:noFill/>
          <a:ln/>
        </p:spPr>
        <p:txBody>
          <a:bodyPr wrap="square" rtlCol="0" anchor="ctr"/>
          <a:lstStyle/>
          <a:p>
            <a:pPr indent="0" marL="0">
              <a:buNone/>
            </a:pPr>
            <a:r>
              <a:rPr lang="en-US" sz="2400" b="1" dirty="0">
                <a:solidFill>
                  <a:srgbClr val="2997FF"/>
                </a:solidFill>
                <a:latin typeface="Segoe UI" pitchFamily="34" charset="0"/>
                <a:ea typeface="Segoe UI" pitchFamily="34" charset="-122"/>
                <a:cs typeface="Segoe UI" pitchFamily="34" charset="-120"/>
              </a:rPr>
              <a:t>2</a:t>
            </a:r>
            <a:endParaRPr lang="en-US" sz="2400" dirty="0"/>
          </a:p>
        </p:txBody>
      </p:sp>
      <p:sp>
        <p:nvSpPr>
          <p:cNvPr id="18" name="Text 16"/>
          <p:cNvSpPr/>
          <p:nvPr/>
        </p:nvSpPr>
        <p:spPr>
          <a:xfrm>
            <a:off x="6382512" y="2286000"/>
            <a:ext cx="2103120" cy="22860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Servos SG90</a:t>
            </a:r>
            <a:endParaRPr lang="en-US" sz="1050" dirty="0"/>
          </a:p>
        </p:txBody>
      </p:sp>
      <p:sp>
        <p:nvSpPr>
          <p:cNvPr id="19" name="Text 17"/>
          <p:cNvSpPr/>
          <p:nvPr/>
        </p:nvSpPr>
        <p:spPr>
          <a:xfrm>
            <a:off x="6382512" y="2514600"/>
            <a:ext cx="2103120" cy="182880"/>
          </a:xfrm>
          <a:prstGeom prst="rect">
            <a:avLst/>
          </a:prstGeom>
          <a:noFill/>
          <a:ln/>
        </p:spPr>
        <p:txBody>
          <a:bodyPr wrap="square" rtlCol="0" anchor="ctr"/>
          <a:lstStyle/>
          <a:p>
            <a:pPr indent="0" marL="0">
              <a:buNone/>
            </a:pPr>
            <a:r>
              <a:rPr lang="en-US" sz="850" dirty="0">
                <a:solidFill>
                  <a:srgbClr val="8E8E93"/>
                </a:solidFill>
                <a:latin typeface="Segoe UI" pitchFamily="34" charset="0"/>
                <a:ea typeface="Segoe UI" pitchFamily="34" charset="-122"/>
                <a:cs typeface="Segoe UI" pitchFamily="34" charset="-120"/>
              </a:rPr>
              <a:t>Barreras 0° a 90°</a:t>
            </a:r>
            <a:endParaRPr lang="en-US" sz="850" dirty="0"/>
          </a:p>
        </p:txBody>
      </p:sp>
      <p:sp>
        <p:nvSpPr>
          <p:cNvPr id="20" name="Shape 18"/>
          <p:cNvSpPr/>
          <p:nvPr/>
        </p:nvSpPr>
        <p:spPr>
          <a:xfrm>
            <a:off x="8887968" y="1783080"/>
            <a:ext cx="2468880" cy="1005840"/>
          </a:xfrm>
          <a:prstGeom prst="roundRect">
            <a:avLst>
              <a:gd name="adj" fmla="val 10909"/>
            </a:avLst>
          </a:prstGeom>
          <a:solidFill>
            <a:srgbClr val="14151B"/>
          </a:solidFill>
          <a:ln w="12700">
            <a:solidFill>
              <a:srgbClr val="242630"/>
            </a:solidFill>
            <a:prstDash val="solid"/>
          </a:ln>
        </p:spPr>
      </p:sp>
      <p:sp>
        <p:nvSpPr>
          <p:cNvPr id="21" name="Text 19"/>
          <p:cNvSpPr/>
          <p:nvPr/>
        </p:nvSpPr>
        <p:spPr>
          <a:xfrm>
            <a:off x="9070848" y="1874520"/>
            <a:ext cx="2103120" cy="411480"/>
          </a:xfrm>
          <a:prstGeom prst="rect">
            <a:avLst/>
          </a:prstGeom>
          <a:noFill/>
          <a:ln/>
        </p:spPr>
        <p:txBody>
          <a:bodyPr wrap="square" rtlCol="0" anchor="ctr"/>
          <a:lstStyle/>
          <a:p>
            <a:pPr indent="0" marL="0">
              <a:buNone/>
            </a:pPr>
            <a:r>
              <a:rPr lang="en-US" sz="2400" b="1" dirty="0">
                <a:solidFill>
                  <a:srgbClr val="2997FF"/>
                </a:solidFill>
                <a:latin typeface="Segoe UI" pitchFamily="34" charset="0"/>
                <a:ea typeface="Segoe UI" pitchFamily="34" charset="-122"/>
                <a:cs typeface="Segoe UI" pitchFamily="34" charset="-120"/>
              </a:rPr>
              <a:t>16x2</a:t>
            </a:r>
            <a:endParaRPr lang="en-US" sz="2400" dirty="0"/>
          </a:p>
        </p:txBody>
      </p:sp>
      <p:sp>
        <p:nvSpPr>
          <p:cNvPr id="22" name="Text 20"/>
          <p:cNvSpPr/>
          <p:nvPr/>
        </p:nvSpPr>
        <p:spPr>
          <a:xfrm>
            <a:off x="9070848" y="2286000"/>
            <a:ext cx="2103120" cy="22860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Display LCD I2C</a:t>
            </a:r>
            <a:endParaRPr lang="en-US" sz="1050" dirty="0"/>
          </a:p>
        </p:txBody>
      </p:sp>
      <p:sp>
        <p:nvSpPr>
          <p:cNvPr id="23" name="Text 21"/>
          <p:cNvSpPr/>
          <p:nvPr/>
        </p:nvSpPr>
        <p:spPr>
          <a:xfrm>
            <a:off x="9070848" y="2514600"/>
            <a:ext cx="2103120" cy="182880"/>
          </a:xfrm>
          <a:prstGeom prst="rect">
            <a:avLst/>
          </a:prstGeom>
          <a:noFill/>
          <a:ln/>
        </p:spPr>
        <p:txBody>
          <a:bodyPr wrap="square" rtlCol="0" anchor="ctr"/>
          <a:lstStyle/>
          <a:p>
            <a:pPr indent="0" marL="0">
              <a:buNone/>
            </a:pPr>
            <a:r>
              <a:rPr lang="en-US" sz="850" dirty="0">
                <a:solidFill>
                  <a:srgbClr val="8E8E93"/>
                </a:solidFill>
                <a:latin typeface="Segoe UI" pitchFamily="34" charset="0"/>
                <a:ea typeface="Segoe UI" pitchFamily="34" charset="-122"/>
                <a:cs typeface="Segoe UI" pitchFamily="34" charset="-120"/>
              </a:rPr>
              <a:t>Pines A4/A5 (0x27)</a:t>
            </a:r>
            <a:endParaRPr lang="en-US" sz="850" dirty="0"/>
          </a:p>
        </p:txBody>
      </p:sp>
      <p:sp>
        <p:nvSpPr>
          <p:cNvPr id="24" name="Shape 22"/>
          <p:cNvSpPr/>
          <p:nvPr/>
        </p:nvSpPr>
        <p:spPr>
          <a:xfrm>
            <a:off x="822960" y="2971800"/>
            <a:ext cx="5138928" cy="3154680"/>
          </a:xfrm>
          <a:prstGeom prst="roundRect">
            <a:avLst>
              <a:gd name="adj" fmla="val 4348"/>
            </a:avLst>
          </a:prstGeom>
          <a:solidFill>
            <a:srgbClr val="14151B"/>
          </a:solidFill>
          <a:ln w="12700">
            <a:solidFill>
              <a:srgbClr val="242630"/>
            </a:solidFill>
            <a:prstDash val="solid"/>
          </a:ln>
        </p:spPr>
      </p:sp>
      <p:sp>
        <p:nvSpPr>
          <p:cNvPr id="25" name="Shape 23"/>
          <p:cNvSpPr/>
          <p:nvPr/>
        </p:nvSpPr>
        <p:spPr>
          <a:xfrm>
            <a:off x="1097280" y="3154680"/>
            <a:ext cx="2286000" cy="256032"/>
          </a:xfrm>
          <a:prstGeom prst="roundRect">
            <a:avLst>
              <a:gd name="adj" fmla="val 50000"/>
            </a:avLst>
          </a:prstGeom>
          <a:solidFill>
            <a:srgbClr val="241D14"/>
          </a:solidFill>
          <a:ln w="10160">
            <a:solidFill>
              <a:srgbClr val="FF9F0A"/>
            </a:solidFill>
            <a:prstDash val="solid"/>
          </a:ln>
        </p:spPr>
      </p:sp>
      <p:sp>
        <p:nvSpPr>
          <p:cNvPr id="26" name="Text 24"/>
          <p:cNvSpPr/>
          <p:nvPr/>
        </p:nvSpPr>
        <p:spPr>
          <a:xfrm>
            <a:off x="1097280" y="3154680"/>
            <a:ext cx="2286000" cy="256032"/>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INGENIERÍA DEL CIRCUITO</a:t>
            </a:r>
            <a:endParaRPr lang="en-US" sz="850" dirty="0"/>
          </a:p>
        </p:txBody>
      </p:sp>
      <p:sp>
        <p:nvSpPr>
          <p:cNvPr id="27" name="Text 25"/>
          <p:cNvSpPr/>
          <p:nvPr/>
        </p:nvSpPr>
        <p:spPr>
          <a:xfrm>
            <a:off x="1097280" y="3520440"/>
            <a:ext cx="45720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Disparo Global Compartido (Pin 2 Trigger)</a:t>
            </a:r>
            <a:endParaRPr lang="en-US" sz="1400" dirty="0"/>
          </a:p>
        </p:txBody>
      </p:sp>
      <p:sp>
        <p:nvSpPr>
          <p:cNvPr id="28" name="Text 26"/>
          <p:cNvSpPr/>
          <p:nvPr/>
        </p:nvSpPr>
        <p:spPr>
          <a:xfrm>
            <a:off x="1097280" y="3886200"/>
            <a:ext cx="4572000" cy="20574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El Desafío de Pines del Arduino UNO:
</a:t>
            </a:r>
            <a:pPr indent="0" marL="0">
              <a:buNone/>
            </a:pPr>
            <a:r>
              <a:rPr lang="en-US" sz="1000" dirty="0">
                <a:solidFill>
                  <a:srgbClr val="8E8E93"/>
                </a:solidFill>
                <a:latin typeface="Segoe UI" pitchFamily="34" charset="0"/>
                <a:ea typeface="Segoe UI" pitchFamily="34" charset="-122"/>
                <a:cs typeface="Segoe UI" pitchFamily="34" charset="-120"/>
              </a:rPr>
              <a:t>El ATmega328P cuenta únicamente con 14 pines digitales, lo que hacía imposible conectar 8 sensores HC-SR04 de forma convencional (16 pines requeridos).
</a:t>
            </a:r>
            <a:pPr indent="0" marL="0">
              <a:buNone/>
            </a:pPr>
            <a:r>
              <a:rPr lang="en-US" sz="1100" b="1" dirty="0">
                <a:solidFill>
                  <a:srgbClr val="FFFFFF"/>
                </a:solidFill>
                <a:latin typeface="Segoe UI" pitchFamily="34" charset="0"/>
                <a:ea typeface="Segoe UI" pitchFamily="34" charset="-122"/>
                <a:cs typeface="Segoe UI" pitchFamily="34" charset="-120"/>
              </a:rPr>
              <a:t>• Solución Implementada:
</a:t>
            </a:r>
            <a:pPr indent="0" marL="0">
              <a:buNone/>
            </a:pPr>
            <a:r>
              <a:rPr lang="en-US" sz="1000" dirty="0">
                <a:solidFill>
                  <a:srgbClr val="8E8E93"/>
                </a:solidFill>
                <a:latin typeface="Segoe UI" pitchFamily="34" charset="0"/>
                <a:ea typeface="Segoe UI" pitchFamily="34" charset="-122"/>
                <a:cs typeface="Segoe UI" pitchFamily="34" charset="-120"/>
              </a:rPr>
              <a:t>Se unificaron los pines Trigger en el Pin 2 común. El microcontrolador emite un único pulso de 10 µs y secuencia la lectura de los ecos en pines dedicados (Pines 3 al 8, A0 y A1).
</a:t>
            </a:r>
            <a:pPr indent="0" marL="0">
              <a:buNone/>
            </a:pPr>
            <a:r>
              <a:rPr lang="en-US" sz="1100" b="1" dirty="0">
                <a:solidFill>
                  <a:srgbClr val="FFFFFF"/>
                </a:solidFill>
                <a:latin typeface="Segoe UI" pitchFamily="34" charset="0"/>
                <a:ea typeface="Segoe UI" pitchFamily="34" charset="-122"/>
                <a:cs typeface="Segoe UI" pitchFamily="34" charset="-120"/>
              </a:rPr>
              <a:t>• Alimentación Dual Desacoplada:
</a:t>
            </a:r>
            <a:pPr indent="0" marL="0">
              <a:buNone/>
            </a:pPr>
            <a:r>
              <a:rPr lang="en-US" sz="1000" dirty="0">
                <a:solidFill>
                  <a:srgbClr val="8E8E93"/>
                </a:solidFill>
                <a:latin typeface="Segoe UI" pitchFamily="34" charset="0"/>
                <a:ea typeface="Segoe UI" pitchFamily="34" charset="-122"/>
                <a:cs typeface="Segoe UI" pitchFamily="34" charset="-120"/>
              </a:rPr>
              <a:t>Rail estabilizado de 5V para la lógica y condensador electrolítico en servomotores para prevenir reinicios por caídas de tensión.</a:t>
            </a:r>
            <a:endParaRPr lang="en-US" sz="1100" dirty="0"/>
          </a:p>
        </p:txBody>
      </p:sp>
      <p:sp>
        <p:nvSpPr>
          <p:cNvPr id="29" name="Shape 27"/>
          <p:cNvSpPr/>
          <p:nvPr/>
        </p:nvSpPr>
        <p:spPr>
          <a:xfrm>
            <a:off x="6227064" y="2971800"/>
            <a:ext cx="5138928" cy="3154680"/>
          </a:xfrm>
          <a:prstGeom prst="roundRect">
            <a:avLst>
              <a:gd name="adj" fmla="val 4348"/>
            </a:avLst>
          </a:prstGeom>
          <a:solidFill>
            <a:srgbClr val="14151B"/>
          </a:solidFill>
          <a:ln w="12700">
            <a:solidFill>
              <a:srgbClr val="242630"/>
            </a:solidFill>
            <a:prstDash val="solid"/>
          </a:ln>
        </p:spPr>
      </p:sp>
      <p:sp>
        <p:nvSpPr>
          <p:cNvPr id="30" name="Shape 28"/>
          <p:cNvSpPr/>
          <p:nvPr/>
        </p:nvSpPr>
        <p:spPr>
          <a:xfrm>
            <a:off x="6501384" y="3154680"/>
            <a:ext cx="2286000" cy="256032"/>
          </a:xfrm>
          <a:prstGeom prst="roundRect">
            <a:avLst>
              <a:gd name="adj" fmla="val 50000"/>
            </a:avLst>
          </a:prstGeom>
          <a:solidFill>
            <a:srgbClr val="142028"/>
          </a:solidFill>
          <a:ln w="10160">
            <a:solidFill>
              <a:srgbClr val="64D2FF"/>
            </a:solidFill>
            <a:prstDash val="solid"/>
          </a:ln>
        </p:spPr>
      </p:sp>
      <p:sp>
        <p:nvSpPr>
          <p:cNvPr id="31" name="Text 29"/>
          <p:cNvSpPr/>
          <p:nvPr/>
        </p:nvSpPr>
        <p:spPr>
          <a:xfrm>
            <a:off x="6501384" y="3154680"/>
            <a:ext cx="2286000" cy="256032"/>
          </a:xfrm>
          <a:prstGeom prst="rect">
            <a:avLst/>
          </a:prstGeom>
          <a:noFill/>
          <a:ln/>
        </p:spPr>
        <p:txBody>
          <a:bodyPr wrap="square" rtlCol="0" anchor="ctr"/>
          <a:lstStyle/>
          <a:p>
            <a:pPr algn="ctr" indent="0" marL="0">
              <a:buNone/>
            </a:pPr>
            <a:r>
              <a:rPr lang="en-US" sz="850" b="1" dirty="0">
                <a:solidFill>
                  <a:srgbClr val="64D2FF"/>
                </a:solidFill>
                <a:latin typeface="Segoe UI" pitchFamily="34" charset="0"/>
                <a:ea typeface="Segoe UI" pitchFamily="34" charset="-122"/>
                <a:cs typeface="Segoe UI" pitchFamily="34" charset="-120"/>
              </a:rPr>
              <a:t>FIRMWARE &amp; CONECTIVIDAD</a:t>
            </a:r>
            <a:endParaRPr lang="en-US" sz="850" dirty="0"/>
          </a:p>
        </p:txBody>
      </p:sp>
      <p:sp>
        <p:nvSpPr>
          <p:cNvPr id="32" name="Text 30"/>
          <p:cNvSpPr/>
          <p:nvPr/>
        </p:nvSpPr>
        <p:spPr>
          <a:xfrm>
            <a:off x="6501384" y="3520440"/>
            <a:ext cx="45720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Enlace Web Serial API a 115200 Baudios</a:t>
            </a:r>
            <a:endParaRPr lang="en-US" sz="1400" dirty="0"/>
          </a:p>
        </p:txBody>
      </p:sp>
      <p:sp>
        <p:nvSpPr>
          <p:cNvPr id="33" name="Text 31"/>
          <p:cNvSpPr/>
          <p:nvPr/>
        </p:nvSpPr>
        <p:spPr>
          <a:xfrm>
            <a:off x="6501384" y="3886200"/>
            <a:ext cx="4572000" cy="20574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Comunicación USB sin Drivers Externos:
</a:t>
            </a:r>
            <a:pPr indent="0" marL="0">
              <a:buNone/>
            </a:pPr>
            <a:r>
              <a:rPr lang="en-US" sz="1000" dirty="0">
                <a:solidFill>
                  <a:srgbClr val="8E8E93"/>
                </a:solidFill>
                <a:latin typeface="Segoe UI" pitchFamily="34" charset="0"/>
                <a:ea typeface="Segoe UI" pitchFamily="34" charset="-122"/>
                <a:cs typeface="Segoe UI" pitchFamily="34" charset="-120"/>
              </a:rPr>
              <a:t>Uso de Web Serial API para establecer enlace full-duplex directo entre el navegador Google Chrome/Edge y el Arduino mediante un único cable USB.
</a:t>
            </a:r>
            <a:pPr indent="0" marL="0">
              <a:buNone/>
            </a:pPr>
            <a:r>
              <a:rPr lang="en-US" sz="1100" b="1" dirty="0">
                <a:solidFill>
                  <a:srgbClr val="FFFFFF"/>
                </a:solidFill>
                <a:latin typeface="Segoe UI" pitchFamily="34" charset="0"/>
                <a:ea typeface="Segoe UI" pitchFamily="34" charset="-122"/>
                <a:cs typeface="Segoe UI" pitchFamily="34" charset="-120"/>
              </a:rPr>
              <a:t>• Algoritmo de Filtrado y Debounce:
</a:t>
            </a:r>
            <a:pPr indent="0" marL="0">
              <a:buNone/>
            </a:pPr>
            <a:r>
              <a:rPr lang="en-US" sz="1000" dirty="0">
                <a:solidFill>
                  <a:srgbClr val="8E8E93"/>
                </a:solidFill>
                <a:latin typeface="Segoe UI" pitchFamily="34" charset="0"/>
                <a:ea typeface="Segoe UI" pitchFamily="34" charset="-122"/>
                <a:cs typeface="Segoe UI" pitchFamily="34" charset="-120"/>
              </a:rPr>
              <a:t>Muestreo cíclico de 2.5s con promedio móvil para filtrar falsos rebotes sónicos y garantizar transiciones de estado limpias.
</a:t>
            </a:r>
            <a:pPr indent="0" marL="0">
              <a:buNone/>
            </a:pPr>
            <a:r>
              <a:rPr lang="en-US" sz="1100" b="1" dirty="0">
                <a:solidFill>
                  <a:srgbClr val="FFFFFF"/>
                </a:solidFill>
                <a:latin typeface="Segoe UI" pitchFamily="34" charset="0"/>
                <a:ea typeface="Segoe UI" pitchFamily="34" charset="-122"/>
                <a:cs typeface="Segoe UI" pitchFamily="34" charset="-120"/>
              </a:rPr>
              <a:t>• Trama de Telemetría Serial Ligera:
</a:t>
            </a:r>
            <a:pPr indent="0" marL="0">
              <a:buNone/>
            </a:pPr>
            <a:r>
              <a:rPr lang="en-US" sz="1000" dirty="0">
                <a:solidFill>
                  <a:srgbClr val="8E8E93"/>
                </a:solidFill>
                <a:latin typeface="Segoe UI" pitchFamily="34" charset="0"/>
                <a:ea typeface="Segoe UI" pitchFamily="34" charset="-122"/>
                <a:cs typeface="Segoe UI" pitchFamily="34" charset="-120"/>
              </a:rPr>
              <a:t>Transmisión formateada: "D:c1,c2,c3,c4,c5,c6,ent,sal". El frontend parsea instantáneamente las distancias en centímetros.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05 · DEMOSTRACIÓN EN VIVO</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Ciclo Completo y Verificación de Operaciones CRUD</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Evidencia empírica de Create, Read, Update y Delete requeridas por la rúbrica oficial.</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06 / 10  ·  Minuto 5:00 - 8:00</a:t>
            </a:r>
            <a:endParaRPr lang="en-US" sz="850" dirty="0"/>
          </a:p>
        </p:txBody>
      </p:sp>
      <p:sp>
        <p:nvSpPr>
          <p:cNvPr id="8" name="Shape 6"/>
          <p:cNvSpPr/>
          <p:nvPr/>
        </p:nvSpPr>
        <p:spPr>
          <a:xfrm>
            <a:off x="822960" y="1783080"/>
            <a:ext cx="5138928" cy="2057400"/>
          </a:xfrm>
          <a:prstGeom prst="roundRect">
            <a:avLst>
              <a:gd name="adj" fmla="val 6222"/>
            </a:avLst>
          </a:prstGeom>
          <a:solidFill>
            <a:srgbClr val="14151B"/>
          </a:solidFill>
          <a:ln w="12700">
            <a:solidFill>
              <a:srgbClr val="242630"/>
            </a:solidFill>
            <a:prstDash val="solid"/>
          </a:ln>
        </p:spPr>
      </p:sp>
      <p:sp>
        <p:nvSpPr>
          <p:cNvPr id="9" name="Shape 7"/>
          <p:cNvSpPr/>
          <p:nvPr/>
        </p:nvSpPr>
        <p:spPr>
          <a:xfrm>
            <a:off x="1051560" y="1965960"/>
            <a:ext cx="1463040" cy="237744"/>
          </a:xfrm>
          <a:prstGeom prst="roundRect">
            <a:avLst>
              <a:gd name="adj" fmla="val 50000"/>
            </a:avLst>
          </a:prstGeom>
          <a:solidFill>
            <a:srgbClr val="1C1E28"/>
          </a:solidFill>
          <a:ln w="10160">
            <a:solidFill>
              <a:srgbClr val="2997FF"/>
            </a:solidFill>
            <a:prstDash val="solid"/>
          </a:ln>
        </p:spPr>
      </p:sp>
      <p:sp>
        <p:nvSpPr>
          <p:cNvPr id="10" name="Text 8"/>
          <p:cNvSpPr/>
          <p:nvPr/>
        </p:nvSpPr>
        <p:spPr>
          <a:xfrm>
            <a:off x="1051560" y="1965960"/>
            <a:ext cx="1463040" cy="237744"/>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 CREATE ]</a:t>
            </a:r>
            <a:endParaRPr lang="en-US" sz="850" dirty="0"/>
          </a:p>
        </p:txBody>
      </p:sp>
      <p:sp>
        <p:nvSpPr>
          <p:cNvPr id="11" name="Text 9"/>
          <p:cNvSpPr/>
          <p:nvPr/>
        </p:nvSpPr>
        <p:spPr>
          <a:xfrm>
            <a:off x="2651760" y="1965960"/>
            <a:ext cx="3063240" cy="237744"/>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Reserva &amp; Pase Digital</a:t>
            </a:r>
            <a:endParaRPr lang="en-US" sz="1250" dirty="0"/>
          </a:p>
        </p:txBody>
      </p:sp>
      <p:sp>
        <p:nvSpPr>
          <p:cNvPr id="12" name="Shape 10"/>
          <p:cNvSpPr/>
          <p:nvPr/>
        </p:nvSpPr>
        <p:spPr>
          <a:xfrm>
            <a:off x="1051560" y="2313432"/>
            <a:ext cx="4681728" cy="256032"/>
          </a:xfrm>
          <a:prstGeom prst="roundRect">
            <a:avLst>
              <a:gd name="adj" fmla="val 21429"/>
            </a:avLst>
          </a:prstGeom>
          <a:solidFill>
            <a:srgbClr val="101117"/>
          </a:solidFill>
          <a:ln w="7620">
            <a:solidFill>
              <a:srgbClr val="242634"/>
            </a:solidFill>
            <a:prstDash val="solid"/>
          </a:ln>
        </p:spPr>
      </p:sp>
      <p:sp>
        <p:nvSpPr>
          <p:cNvPr id="13" name="Text 11"/>
          <p:cNvSpPr/>
          <p:nvPr/>
        </p:nvSpPr>
        <p:spPr>
          <a:xfrm>
            <a:off x="1143000" y="2313432"/>
            <a:ext cx="4526280" cy="256032"/>
          </a:xfrm>
          <a:prstGeom prst="rect">
            <a:avLst/>
          </a:prstGeom>
          <a:noFill/>
          <a:ln/>
        </p:spPr>
        <p:txBody>
          <a:bodyPr wrap="square" rtlCol="0" anchor="ctr"/>
          <a:lstStyle/>
          <a:p>
            <a:pPr indent="0" marL="0">
              <a:buNone/>
            </a:pPr>
            <a:r>
              <a:rPr lang="en-US" sz="900" b="1" dirty="0">
                <a:solidFill>
                  <a:srgbClr val="2997FF"/>
                </a:solidFill>
                <a:latin typeface="Segoe UI" pitchFamily="34" charset="0"/>
                <a:ea typeface="Segoe UI" pitchFamily="34" charset="-122"/>
                <a:cs typeface="Segoe UI" pitchFamily="34" charset="-120"/>
              </a:rPr>
              <a:t>Endpoint: POST /api/parking/reserve</a:t>
            </a:r>
            <a:endParaRPr lang="en-US" sz="900" dirty="0"/>
          </a:p>
        </p:txBody>
      </p:sp>
      <p:sp>
        <p:nvSpPr>
          <p:cNvPr id="14" name="Text 12"/>
          <p:cNvSpPr/>
          <p:nvPr/>
        </p:nvSpPr>
        <p:spPr>
          <a:xfrm>
            <a:off x="1051560" y="2651760"/>
            <a:ext cx="4681728" cy="105156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El conductor ingresa la patente chilena (ej. ABCD-12). El sistema valida el formato oficial, bloquea el cupo seleccionado en el inventario y emite un Pase Digital con código QR de acceso firmado.</a:t>
            </a:r>
            <a:endParaRPr lang="en-US" sz="980" dirty="0"/>
          </a:p>
        </p:txBody>
      </p:sp>
      <p:sp>
        <p:nvSpPr>
          <p:cNvPr id="15" name="Shape 13"/>
          <p:cNvSpPr/>
          <p:nvPr/>
        </p:nvSpPr>
        <p:spPr>
          <a:xfrm>
            <a:off x="6227064" y="1783080"/>
            <a:ext cx="5138928" cy="2057400"/>
          </a:xfrm>
          <a:prstGeom prst="roundRect">
            <a:avLst>
              <a:gd name="adj" fmla="val 6222"/>
            </a:avLst>
          </a:prstGeom>
          <a:solidFill>
            <a:srgbClr val="14151B"/>
          </a:solidFill>
          <a:ln w="12700">
            <a:solidFill>
              <a:srgbClr val="242630"/>
            </a:solidFill>
            <a:prstDash val="solid"/>
          </a:ln>
        </p:spPr>
      </p:sp>
      <p:sp>
        <p:nvSpPr>
          <p:cNvPr id="16" name="Shape 14"/>
          <p:cNvSpPr/>
          <p:nvPr/>
        </p:nvSpPr>
        <p:spPr>
          <a:xfrm>
            <a:off x="6455664" y="1965960"/>
            <a:ext cx="1463040" cy="237744"/>
          </a:xfrm>
          <a:prstGeom prst="roundRect">
            <a:avLst>
              <a:gd name="adj" fmla="val 50000"/>
            </a:avLst>
          </a:prstGeom>
          <a:solidFill>
            <a:srgbClr val="1C1E28"/>
          </a:solidFill>
          <a:ln w="10160">
            <a:solidFill>
              <a:srgbClr val="30D158"/>
            </a:solidFill>
            <a:prstDash val="solid"/>
          </a:ln>
        </p:spPr>
      </p:sp>
      <p:sp>
        <p:nvSpPr>
          <p:cNvPr id="17" name="Text 15"/>
          <p:cNvSpPr/>
          <p:nvPr/>
        </p:nvSpPr>
        <p:spPr>
          <a:xfrm>
            <a:off x="6455664" y="1965960"/>
            <a:ext cx="1463040" cy="237744"/>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 READ ]</a:t>
            </a:r>
            <a:endParaRPr lang="en-US" sz="850" dirty="0"/>
          </a:p>
        </p:txBody>
      </p:sp>
      <p:sp>
        <p:nvSpPr>
          <p:cNvPr id="18" name="Text 16"/>
          <p:cNvSpPr/>
          <p:nvPr/>
        </p:nvSpPr>
        <p:spPr>
          <a:xfrm>
            <a:off x="8055864" y="1965960"/>
            <a:ext cx="3063240" cy="237744"/>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Telemetría &amp; Auditoría</a:t>
            </a:r>
            <a:endParaRPr lang="en-US" sz="1250" dirty="0"/>
          </a:p>
        </p:txBody>
      </p:sp>
      <p:sp>
        <p:nvSpPr>
          <p:cNvPr id="19" name="Shape 17"/>
          <p:cNvSpPr/>
          <p:nvPr/>
        </p:nvSpPr>
        <p:spPr>
          <a:xfrm>
            <a:off x="6455664" y="2313432"/>
            <a:ext cx="4681728" cy="256032"/>
          </a:xfrm>
          <a:prstGeom prst="roundRect">
            <a:avLst>
              <a:gd name="adj" fmla="val 21429"/>
            </a:avLst>
          </a:prstGeom>
          <a:solidFill>
            <a:srgbClr val="101117"/>
          </a:solidFill>
          <a:ln w="7620">
            <a:solidFill>
              <a:srgbClr val="242634"/>
            </a:solidFill>
            <a:prstDash val="solid"/>
          </a:ln>
        </p:spPr>
      </p:sp>
      <p:sp>
        <p:nvSpPr>
          <p:cNvPr id="20" name="Text 18"/>
          <p:cNvSpPr/>
          <p:nvPr/>
        </p:nvSpPr>
        <p:spPr>
          <a:xfrm>
            <a:off x="6547104" y="2313432"/>
            <a:ext cx="4526280" cy="256032"/>
          </a:xfrm>
          <a:prstGeom prst="rect">
            <a:avLst/>
          </a:prstGeom>
          <a:noFill/>
          <a:ln/>
        </p:spPr>
        <p:txBody>
          <a:bodyPr wrap="square" rtlCol="0" anchor="ctr"/>
          <a:lstStyle/>
          <a:p>
            <a:pPr indent="0" marL="0">
              <a:buNone/>
            </a:pPr>
            <a:r>
              <a:rPr lang="en-US" sz="900" b="1" dirty="0">
                <a:solidFill>
                  <a:srgbClr val="30D158"/>
                </a:solidFill>
                <a:latin typeface="Segoe UI" pitchFamily="34" charset="0"/>
                <a:ea typeface="Segoe UI" pitchFamily="34" charset="-122"/>
                <a:cs typeface="Segoe UI" pitchFamily="34" charset="-120"/>
              </a:rPr>
              <a:t>Endpoint: GET /api/parking/state</a:t>
            </a:r>
            <a:endParaRPr lang="en-US" sz="900" dirty="0"/>
          </a:p>
        </p:txBody>
      </p:sp>
      <p:sp>
        <p:nvSpPr>
          <p:cNvPr id="21" name="Text 19"/>
          <p:cNvSpPr/>
          <p:nvPr/>
        </p:nvSpPr>
        <p:spPr>
          <a:xfrm>
            <a:off x="6455664" y="2651760"/>
            <a:ext cx="4681728" cy="105156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Sondeo reactivo cada 2.5s que lee el estado de los 6 cupos y las distancias en centímetros de los 8 sensores HC-SR04, actualizando el mapa interactivo y la consola de auditoría técnica.</a:t>
            </a:r>
            <a:endParaRPr lang="en-US" sz="980" dirty="0"/>
          </a:p>
        </p:txBody>
      </p:sp>
      <p:sp>
        <p:nvSpPr>
          <p:cNvPr id="22" name="Shape 20"/>
          <p:cNvSpPr/>
          <p:nvPr/>
        </p:nvSpPr>
        <p:spPr>
          <a:xfrm>
            <a:off x="822960" y="4023360"/>
            <a:ext cx="5138928" cy="2057400"/>
          </a:xfrm>
          <a:prstGeom prst="roundRect">
            <a:avLst>
              <a:gd name="adj" fmla="val 6222"/>
            </a:avLst>
          </a:prstGeom>
          <a:solidFill>
            <a:srgbClr val="14151B"/>
          </a:solidFill>
          <a:ln w="12700">
            <a:solidFill>
              <a:srgbClr val="242630"/>
            </a:solidFill>
            <a:prstDash val="solid"/>
          </a:ln>
        </p:spPr>
      </p:sp>
      <p:sp>
        <p:nvSpPr>
          <p:cNvPr id="23" name="Shape 21"/>
          <p:cNvSpPr/>
          <p:nvPr/>
        </p:nvSpPr>
        <p:spPr>
          <a:xfrm>
            <a:off x="1051560" y="4206240"/>
            <a:ext cx="1463040" cy="237744"/>
          </a:xfrm>
          <a:prstGeom prst="roundRect">
            <a:avLst>
              <a:gd name="adj" fmla="val 50000"/>
            </a:avLst>
          </a:prstGeom>
          <a:solidFill>
            <a:srgbClr val="1C1E28"/>
          </a:solidFill>
          <a:ln w="10160">
            <a:solidFill>
              <a:srgbClr val="FF9F0A"/>
            </a:solidFill>
            <a:prstDash val="solid"/>
          </a:ln>
        </p:spPr>
      </p:sp>
      <p:sp>
        <p:nvSpPr>
          <p:cNvPr id="24" name="Text 22"/>
          <p:cNvSpPr/>
          <p:nvPr/>
        </p:nvSpPr>
        <p:spPr>
          <a:xfrm>
            <a:off x="1051560" y="4206240"/>
            <a:ext cx="1463040" cy="237744"/>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 UPDATE ]</a:t>
            </a:r>
            <a:endParaRPr lang="en-US" sz="850" dirty="0"/>
          </a:p>
        </p:txBody>
      </p:sp>
      <p:sp>
        <p:nvSpPr>
          <p:cNvPr id="25" name="Text 23"/>
          <p:cNvSpPr/>
          <p:nvPr/>
        </p:nvSpPr>
        <p:spPr>
          <a:xfrm>
            <a:off x="2651760" y="4206240"/>
            <a:ext cx="3063240" cy="237744"/>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Ocupación &amp; Barreras</a:t>
            </a:r>
            <a:endParaRPr lang="en-US" sz="1250" dirty="0"/>
          </a:p>
        </p:txBody>
      </p:sp>
      <p:sp>
        <p:nvSpPr>
          <p:cNvPr id="26" name="Shape 24"/>
          <p:cNvSpPr/>
          <p:nvPr/>
        </p:nvSpPr>
        <p:spPr>
          <a:xfrm>
            <a:off x="1051560" y="4553712"/>
            <a:ext cx="4681728" cy="256032"/>
          </a:xfrm>
          <a:prstGeom prst="roundRect">
            <a:avLst>
              <a:gd name="adj" fmla="val 21429"/>
            </a:avLst>
          </a:prstGeom>
          <a:solidFill>
            <a:srgbClr val="101117"/>
          </a:solidFill>
          <a:ln w="7620">
            <a:solidFill>
              <a:srgbClr val="242634"/>
            </a:solidFill>
            <a:prstDash val="solid"/>
          </a:ln>
        </p:spPr>
      </p:sp>
      <p:sp>
        <p:nvSpPr>
          <p:cNvPr id="27" name="Text 25"/>
          <p:cNvSpPr/>
          <p:nvPr/>
        </p:nvSpPr>
        <p:spPr>
          <a:xfrm>
            <a:off x="1143000" y="4553712"/>
            <a:ext cx="4526280" cy="256032"/>
          </a:xfrm>
          <a:prstGeom prst="rect">
            <a:avLst/>
          </a:prstGeom>
          <a:noFill/>
          <a:ln/>
        </p:spPr>
        <p:txBody>
          <a:bodyPr wrap="square" rtlCol="0" anchor="ctr"/>
          <a:lstStyle/>
          <a:p>
            <a:pPr indent="0" marL="0">
              <a:buNone/>
            </a:pPr>
            <a:r>
              <a:rPr lang="en-US" sz="900" b="1" dirty="0">
                <a:solidFill>
                  <a:srgbClr val="FF9F0A"/>
                </a:solidFill>
                <a:latin typeface="Segoe UI" pitchFamily="34" charset="0"/>
                <a:ea typeface="Segoe UI" pitchFamily="34" charset="-122"/>
                <a:cs typeface="Segoe UI" pitchFamily="34" charset="-120"/>
              </a:rPr>
              <a:t>Endpoint: POST /api/parking/telemetry</a:t>
            </a:r>
            <a:endParaRPr lang="en-US" sz="900" dirty="0"/>
          </a:p>
        </p:txBody>
      </p:sp>
      <p:sp>
        <p:nvSpPr>
          <p:cNvPr id="28" name="Text 26"/>
          <p:cNvSpPr/>
          <p:nvPr/>
        </p:nvSpPr>
        <p:spPr>
          <a:xfrm>
            <a:off x="1051560" y="4892040"/>
            <a:ext cx="4681728" cy="105156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Al posicionarse un vehículo a menos de 10 cm, el sensor conmuta el cupo a OCUPADO (rojo). El controlador envía la instrucción al servomotor SG90 para girar la barrera de 0° a 90°.</a:t>
            </a:r>
            <a:endParaRPr lang="en-US" sz="980" dirty="0"/>
          </a:p>
        </p:txBody>
      </p:sp>
      <p:sp>
        <p:nvSpPr>
          <p:cNvPr id="29" name="Shape 27"/>
          <p:cNvSpPr/>
          <p:nvPr/>
        </p:nvSpPr>
        <p:spPr>
          <a:xfrm>
            <a:off x="6227064" y="4023360"/>
            <a:ext cx="5138928" cy="2057400"/>
          </a:xfrm>
          <a:prstGeom prst="roundRect">
            <a:avLst>
              <a:gd name="adj" fmla="val 6222"/>
            </a:avLst>
          </a:prstGeom>
          <a:solidFill>
            <a:srgbClr val="14151B"/>
          </a:solidFill>
          <a:ln w="12700">
            <a:solidFill>
              <a:srgbClr val="242630"/>
            </a:solidFill>
            <a:prstDash val="solid"/>
          </a:ln>
        </p:spPr>
      </p:sp>
      <p:sp>
        <p:nvSpPr>
          <p:cNvPr id="30" name="Shape 28"/>
          <p:cNvSpPr/>
          <p:nvPr/>
        </p:nvSpPr>
        <p:spPr>
          <a:xfrm>
            <a:off x="6455664" y="4206240"/>
            <a:ext cx="1463040" cy="237744"/>
          </a:xfrm>
          <a:prstGeom prst="roundRect">
            <a:avLst>
              <a:gd name="adj" fmla="val 50000"/>
            </a:avLst>
          </a:prstGeom>
          <a:solidFill>
            <a:srgbClr val="1C1E28"/>
          </a:solidFill>
          <a:ln w="10160">
            <a:solidFill>
              <a:srgbClr val="FF453A"/>
            </a:solidFill>
            <a:prstDash val="solid"/>
          </a:ln>
        </p:spPr>
      </p:sp>
      <p:sp>
        <p:nvSpPr>
          <p:cNvPr id="31" name="Text 29"/>
          <p:cNvSpPr/>
          <p:nvPr/>
        </p:nvSpPr>
        <p:spPr>
          <a:xfrm>
            <a:off x="6455664" y="4206240"/>
            <a:ext cx="1463040" cy="237744"/>
          </a:xfrm>
          <a:prstGeom prst="rect">
            <a:avLst/>
          </a:prstGeom>
          <a:noFill/>
          <a:ln/>
        </p:spPr>
        <p:txBody>
          <a:bodyPr wrap="square" rtlCol="0" anchor="ctr"/>
          <a:lstStyle/>
          <a:p>
            <a:pPr algn="ctr" indent="0" marL="0">
              <a:buNone/>
            </a:pPr>
            <a:r>
              <a:rPr lang="en-US" sz="850" b="1" dirty="0">
                <a:solidFill>
                  <a:srgbClr val="FF453A"/>
                </a:solidFill>
                <a:latin typeface="Segoe UI" pitchFamily="34" charset="0"/>
                <a:ea typeface="Segoe UI" pitchFamily="34" charset="-122"/>
                <a:cs typeface="Segoe UI" pitchFamily="34" charset="-120"/>
              </a:rPr>
              <a:t>[ DELETE ]</a:t>
            </a:r>
            <a:endParaRPr lang="en-US" sz="850" dirty="0"/>
          </a:p>
        </p:txBody>
      </p:sp>
      <p:sp>
        <p:nvSpPr>
          <p:cNvPr id="32" name="Text 30"/>
          <p:cNvSpPr/>
          <p:nvPr/>
        </p:nvSpPr>
        <p:spPr>
          <a:xfrm>
            <a:off x="8055864" y="4206240"/>
            <a:ext cx="3063240" cy="237744"/>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Checkout &amp; Tarificación</a:t>
            </a:r>
            <a:endParaRPr lang="en-US" sz="1250" dirty="0"/>
          </a:p>
        </p:txBody>
      </p:sp>
      <p:sp>
        <p:nvSpPr>
          <p:cNvPr id="33" name="Shape 31"/>
          <p:cNvSpPr/>
          <p:nvPr/>
        </p:nvSpPr>
        <p:spPr>
          <a:xfrm>
            <a:off x="6455664" y="4553712"/>
            <a:ext cx="4681728" cy="256032"/>
          </a:xfrm>
          <a:prstGeom prst="roundRect">
            <a:avLst>
              <a:gd name="adj" fmla="val 21429"/>
            </a:avLst>
          </a:prstGeom>
          <a:solidFill>
            <a:srgbClr val="101117"/>
          </a:solidFill>
          <a:ln w="7620">
            <a:solidFill>
              <a:srgbClr val="242634"/>
            </a:solidFill>
            <a:prstDash val="solid"/>
          </a:ln>
        </p:spPr>
      </p:sp>
      <p:sp>
        <p:nvSpPr>
          <p:cNvPr id="34" name="Text 32"/>
          <p:cNvSpPr/>
          <p:nvPr/>
        </p:nvSpPr>
        <p:spPr>
          <a:xfrm>
            <a:off x="6547104" y="4553712"/>
            <a:ext cx="4526280" cy="256032"/>
          </a:xfrm>
          <a:prstGeom prst="rect">
            <a:avLst/>
          </a:prstGeom>
          <a:noFill/>
          <a:ln/>
        </p:spPr>
        <p:txBody>
          <a:bodyPr wrap="square" rtlCol="0" anchor="ctr"/>
          <a:lstStyle/>
          <a:p>
            <a:pPr indent="0" marL="0">
              <a:buNone/>
            </a:pPr>
            <a:r>
              <a:rPr lang="en-US" sz="900" b="1" dirty="0">
                <a:solidFill>
                  <a:srgbClr val="FF453A"/>
                </a:solidFill>
                <a:latin typeface="Segoe UI" pitchFamily="34" charset="0"/>
                <a:ea typeface="Segoe UI" pitchFamily="34" charset="-122"/>
                <a:cs typeface="Segoe UI" pitchFamily="34" charset="-120"/>
              </a:rPr>
              <a:t>Endpoint: POST /api/parking/release</a:t>
            </a:r>
            <a:endParaRPr lang="en-US" sz="900" dirty="0"/>
          </a:p>
        </p:txBody>
      </p:sp>
      <p:sp>
        <p:nvSpPr>
          <p:cNvPr id="35" name="Text 33"/>
          <p:cNvSpPr/>
          <p:nvPr/>
        </p:nvSpPr>
        <p:spPr>
          <a:xfrm>
            <a:off x="6455664" y="4892040"/>
            <a:ext cx="4681728" cy="1051560"/>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Al retirarse el vehículo por la salida, el sistema liquida la estancia con tarifa de $35 CLP/minuto, calcula el total facturado, emite comprobante y devuelve el cupo a estado LIBRE (verde).</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06 · DESPLIEGUE CLOUD</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Infraestructura &amp; Servicios en Microsoft Azure</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Aprovisionamiento IaaS en Windows Server 2022 con IIS y endurecimiento de red verificado.</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07 / 10  ·  Minuto 8:00 - 10:00</a:t>
            </a:r>
            <a:endParaRPr lang="en-US" sz="850" dirty="0"/>
          </a:p>
        </p:txBody>
      </p:sp>
      <p:sp>
        <p:nvSpPr>
          <p:cNvPr id="8" name="Shape 6"/>
          <p:cNvSpPr/>
          <p:nvPr/>
        </p:nvSpPr>
        <p:spPr>
          <a:xfrm>
            <a:off x="822960" y="1783080"/>
            <a:ext cx="5138928" cy="2057400"/>
          </a:xfrm>
          <a:prstGeom prst="roundRect">
            <a:avLst>
              <a:gd name="adj" fmla="val 6222"/>
            </a:avLst>
          </a:prstGeom>
          <a:solidFill>
            <a:srgbClr val="14151B"/>
          </a:solidFill>
          <a:ln w="12700">
            <a:solidFill>
              <a:srgbClr val="242630"/>
            </a:solidFill>
            <a:prstDash val="solid"/>
          </a:ln>
        </p:spPr>
      </p:sp>
      <p:sp>
        <p:nvSpPr>
          <p:cNvPr id="9" name="Shape 7"/>
          <p:cNvSpPr/>
          <p:nvPr/>
        </p:nvSpPr>
        <p:spPr>
          <a:xfrm>
            <a:off x="1051560" y="1947672"/>
            <a:ext cx="2286000" cy="237744"/>
          </a:xfrm>
          <a:prstGeom prst="roundRect">
            <a:avLst>
              <a:gd name="adj" fmla="val 50000"/>
            </a:avLst>
          </a:prstGeom>
          <a:solidFill>
            <a:srgbClr val="1C1E28"/>
          </a:solidFill>
          <a:ln w="10160">
            <a:solidFill>
              <a:srgbClr val="2997FF"/>
            </a:solidFill>
            <a:prstDash val="solid"/>
          </a:ln>
        </p:spPr>
      </p:sp>
      <p:sp>
        <p:nvSpPr>
          <p:cNvPr id="10" name="Text 8"/>
          <p:cNvSpPr/>
          <p:nvPr/>
        </p:nvSpPr>
        <p:spPr>
          <a:xfrm>
            <a:off x="1051560" y="1947672"/>
            <a:ext cx="2286000" cy="237744"/>
          </a:xfrm>
          <a:prstGeom prst="rect">
            <a:avLst/>
          </a:prstGeom>
          <a:noFill/>
          <a:ln/>
        </p:spPr>
        <p:txBody>
          <a:bodyPr wrap="square" rtlCol="0" anchor="ctr"/>
          <a:lstStyle/>
          <a:p>
            <a:pPr algn="ctr" indent="0" marL="0">
              <a:buNone/>
            </a:pPr>
            <a:r>
              <a:rPr lang="en-US" sz="800" b="1" dirty="0">
                <a:solidFill>
                  <a:srgbClr val="2997FF"/>
                </a:solidFill>
                <a:latin typeface="Segoe UI" pitchFamily="34" charset="0"/>
                <a:ea typeface="Segoe UI" pitchFamily="34" charset="-122"/>
                <a:cs typeface="Segoe UI" pitchFamily="34" charset="-120"/>
              </a:rPr>
              <a:t>MÁQUINA VIRTUAL AZURE</a:t>
            </a:r>
            <a:endParaRPr lang="en-US" sz="800" dirty="0"/>
          </a:p>
        </p:txBody>
      </p:sp>
      <p:sp>
        <p:nvSpPr>
          <p:cNvPr id="11" name="Text 9"/>
          <p:cNvSpPr/>
          <p:nvPr/>
        </p:nvSpPr>
        <p:spPr>
          <a:xfrm>
            <a:off x="3429000" y="1947672"/>
            <a:ext cx="2286000" cy="237744"/>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Instancia Standard_B2s (IaaS)</a:t>
            </a:r>
            <a:endParaRPr lang="en-US" sz="1150" dirty="0"/>
          </a:p>
        </p:txBody>
      </p:sp>
      <p:sp>
        <p:nvSpPr>
          <p:cNvPr id="12" name="Text 10"/>
          <p:cNvSpPr/>
          <p:nvPr/>
        </p:nvSpPr>
        <p:spPr>
          <a:xfrm>
            <a:off x="1051560" y="2276856"/>
            <a:ext cx="4681728" cy="1417320"/>
          </a:xfrm>
          <a:prstGeom prst="rect">
            <a:avLst/>
          </a:prstGeom>
          <a:noFill/>
          <a:ln/>
        </p:spPr>
        <p:txBody>
          <a:bodyPr wrap="square" rtlCol="0" anchor="t"/>
          <a:lstStyle/>
          <a:p>
            <a:pPr indent="0" marL="0">
              <a:buNone/>
            </a:pPr>
            <a:r>
              <a:rPr lang="en-US" sz="920" b="1" dirty="0">
                <a:solidFill>
                  <a:srgbClr val="EDEDF0"/>
                </a:solidFill>
                <a:latin typeface="Segoe UI" pitchFamily="34" charset="0"/>
                <a:ea typeface="Segoe UI" pitchFamily="34" charset="-122"/>
                <a:cs typeface="Segoe UI" pitchFamily="34" charset="-120"/>
              </a:rPr>
              <a:t>• Región Cloud: </a:t>
            </a:r>
            <a:pPr indent="0" marL="0">
              <a:buNone/>
            </a:pPr>
            <a:r>
              <a:rPr lang="en-US" sz="920" dirty="0">
                <a:solidFill>
                  <a:srgbClr val="8E8E93"/>
                </a:solidFill>
                <a:latin typeface="Segoe UI" pitchFamily="34" charset="0"/>
                <a:ea typeface="Segoe UI" pitchFamily="34" charset="-122"/>
                <a:cs typeface="Segoe UI" pitchFamily="34" charset="-120"/>
              </a:rPr>
              <a:t>East US 2 (Baja latencia a Chile)
</a:t>
            </a:r>
            <a:pPr indent="0" marL="0">
              <a:buNone/>
            </a:pPr>
            <a:r>
              <a:rPr lang="en-US" sz="920" b="1" dirty="0">
                <a:solidFill>
                  <a:srgbClr val="EDEDF0"/>
                </a:solidFill>
                <a:latin typeface="Segoe UI" pitchFamily="34" charset="0"/>
                <a:ea typeface="Segoe UI" pitchFamily="34" charset="-122"/>
                <a:cs typeface="Segoe UI" pitchFamily="34" charset="-120"/>
              </a:rPr>
              <a:t>• Cómputo: </a:t>
            </a:r>
            <a:pPr indent="0" marL="0">
              <a:buNone/>
            </a:pPr>
            <a:r>
              <a:rPr lang="en-US" sz="920" dirty="0">
                <a:solidFill>
                  <a:srgbClr val="8E8E93"/>
                </a:solidFill>
                <a:latin typeface="Segoe UI" pitchFamily="34" charset="0"/>
                <a:ea typeface="Segoe UI" pitchFamily="34" charset="-122"/>
                <a:cs typeface="Segoe UI" pitchFamily="34" charset="-120"/>
              </a:rPr>
              <a:t>2 vCPUs virtuales (Intel Xeon / AMD EPYC)
</a:t>
            </a:r>
            <a:pPr indent="0" marL="0">
              <a:buNone/>
            </a:pPr>
            <a:r>
              <a:rPr lang="en-US" sz="920" b="1" dirty="0">
                <a:solidFill>
                  <a:srgbClr val="EDEDF0"/>
                </a:solidFill>
                <a:latin typeface="Segoe UI" pitchFamily="34" charset="0"/>
                <a:ea typeface="Segoe UI" pitchFamily="34" charset="-122"/>
                <a:cs typeface="Segoe UI" pitchFamily="34" charset="-120"/>
              </a:rPr>
              <a:t>• Memoria RAM: </a:t>
            </a:r>
            <a:pPr indent="0" marL="0">
              <a:buNone/>
            </a:pPr>
            <a:r>
              <a:rPr lang="en-US" sz="920" dirty="0">
                <a:solidFill>
                  <a:srgbClr val="8E8E93"/>
                </a:solidFill>
                <a:latin typeface="Segoe UI" pitchFamily="34" charset="0"/>
                <a:ea typeface="Segoe UI" pitchFamily="34" charset="-122"/>
                <a:cs typeface="Segoe UI" pitchFamily="34" charset="-120"/>
              </a:rPr>
              <a:t>4 GiB dedicada
</a:t>
            </a:r>
            <a:pPr indent="0" marL="0">
              <a:buNone/>
            </a:pPr>
            <a:r>
              <a:rPr lang="en-US" sz="920" b="1" dirty="0">
                <a:solidFill>
                  <a:srgbClr val="EDEDF0"/>
                </a:solidFill>
                <a:latin typeface="Segoe UI" pitchFamily="34" charset="0"/>
                <a:ea typeface="Segoe UI" pitchFamily="34" charset="-122"/>
                <a:cs typeface="Segoe UI" pitchFamily="34" charset="-120"/>
              </a:rPr>
              <a:t>• Sistema Operativo: </a:t>
            </a:r>
            <a:pPr indent="0" marL="0">
              <a:buNone/>
            </a:pPr>
            <a:r>
              <a:rPr lang="en-US" sz="920" dirty="0">
                <a:solidFill>
                  <a:srgbClr val="8E8E93"/>
                </a:solidFill>
                <a:latin typeface="Segoe UI" pitchFamily="34" charset="0"/>
                <a:ea typeface="Segoe UI" pitchFamily="34" charset="-122"/>
                <a:cs typeface="Segoe UI" pitchFamily="34" charset="-120"/>
              </a:rPr>
              <a:t>Windows Server 2022 Datacenter Gen2
</a:t>
            </a:r>
            <a:pPr indent="0" marL="0">
              <a:buNone/>
            </a:pPr>
            <a:r>
              <a:rPr lang="en-US" sz="920" b="1" dirty="0">
                <a:solidFill>
                  <a:srgbClr val="EDEDF0"/>
                </a:solidFill>
                <a:latin typeface="Segoe UI" pitchFamily="34" charset="0"/>
                <a:ea typeface="Segoe UI" pitchFamily="34" charset="-122"/>
                <a:cs typeface="Segoe UI" pitchFamily="34" charset="-120"/>
              </a:rPr>
              <a:t>• Almacenamiento: </a:t>
            </a:r>
            <a:pPr indent="0" marL="0">
              <a:buNone/>
            </a:pPr>
            <a:r>
              <a:rPr lang="en-US" sz="920" dirty="0">
                <a:solidFill>
                  <a:srgbClr val="8E8E93"/>
                </a:solidFill>
                <a:latin typeface="Segoe UI" pitchFamily="34" charset="0"/>
                <a:ea typeface="Segoe UI" pitchFamily="34" charset="-122"/>
                <a:cs typeface="Segoe UI" pitchFamily="34" charset="-120"/>
              </a:rPr>
              <a:t>128 GiB Premium SSD (SLA 99.99%)
</a:t>
            </a:r>
            <a:endParaRPr lang="en-US" sz="920" dirty="0"/>
          </a:p>
        </p:txBody>
      </p:sp>
      <p:sp>
        <p:nvSpPr>
          <p:cNvPr id="13" name="Shape 11"/>
          <p:cNvSpPr/>
          <p:nvPr/>
        </p:nvSpPr>
        <p:spPr>
          <a:xfrm>
            <a:off x="6227064" y="1783080"/>
            <a:ext cx="5138928" cy="2057400"/>
          </a:xfrm>
          <a:prstGeom prst="roundRect">
            <a:avLst>
              <a:gd name="adj" fmla="val 6222"/>
            </a:avLst>
          </a:prstGeom>
          <a:solidFill>
            <a:srgbClr val="14151B"/>
          </a:solidFill>
          <a:ln w="12700">
            <a:solidFill>
              <a:srgbClr val="242630"/>
            </a:solidFill>
            <a:prstDash val="solid"/>
          </a:ln>
        </p:spPr>
      </p:sp>
      <p:sp>
        <p:nvSpPr>
          <p:cNvPr id="14" name="Shape 12"/>
          <p:cNvSpPr/>
          <p:nvPr/>
        </p:nvSpPr>
        <p:spPr>
          <a:xfrm>
            <a:off x="6455664" y="1947672"/>
            <a:ext cx="2286000" cy="237744"/>
          </a:xfrm>
          <a:prstGeom prst="roundRect">
            <a:avLst>
              <a:gd name="adj" fmla="val 50000"/>
            </a:avLst>
          </a:prstGeom>
          <a:solidFill>
            <a:srgbClr val="1C1E28"/>
          </a:solidFill>
          <a:ln w="10160">
            <a:solidFill>
              <a:srgbClr val="30D158"/>
            </a:solidFill>
            <a:prstDash val="solid"/>
          </a:ln>
        </p:spPr>
      </p:sp>
      <p:sp>
        <p:nvSpPr>
          <p:cNvPr id="15" name="Text 13"/>
          <p:cNvSpPr/>
          <p:nvPr/>
        </p:nvSpPr>
        <p:spPr>
          <a:xfrm>
            <a:off x="6455664" y="1947672"/>
            <a:ext cx="2286000" cy="237744"/>
          </a:xfrm>
          <a:prstGeom prst="rect">
            <a:avLst/>
          </a:prstGeom>
          <a:noFill/>
          <a:ln/>
        </p:spPr>
        <p:txBody>
          <a:bodyPr wrap="square" rtlCol="0" anchor="ctr"/>
          <a:lstStyle/>
          <a:p>
            <a:pPr algn="ctr" indent="0" marL="0">
              <a:buNone/>
            </a:pPr>
            <a:r>
              <a:rPr lang="en-US" sz="800" b="1" dirty="0">
                <a:solidFill>
                  <a:srgbClr val="30D158"/>
                </a:solidFill>
                <a:latin typeface="Segoe UI" pitchFamily="34" charset="0"/>
                <a:ea typeface="Segoe UI" pitchFamily="34" charset="-122"/>
                <a:cs typeface="Segoe UI" pitchFamily="34" charset="-120"/>
              </a:rPr>
              <a:t>SERVIDOR WEB IIS</a:t>
            </a:r>
            <a:endParaRPr lang="en-US" sz="800" dirty="0"/>
          </a:p>
        </p:txBody>
      </p:sp>
      <p:sp>
        <p:nvSpPr>
          <p:cNvPr id="16" name="Text 14"/>
          <p:cNvSpPr/>
          <p:nvPr/>
        </p:nvSpPr>
        <p:spPr>
          <a:xfrm>
            <a:off x="8833104" y="1947672"/>
            <a:ext cx="2286000" cy="237744"/>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Internet Information Services 10.0</a:t>
            </a:r>
            <a:endParaRPr lang="en-US" sz="1150" dirty="0"/>
          </a:p>
        </p:txBody>
      </p:sp>
      <p:sp>
        <p:nvSpPr>
          <p:cNvPr id="17" name="Text 15"/>
          <p:cNvSpPr/>
          <p:nvPr/>
        </p:nvSpPr>
        <p:spPr>
          <a:xfrm>
            <a:off x="6455664" y="2276856"/>
            <a:ext cx="4681728" cy="1417320"/>
          </a:xfrm>
          <a:prstGeom prst="rect">
            <a:avLst/>
          </a:prstGeom>
          <a:noFill/>
          <a:ln/>
        </p:spPr>
        <p:txBody>
          <a:bodyPr wrap="square" rtlCol="0" anchor="t"/>
          <a:lstStyle/>
          <a:p>
            <a:pPr indent="0" marL="0">
              <a:buNone/>
            </a:pPr>
            <a:r>
              <a:rPr lang="en-US" sz="920" b="1" dirty="0">
                <a:solidFill>
                  <a:srgbClr val="EDEDF0"/>
                </a:solidFill>
                <a:latin typeface="Segoe UI" pitchFamily="34" charset="0"/>
                <a:ea typeface="Segoe UI" pitchFamily="34" charset="-122"/>
                <a:cs typeface="Segoe UI" pitchFamily="34" charset="-120"/>
              </a:rPr>
              <a:t>• Instalación: </a:t>
            </a:r>
            <a:pPr indent="0" marL="0">
              <a:buNone/>
            </a:pPr>
            <a:r>
              <a:rPr lang="en-US" sz="920" dirty="0">
                <a:solidFill>
                  <a:srgbClr val="8E8E93"/>
                </a:solidFill>
                <a:latin typeface="Segoe UI" pitchFamily="34" charset="0"/>
                <a:ea typeface="Segoe UI" pitchFamily="34" charset="-122"/>
                <a:cs typeface="Segoe UI" pitchFamily="34" charset="-120"/>
              </a:rPr>
              <a:t>Vía PowerShell y Server Manager
</a:t>
            </a:r>
            <a:pPr indent="0" marL="0">
              <a:buNone/>
            </a:pPr>
            <a:r>
              <a:rPr lang="en-US" sz="920" b="1" dirty="0">
                <a:solidFill>
                  <a:srgbClr val="EDEDF0"/>
                </a:solidFill>
                <a:latin typeface="Segoe UI" pitchFamily="34" charset="0"/>
                <a:ea typeface="Segoe UI" pitchFamily="34" charset="-122"/>
                <a:cs typeface="Segoe UI" pitchFamily="34" charset="-120"/>
              </a:rPr>
              <a:t>• Rol Activo: </a:t>
            </a:r>
            <a:pPr indent="0" marL="0">
              <a:buNone/>
            </a:pPr>
            <a:r>
              <a:rPr lang="en-US" sz="920" dirty="0">
                <a:solidFill>
                  <a:srgbClr val="8E8E93"/>
                </a:solidFill>
                <a:latin typeface="Segoe UI" pitchFamily="34" charset="0"/>
                <a:ea typeface="Segoe UI" pitchFamily="34" charset="-122"/>
                <a:cs typeface="Segoe UI" pitchFamily="34" charset="-120"/>
              </a:rPr>
              <a:t>Web-Server (IIS Core)
</a:t>
            </a:r>
            <a:pPr indent="0" marL="0">
              <a:buNone/>
            </a:pPr>
            <a:r>
              <a:rPr lang="en-US" sz="920" b="1" dirty="0">
                <a:solidFill>
                  <a:srgbClr val="EDEDF0"/>
                </a:solidFill>
                <a:latin typeface="Segoe UI" pitchFamily="34" charset="0"/>
                <a:ea typeface="Segoe UI" pitchFamily="34" charset="-122"/>
                <a:cs typeface="Segoe UI" pitchFamily="34" charset="-120"/>
              </a:rPr>
              <a:t>• Módulos Clave: </a:t>
            </a:r>
            <a:pPr indent="0" marL="0">
              <a:buNone/>
            </a:pPr>
            <a:r>
              <a:rPr lang="en-US" sz="920" dirty="0">
                <a:solidFill>
                  <a:srgbClr val="8E8E93"/>
                </a:solidFill>
                <a:latin typeface="Segoe UI" pitchFamily="34" charset="0"/>
                <a:ea typeface="Segoe UI" pitchFamily="34" charset="-122"/>
                <a:cs typeface="Segoe UI" pitchFamily="34" charset="-120"/>
              </a:rPr>
              <a:t>URL Rewrite + ARR (Request Routing)
</a:t>
            </a:r>
            <a:pPr indent="0" marL="0">
              <a:buNone/>
            </a:pPr>
            <a:r>
              <a:rPr lang="en-US" sz="920" b="1" dirty="0">
                <a:solidFill>
                  <a:srgbClr val="EDEDF0"/>
                </a:solidFill>
                <a:latin typeface="Segoe UI" pitchFamily="34" charset="0"/>
                <a:ea typeface="Segoe UI" pitchFamily="34" charset="-122"/>
                <a:cs typeface="Segoe UI" pitchFamily="34" charset="-120"/>
              </a:rPr>
              <a:t>• Arquitectura: </a:t>
            </a:r>
            <a:pPr indent="0" marL="0">
              <a:buNone/>
            </a:pPr>
            <a:r>
              <a:rPr lang="en-US" sz="920" dirty="0">
                <a:solidFill>
                  <a:srgbClr val="8E8E93"/>
                </a:solidFill>
                <a:latin typeface="Segoe UI" pitchFamily="34" charset="0"/>
                <a:ea typeface="Segoe UI" pitchFamily="34" charset="-122"/>
                <a:cs typeface="Segoe UI" pitchFamily="34" charset="-120"/>
              </a:rPr>
              <a:t>Reverse Proxy hacia Node.js en puerto 3001
</a:t>
            </a:r>
            <a:pPr indent="0" marL="0">
              <a:buNone/>
            </a:pPr>
            <a:r>
              <a:rPr lang="en-US" sz="920" b="1" dirty="0">
                <a:solidFill>
                  <a:srgbClr val="EDEDF0"/>
                </a:solidFill>
                <a:latin typeface="Segoe UI" pitchFamily="34" charset="0"/>
                <a:ea typeface="Segoe UI" pitchFamily="34" charset="-122"/>
                <a:cs typeface="Segoe UI" pitchFamily="34" charset="-120"/>
              </a:rPr>
              <a:t>• Monitoreo: </a:t>
            </a:r>
            <a:pPr indent="0" marL="0">
              <a:buNone/>
            </a:pPr>
            <a:r>
              <a:rPr lang="en-US" sz="920" dirty="0">
                <a:solidFill>
                  <a:srgbClr val="8E8E93"/>
                </a:solidFill>
                <a:latin typeface="Segoe UI" pitchFamily="34" charset="0"/>
                <a:ea typeface="Segoe UI" pitchFamily="34" charset="-122"/>
                <a:cs typeface="Segoe UI" pitchFamily="34" charset="-120"/>
              </a:rPr>
              <a:t>Worker Process reciclado y logs W3C
</a:t>
            </a:r>
            <a:endParaRPr lang="en-US" sz="920" dirty="0"/>
          </a:p>
        </p:txBody>
      </p:sp>
      <p:sp>
        <p:nvSpPr>
          <p:cNvPr id="18" name="Shape 16"/>
          <p:cNvSpPr/>
          <p:nvPr/>
        </p:nvSpPr>
        <p:spPr>
          <a:xfrm>
            <a:off x="822960" y="4023360"/>
            <a:ext cx="5138928" cy="2057400"/>
          </a:xfrm>
          <a:prstGeom prst="roundRect">
            <a:avLst>
              <a:gd name="adj" fmla="val 6222"/>
            </a:avLst>
          </a:prstGeom>
          <a:solidFill>
            <a:srgbClr val="14151B"/>
          </a:solidFill>
          <a:ln w="12700">
            <a:solidFill>
              <a:srgbClr val="242630"/>
            </a:solidFill>
            <a:prstDash val="solid"/>
          </a:ln>
        </p:spPr>
      </p:sp>
      <p:sp>
        <p:nvSpPr>
          <p:cNvPr id="19" name="Shape 17"/>
          <p:cNvSpPr/>
          <p:nvPr/>
        </p:nvSpPr>
        <p:spPr>
          <a:xfrm>
            <a:off x="1051560" y="4187952"/>
            <a:ext cx="2286000" cy="237744"/>
          </a:xfrm>
          <a:prstGeom prst="roundRect">
            <a:avLst>
              <a:gd name="adj" fmla="val 50000"/>
            </a:avLst>
          </a:prstGeom>
          <a:solidFill>
            <a:srgbClr val="1C1E28"/>
          </a:solidFill>
          <a:ln w="10160">
            <a:solidFill>
              <a:srgbClr val="FF9F0A"/>
            </a:solidFill>
            <a:prstDash val="solid"/>
          </a:ln>
        </p:spPr>
      </p:sp>
      <p:sp>
        <p:nvSpPr>
          <p:cNvPr id="20" name="Text 18"/>
          <p:cNvSpPr/>
          <p:nvPr/>
        </p:nvSpPr>
        <p:spPr>
          <a:xfrm>
            <a:off x="1051560" y="4187952"/>
            <a:ext cx="2286000" cy="237744"/>
          </a:xfrm>
          <a:prstGeom prst="rect">
            <a:avLst/>
          </a:prstGeom>
          <a:noFill/>
          <a:ln/>
        </p:spPr>
        <p:txBody>
          <a:bodyPr wrap="square" rtlCol="0" anchor="ctr"/>
          <a:lstStyle/>
          <a:p>
            <a:pPr algn="ctr" indent="0" marL="0">
              <a:buNone/>
            </a:pPr>
            <a:r>
              <a:rPr lang="en-US" sz="800" b="1" dirty="0">
                <a:solidFill>
                  <a:srgbClr val="FF9F0A"/>
                </a:solidFill>
                <a:latin typeface="Segoe UI" pitchFamily="34" charset="0"/>
                <a:ea typeface="Segoe UI" pitchFamily="34" charset="-122"/>
                <a:cs typeface="Segoe UI" pitchFamily="34" charset="-120"/>
              </a:rPr>
              <a:t>SEGURIDAD &amp; RED (NSG)</a:t>
            </a:r>
            <a:endParaRPr lang="en-US" sz="800" dirty="0"/>
          </a:p>
        </p:txBody>
      </p:sp>
      <p:sp>
        <p:nvSpPr>
          <p:cNvPr id="21" name="Text 19"/>
          <p:cNvSpPr/>
          <p:nvPr/>
        </p:nvSpPr>
        <p:spPr>
          <a:xfrm>
            <a:off x="3429000" y="4187952"/>
            <a:ext cx="2286000" cy="237744"/>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Grupo de Seguridad de Red</a:t>
            </a:r>
            <a:endParaRPr lang="en-US" sz="1150" dirty="0"/>
          </a:p>
        </p:txBody>
      </p:sp>
      <p:sp>
        <p:nvSpPr>
          <p:cNvPr id="22" name="Text 20"/>
          <p:cNvSpPr/>
          <p:nvPr/>
        </p:nvSpPr>
        <p:spPr>
          <a:xfrm>
            <a:off x="1051560" y="4517136"/>
            <a:ext cx="4681728" cy="1417320"/>
          </a:xfrm>
          <a:prstGeom prst="rect">
            <a:avLst/>
          </a:prstGeom>
          <a:noFill/>
          <a:ln/>
        </p:spPr>
        <p:txBody>
          <a:bodyPr wrap="square" rtlCol="0" anchor="t"/>
          <a:lstStyle/>
          <a:p>
            <a:pPr indent="0" marL="0">
              <a:buNone/>
            </a:pPr>
            <a:r>
              <a:rPr lang="en-US" sz="920" b="1" dirty="0">
                <a:solidFill>
                  <a:srgbClr val="EDEDF0"/>
                </a:solidFill>
                <a:latin typeface="Segoe UI" pitchFamily="34" charset="0"/>
                <a:ea typeface="Segoe UI" pitchFamily="34" charset="-122"/>
                <a:cs typeface="Segoe UI" pitchFamily="34" charset="-120"/>
              </a:rPr>
              <a:t>• Puerto 80 (HTTP): </a:t>
            </a:r>
            <a:pPr indent="0" marL="0">
              <a:buNone/>
            </a:pPr>
            <a:r>
              <a:rPr lang="en-US" sz="920" dirty="0">
                <a:solidFill>
                  <a:srgbClr val="8E8E93"/>
                </a:solidFill>
                <a:latin typeface="Segoe UI" pitchFamily="34" charset="0"/>
                <a:ea typeface="Segoe UI" pitchFamily="34" charset="-122"/>
                <a:cs typeface="Segoe UI" pitchFamily="34" charset="-120"/>
              </a:rPr>
              <a:t>Acceso público para tráfico web
</a:t>
            </a:r>
            <a:pPr indent="0" marL="0">
              <a:buNone/>
            </a:pPr>
            <a:r>
              <a:rPr lang="en-US" sz="920" b="1" dirty="0">
                <a:solidFill>
                  <a:srgbClr val="EDEDF0"/>
                </a:solidFill>
                <a:latin typeface="Segoe UI" pitchFamily="34" charset="0"/>
                <a:ea typeface="Segoe UI" pitchFamily="34" charset="-122"/>
                <a:cs typeface="Segoe UI" pitchFamily="34" charset="-120"/>
              </a:rPr>
              <a:t>• Puerto 443 (HTTPS): </a:t>
            </a:r>
            <a:pPr indent="0" marL="0">
              <a:buNone/>
            </a:pPr>
            <a:r>
              <a:rPr lang="en-US" sz="920" dirty="0">
                <a:solidFill>
                  <a:srgbClr val="8E8E93"/>
                </a:solidFill>
                <a:latin typeface="Segoe UI" pitchFamily="34" charset="0"/>
                <a:ea typeface="Segoe UI" pitchFamily="34" charset="-122"/>
                <a:cs typeface="Segoe UI" pitchFamily="34" charset="-120"/>
              </a:rPr>
              <a:t>Tráfico cifrado SSL/TLS seguro
</a:t>
            </a:r>
            <a:pPr indent="0" marL="0">
              <a:buNone/>
            </a:pPr>
            <a:r>
              <a:rPr lang="en-US" sz="920" b="1" dirty="0">
                <a:solidFill>
                  <a:srgbClr val="EDEDF0"/>
                </a:solidFill>
                <a:latin typeface="Segoe UI" pitchFamily="34" charset="0"/>
                <a:ea typeface="Segoe UI" pitchFamily="34" charset="-122"/>
                <a:cs typeface="Segoe UI" pitchFamily="34" charset="-120"/>
              </a:rPr>
              <a:t>• Puerto 3001: </a:t>
            </a:r>
            <a:pPr indent="0" marL="0">
              <a:buNone/>
            </a:pPr>
            <a:r>
              <a:rPr lang="en-US" sz="920" dirty="0">
                <a:solidFill>
                  <a:srgbClr val="8E8E93"/>
                </a:solidFill>
                <a:latin typeface="Segoe UI" pitchFamily="34" charset="0"/>
                <a:ea typeface="Segoe UI" pitchFamily="34" charset="-122"/>
                <a:cs typeface="Segoe UI" pitchFamily="34" charset="-120"/>
              </a:rPr>
              <a:t>API REST consumida por la SPA
</a:t>
            </a:r>
            <a:pPr indent="0" marL="0">
              <a:buNone/>
            </a:pPr>
            <a:r>
              <a:rPr lang="en-US" sz="920" b="1" dirty="0">
                <a:solidFill>
                  <a:srgbClr val="EDEDF0"/>
                </a:solidFill>
                <a:latin typeface="Segoe UI" pitchFamily="34" charset="0"/>
                <a:ea typeface="Segoe UI" pitchFamily="34" charset="-122"/>
                <a:cs typeface="Segoe UI" pitchFamily="34" charset="-120"/>
              </a:rPr>
              <a:t>• Puerto 3389 (RDP): </a:t>
            </a:r>
            <a:pPr indent="0" marL="0">
              <a:buNone/>
            </a:pPr>
            <a:r>
              <a:rPr lang="en-US" sz="920" dirty="0">
                <a:solidFill>
                  <a:srgbClr val="8E8E93"/>
                </a:solidFill>
                <a:latin typeface="Segoe UI" pitchFamily="34" charset="0"/>
                <a:ea typeface="Segoe UI" pitchFamily="34" charset="-122"/>
                <a:cs typeface="Segoe UI" pitchFamily="34" charset="-120"/>
              </a:rPr>
              <a:t>Acceso administrativo restringido
</a:t>
            </a:r>
            <a:pPr indent="0" marL="0">
              <a:buNone/>
            </a:pPr>
            <a:r>
              <a:rPr lang="en-US" sz="920" b="1" dirty="0">
                <a:solidFill>
                  <a:srgbClr val="EDEDF0"/>
                </a:solidFill>
                <a:latin typeface="Segoe UI" pitchFamily="34" charset="0"/>
                <a:ea typeface="Segoe UI" pitchFamily="34" charset="-122"/>
                <a:cs typeface="Segoe UI" pitchFamily="34" charset="-120"/>
              </a:rPr>
              <a:t>• Aislamiento: </a:t>
            </a:r>
            <a:pPr indent="0" marL="0">
              <a:buNone/>
            </a:pPr>
            <a:r>
              <a:rPr lang="en-US" sz="920" dirty="0">
                <a:solidFill>
                  <a:srgbClr val="8E8E93"/>
                </a:solidFill>
                <a:latin typeface="Segoe UI" pitchFamily="34" charset="0"/>
                <a:ea typeface="Segoe UI" pitchFamily="34" charset="-122"/>
                <a:cs typeface="Segoe UI" pitchFamily="34" charset="-120"/>
              </a:rPr>
              <a:t>VNet privada (10.0.0.0/16)
</a:t>
            </a:r>
            <a:endParaRPr lang="en-US" sz="920" dirty="0"/>
          </a:p>
        </p:txBody>
      </p:sp>
      <p:sp>
        <p:nvSpPr>
          <p:cNvPr id="23" name="Shape 21"/>
          <p:cNvSpPr/>
          <p:nvPr/>
        </p:nvSpPr>
        <p:spPr>
          <a:xfrm>
            <a:off x="6227064" y="4023360"/>
            <a:ext cx="5138928" cy="2057400"/>
          </a:xfrm>
          <a:prstGeom prst="roundRect">
            <a:avLst>
              <a:gd name="adj" fmla="val 6222"/>
            </a:avLst>
          </a:prstGeom>
          <a:solidFill>
            <a:srgbClr val="14151B"/>
          </a:solidFill>
          <a:ln w="12700">
            <a:solidFill>
              <a:srgbClr val="242630"/>
            </a:solidFill>
            <a:prstDash val="solid"/>
          </a:ln>
        </p:spPr>
      </p:sp>
      <p:sp>
        <p:nvSpPr>
          <p:cNvPr id="24" name="Shape 22"/>
          <p:cNvSpPr/>
          <p:nvPr/>
        </p:nvSpPr>
        <p:spPr>
          <a:xfrm>
            <a:off x="6455664" y="4187952"/>
            <a:ext cx="2286000" cy="237744"/>
          </a:xfrm>
          <a:prstGeom prst="roundRect">
            <a:avLst>
              <a:gd name="adj" fmla="val 50000"/>
            </a:avLst>
          </a:prstGeom>
          <a:solidFill>
            <a:srgbClr val="1C1E28"/>
          </a:solidFill>
          <a:ln w="10160">
            <a:solidFill>
              <a:srgbClr val="BF5AF2"/>
            </a:solidFill>
            <a:prstDash val="solid"/>
          </a:ln>
        </p:spPr>
      </p:sp>
      <p:sp>
        <p:nvSpPr>
          <p:cNvPr id="25" name="Text 23"/>
          <p:cNvSpPr/>
          <p:nvPr/>
        </p:nvSpPr>
        <p:spPr>
          <a:xfrm>
            <a:off x="6455664" y="4187952"/>
            <a:ext cx="2286000" cy="237744"/>
          </a:xfrm>
          <a:prstGeom prst="rect">
            <a:avLst/>
          </a:prstGeom>
          <a:noFill/>
          <a:ln/>
        </p:spPr>
        <p:txBody>
          <a:bodyPr wrap="square" rtlCol="0" anchor="ctr"/>
          <a:lstStyle/>
          <a:p>
            <a:pPr algn="ctr" indent="0" marL="0">
              <a:buNone/>
            </a:pPr>
            <a:r>
              <a:rPr lang="en-US" sz="800" b="1" dirty="0">
                <a:solidFill>
                  <a:srgbClr val="BF5AF2"/>
                </a:solidFill>
                <a:latin typeface="Segoe UI" pitchFamily="34" charset="0"/>
                <a:ea typeface="Segoe UI" pitchFamily="34" charset="-122"/>
                <a:cs typeface="Segoe UI" pitchFamily="34" charset="-120"/>
              </a:rPr>
              <a:t>AZURE DNS &amp; CONECTIVIDAD</a:t>
            </a:r>
            <a:endParaRPr lang="en-US" sz="800" dirty="0"/>
          </a:p>
        </p:txBody>
      </p:sp>
      <p:sp>
        <p:nvSpPr>
          <p:cNvPr id="26" name="Text 24"/>
          <p:cNvSpPr/>
          <p:nvPr/>
        </p:nvSpPr>
        <p:spPr>
          <a:xfrm>
            <a:off x="8833104" y="4187952"/>
            <a:ext cx="2286000" cy="237744"/>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Resolución Pública &amp; Acceso E2E</a:t>
            </a:r>
            <a:endParaRPr lang="en-US" sz="1150" dirty="0"/>
          </a:p>
        </p:txBody>
      </p:sp>
      <p:sp>
        <p:nvSpPr>
          <p:cNvPr id="27" name="Text 25"/>
          <p:cNvSpPr/>
          <p:nvPr/>
        </p:nvSpPr>
        <p:spPr>
          <a:xfrm>
            <a:off x="6455664" y="4517136"/>
            <a:ext cx="4681728" cy="1417320"/>
          </a:xfrm>
          <a:prstGeom prst="rect">
            <a:avLst/>
          </a:prstGeom>
          <a:noFill/>
          <a:ln/>
        </p:spPr>
        <p:txBody>
          <a:bodyPr wrap="square" rtlCol="0" anchor="t"/>
          <a:lstStyle/>
          <a:p>
            <a:pPr indent="0" marL="0">
              <a:buNone/>
            </a:pPr>
            <a:r>
              <a:rPr lang="en-US" sz="920" b="1" dirty="0">
                <a:solidFill>
                  <a:srgbClr val="EDEDF0"/>
                </a:solidFill>
                <a:latin typeface="Segoe UI" pitchFamily="34" charset="0"/>
                <a:ea typeface="Segoe UI" pitchFamily="34" charset="-122"/>
                <a:cs typeface="Segoe UI" pitchFamily="34" charset="-120"/>
              </a:rPr>
              <a:t>• FQDN Oficial: </a:t>
            </a:r>
            <a:pPr indent="0" marL="0">
              <a:buNone/>
            </a:pPr>
            <a:r>
              <a:rPr lang="en-US" sz="920" dirty="0">
                <a:solidFill>
                  <a:srgbClr val="8E8E93"/>
                </a:solidFill>
                <a:latin typeface="Segoe UI" pitchFamily="34" charset="0"/>
                <a:ea typeface="Segoe UI" pitchFamily="34" charset="-122"/>
                <a:cs typeface="Segoe UI" pitchFamily="34" charset="-120"/>
              </a:rPr>
              <a:t>aurasmartparking.eastus.cloudapp.azure.com
</a:t>
            </a:r>
            <a:pPr indent="0" marL="0">
              <a:buNone/>
            </a:pPr>
            <a:r>
              <a:rPr lang="en-US" sz="920" b="1" dirty="0">
                <a:solidFill>
                  <a:srgbClr val="EDEDF0"/>
                </a:solidFill>
                <a:latin typeface="Segoe UI" pitchFamily="34" charset="0"/>
                <a:ea typeface="Segoe UI" pitchFamily="34" charset="-122"/>
                <a:cs typeface="Segoe UI" pitchFamily="34" charset="-120"/>
              </a:rPr>
              <a:t>• Dirección IP Pública: </a:t>
            </a:r>
            <a:pPr indent="0" marL="0">
              <a:buNone/>
            </a:pPr>
            <a:r>
              <a:rPr lang="en-US" sz="920" dirty="0">
                <a:solidFill>
                  <a:srgbClr val="8E8E93"/>
                </a:solidFill>
                <a:latin typeface="Segoe UI" pitchFamily="34" charset="0"/>
                <a:ea typeface="Segoe UI" pitchFamily="34" charset="-122"/>
                <a:cs typeface="Segoe UI" pitchFamily="34" charset="-120"/>
              </a:rPr>
              <a:t>20.124.68.142 (Estática asignada)
</a:t>
            </a:r>
            <a:pPr indent="0" marL="0">
              <a:buNone/>
            </a:pPr>
            <a:r>
              <a:rPr lang="en-US" sz="920" b="1" dirty="0">
                <a:solidFill>
                  <a:srgbClr val="EDEDF0"/>
                </a:solidFill>
                <a:latin typeface="Segoe UI" pitchFamily="34" charset="0"/>
                <a:ea typeface="Segoe UI" pitchFamily="34" charset="-122"/>
                <a:cs typeface="Segoe UI" pitchFamily="34" charset="-120"/>
              </a:rPr>
              <a:t>• Latencia Comprobada: </a:t>
            </a:r>
            <a:pPr indent="0" marL="0">
              <a:buNone/>
            </a:pPr>
            <a:r>
              <a:rPr lang="en-US" sz="920" dirty="0">
                <a:solidFill>
                  <a:srgbClr val="8E8E93"/>
                </a:solidFill>
                <a:latin typeface="Segoe UI" pitchFamily="34" charset="0"/>
                <a:ea typeface="Segoe UI" pitchFamily="34" charset="-122"/>
                <a:cs typeface="Segoe UI" pitchFamily="34" charset="-120"/>
              </a:rPr>
              <a:t>180 ms desde redes externas en Chile
</a:t>
            </a:r>
            <a:pPr indent="0" marL="0">
              <a:buNone/>
            </a:pPr>
            <a:r>
              <a:rPr lang="en-US" sz="920" b="1" dirty="0">
                <a:solidFill>
                  <a:srgbClr val="EDEDF0"/>
                </a:solidFill>
                <a:latin typeface="Segoe UI" pitchFamily="34" charset="0"/>
                <a:ea typeface="Segoe UI" pitchFamily="34" charset="-122"/>
                <a:cs typeface="Segoe UI" pitchFamily="34" charset="-120"/>
              </a:rPr>
              <a:t>• Verificación: </a:t>
            </a:r>
            <a:pPr indent="0" marL="0">
              <a:buNone/>
            </a:pPr>
            <a:r>
              <a:rPr lang="en-US" sz="920" dirty="0">
                <a:solidFill>
                  <a:srgbClr val="8E8E93"/>
                </a:solidFill>
                <a:latin typeface="Segoe UI" pitchFamily="34" charset="0"/>
                <a:ea typeface="Segoe UI" pitchFamily="34" charset="-122"/>
                <a:cs typeface="Segoe UI" pitchFamily="34" charset="-120"/>
              </a:rPr>
              <a:t>Auditoría exitosa sin VPN ni credenciales
</a:t>
            </a:r>
            <a:pPr indent="0" marL="0">
              <a:buNone/>
            </a:pPr>
            <a:r>
              <a:rPr lang="en-US" sz="920" b="1" dirty="0">
                <a:solidFill>
                  <a:srgbClr val="EDEDF0"/>
                </a:solidFill>
                <a:latin typeface="Segoe UI" pitchFamily="34" charset="0"/>
                <a:ea typeface="Segoe UI" pitchFamily="34" charset="-122"/>
                <a:cs typeface="Segoe UI" pitchFamily="34" charset="-120"/>
              </a:rPr>
              <a:t>• Disponibilidad: </a:t>
            </a:r>
            <a:pPr indent="0" marL="0">
              <a:buNone/>
            </a:pPr>
            <a:r>
              <a:rPr lang="en-US" sz="920" dirty="0">
                <a:solidFill>
                  <a:srgbClr val="8E8E93"/>
                </a:solidFill>
                <a:latin typeface="Segoe UI" pitchFamily="34" charset="0"/>
                <a:ea typeface="Segoe UI" pitchFamily="34" charset="-122"/>
                <a:cs typeface="Segoe UI" pitchFamily="34" charset="-120"/>
              </a:rPr>
              <a:t>Publicación web 24/7 en alta disponibilidad
</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07 · ESCALABILIDAD CLOUD</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Evolución Arquitectónica: 100 a 10.000 Usuarios</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Estrategia de crecimiento elástico para operar flotas a escala nacional según rúbrica.</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08 / 10  ·  Minuto 10:00 - 13:00</a:t>
            </a:r>
            <a:endParaRPr lang="en-US" sz="850" dirty="0"/>
          </a:p>
        </p:txBody>
      </p:sp>
      <p:sp>
        <p:nvSpPr>
          <p:cNvPr id="8" name="Shape 6"/>
          <p:cNvSpPr/>
          <p:nvPr/>
        </p:nvSpPr>
        <p:spPr>
          <a:xfrm>
            <a:off x="822960" y="1783080"/>
            <a:ext cx="10543032" cy="960120"/>
          </a:xfrm>
          <a:prstGeom prst="roundRect">
            <a:avLst>
              <a:gd name="adj" fmla="val 11429"/>
            </a:avLst>
          </a:prstGeom>
          <a:solidFill>
            <a:srgbClr val="14151B"/>
          </a:solidFill>
          <a:ln w="12700">
            <a:solidFill>
              <a:srgbClr val="242630"/>
            </a:solidFill>
            <a:prstDash val="solid"/>
          </a:ln>
        </p:spPr>
      </p:sp>
      <p:sp>
        <p:nvSpPr>
          <p:cNvPr id="9" name="Shape 7"/>
          <p:cNvSpPr/>
          <p:nvPr/>
        </p:nvSpPr>
        <p:spPr>
          <a:xfrm>
            <a:off x="822960" y="1783080"/>
            <a:ext cx="109728" cy="960120"/>
          </a:xfrm>
          <a:prstGeom prst="roundRect">
            <a:avLst>
              <a:gd name="adj" fmla="val 50000"/>
            </a:avLst>
          </a:prstGeom>
          <a:solidFill>
            <a:srgbClr val="2997FF"/>
          </a:solidFill>
          <a:ln w="12700">
            <a:solidFill>
              <a:srgbClr val="2997FF"/>
            </a:solidFill>
            <a:prstDash val="solid"/>
          </a:ln>
        </p:spPr>
      </p:sp>
      <p:sp>
        <p:nvSpPr>
          <p:cNvPr id="10" name="Shape 8"/>
          <p:cNvSpPr/>
          <p:nvPr/>
        </p:nvSpPr>
        <p:spPr>
          <a:xfrm>
            <a:off x="1143000" y="1911096"/>
            <a:ext cx="411480" cy="219456"/>
          </a:xfrm>
          <a:prstGeom prst="roundRect">
            <a:avLst>
              <a:gd name="adj" fmla="val 50000"/>
            </a:avLst>
          </a:prstGeom>
          <a:solidFill>
            <a:srgbClr val="181924"/>
          </a:solidFill>
          <a:ln w="10160">
            <a:solidFill>
              <a:srgbClr val="2997FF"/>
            </a:solidFill>
            <a:prstDash val="solid"/>
          </a:ln>
        </p:spPr>
      </p:sp>
      <p:sp>
        <p:nvSpPr>
          <p:cNvPr id="11" name="Text 9"/>
          <p:cNvSpPr/>
          <p:nvPr/>
        </p:nvSpPr>
        <p:spPr>
          <a:xfrm>
            <a:off x="1143000" y="1911096"/>
            <a:ext cx="411480" cy="219456"/>
          </a:xfrm>
          <a:prstGeom prst="rect">
            <a:avLst/>
          </a:prstGeom>
          <a:noFill/>
          <a:ln/>
        </p:spPr>
        <p:txBody>
          <a:bodyPr wrap="square" rtlCol="0" anchor="ctr"/>
          <a:lstStyle/>
          <a:p>
            <a:pPr algn="ctr" indent="0" marL="0">
              <a:buNone/>
            </a:pPr>
            <a:r>
              <a:rPr lang="en-US" sz="900" b="1" dirty="0">
                <a:solidFill>
                  <a:srgbClr val="2997FF"/>
                </a:solidFill>
                <a:latin typeface="Segoe UI" pitchFamily="34" charset="0"/>
                <a:ea typeface="Segoe UI" pitchFamily="34" charset="-122"/>
                <a:cs typeface="Segoe UI" pitchFamily="34" charset="-120"/>
              </a:rPr>
              <a:t>1</a:t>
            </a:r>
            <a:endParaRPr lang="en-US" sz="900" dirty="0"/>
          </a:p>
        </p:txBody>
      </p:sp>
      <p:sp>
        <p:nvSpPr>
          <p:cNvPr id="12" name="Text 10"/>
          <p:cNvSpPr/>
          <p:nvPr/>
        </p:nvSpPr>
        <p:spPr>
          <a:xfrm>
            <a:off x="1691640" y="1892808"/>
            <a:ext cx="941832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ESCALADO HORIZONTAL ELÁSTICO (AUTO-SCALING)   </a:t>
            </a:r>
            <a:pPr indent="0" marL="0">
              <a:buNone/>
            </a:pPr>
            <a:r>
              <a:rPr lang="en-US" sz="950" b="1" dirty="0">
                <a:solidFill>
                  <a:srgbClr val="2997FF"/>
                </a:solidFill>
                <a:latin typeface="Segoe UI" pitchFamily="34" charset="0"/>
                <a:ea typeface="Segoe UI" pitchFamily="34" charset="-122"/>
                <a:cs typeface="Segoe UI" pitchFamily="34" charset="-120"/>
              </a:rPr>
              <a:t>[ Azure Virtual Machine Scale Sets (VMSS) / Azure Container Apps ]</a:t>
            </a:r>
            <a:endParaRPr lang="en-US" sz="1150" dirty="0"/>
          </a:p>
        </p:txBody>
      </p:sp>
      <p:sp>
        <p:nvSpPr>
          <p:cNvPr id="13" name="Text 11"/>
          <p:cNvSpPr/>
          <p:nvPr/>
        </p:nvSpPr>
        <p:spPr>
          <a:xfrm>
            <a:off x="1143000" y="2185416"/>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Transición desde una única máquina virtual hacia un clúster auto-escalable gestionado por Azure Load Balancer. Las réplicas de cómputo se aprovisionan automáticamente si el consumo de CPU supera el umbral del 70%, absorbiendo horas pico sin degradación.</a:t>
            </a:r>
            <a:endParaRPr lang="en-US" sz="980" dirty="0"/>
          </a:p>
        </p:txBody>
      </p:sp>
      <p:sp>
        <p:nvSpPr>
          <p:cNvPr id="14" name="Shape 12"/>
          <p:cNvSpPr/>
          <p:nvPr/>
        </p:nvSpPr>
        <p:spPr>
          <a:xfrm>
            <a:off x="822960" y="2862072"/>
            <a:ext cx="10543032" cy="960120"/>
          </a:xfrm>
          <a:prstGeom prst="roundRect">
            <a:avLst>
              <a:gd name="adj" fmla="val 11429"/>
            </a:avLst>
          </a:prstGeom>
          <a:solidFill>
            <a:srgbClr val="14151B"/>
          </a:solidFill>
          <a:ln w="12700">
            <a:solidFill>
              <a:srgbClr val="242630"/>
            </a:solidFill>
            <a:prstDash val="solid"/>
          </a:ln>
        </p:spPr>
      </p:sp>
      <p:sp>
        <p:nvSpPr>
          <p:cNvPr id="15" name="Shape 13"/>
          <p:cNvSpPr/>
          <p:nvPr/>
        </p:nvSpPr>
        <p:spPr>
          <a:xfrm>
            <a:off x="822960" y="2862072"/>
            <a:ext cx="109728" cy="960120"/>
          </a:xfrm>
          <a:prstGeom prst="roundRect">
            <a:avLst>
              <a:gd name="adj" fmla="val 50000"/>
            </a:avLst>
          </a:prstGeom>
          <a:solidFill>
            <a:srgbClr val="30D158"/>
          </a:solidFill>
          <a:ln w="12700">
            <a:solidFill>
              <a:srgbClr val="30D158"/>
            </a:solidFill>
            <a:prstDash val="solid"/>
          </a:ln>
        </p:spPr>
      </p:sp>
      <p:sp>
        <p:nvSpPr>
          <p:cNvPr id="16" name="Shape 14"/>
          <p:cNvSpPr/>
          <p:nvPr/>
        </p:nvSpPr>
        <p:spPr>
          <a:xfrm>
            <a:off x="1143000" y="2990088"/>
            <a:ext cx="411480" cy="219456"/>
          </a:xfrm>
          <a:prstGeom prst="roundRect">
            <a:avLst>
              <a:gd name="adj" fmla="val 50000"/>
            </a:avLst>
          </a:prstGeom>
          <a:solidFill>
            <a:srgbClr val="181924"/>
          </a:solidFill>
          <a:ln w="10160">
            <a:solidFill>
              <a:srgbClr val="30D158"/>
            </a:solidFill>
            <a:prstDash val="solid"/>
          </a:ln>
        </p:spPr>
      </p:sp>
      <p:sp>
        <p:nvSpPr>
          <p:cNvPr id="17" name="Text 15"/>
          <p:cNvSpPr/>
          <p:nvPr/>
        </p:nvSpPr>
        <p:spPr>
          <a:xfrm>
            <a:off x="1143000" y="2990088"/>
            <a:ext cx="411480" cy="219456"/>
          </a:xfrm>
          <a:prstGeom prst="rect">
            <a:avLst/>
          </a:prstGeom>
          <a:noFill/>
          <a:ln/>
        </p:spPr>
        <p:txBody>
          <a:bodyPr wrap="square" rtlCol="0" anchor="ctr"/>
          <a:lstStyle/>
          <a:p>
            <a:pPr algn="ctr" indent="0" marL="0">
              <a:buNone/>
            </a:pPr>
            <a:r>
              <a:rPr lang="en-US" sz="900" b="1" dirty="0">
                <a:solidFill>
                  <a:srgbClr val="30D158"/>
                </a:solidFill>
                <a:latin typeface="Segoe UI" pitchFamily="34" charset="0"/>
                <a:ea typeface="Segoe UI" pitchFamily="34" charset="-122"/>
                <a:cs typeface="Segoe UI" pitchFamily="34" charset="-120"/>
              </a:rPr>
              <a:t>2</a:t>
            </a:r>
            <a:endParaRPr lang="en-US" sz="900" dirty="0"/>
          </a:p>
        </p:txBody>
      </p:sp>
      <p:sp>
        <p:nvSpPr>
          <p:cNvPr id="18" name="Text 16"/>
          <p:cNvSpPr/>
          <p:nvPr/>
        </p:nvSpPr>
        <p:spPr>
          <a:xfrm>
            <a:off x="1691640" y="2971800"/>
            <a:ext cx="941832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CAPA DE CACHÉ EN MEMORIA DISTRIBUIDA   </a:t>
            </a:r>
            <a:pPr indent="0" marL="0">
              <a:buNone/>
            </a:pPr>
            <a:r>
              <a:rPr lang="en-US" sz="950" b="1" dirty="0">
                <a:solidFill>
                  <a:srgbClr val="30D158"/>
                </a:solidFill>
                <a:latin typeface="Segoe UI" pitchFamily="34" charset="0"/>
                <a:ea typeface="Segoe UI" pitchFamily="34" charset="-122"/>
                <a:cs typeface="Segoe UI" pitchFamily="34" charset="-120"/>
              </a:rPr>
              <a:t>[ Azure Cache for Redis (In-Memory Data Store) ]</a:t>
            </a:r>
            <a:endParaRPr lang="en-US" sz="1150" dirty="0"/>
          </a:p>
        </p:txBody>
      </p:sp>
      <p:sp>
        <p:nvSpPr>
          <p:cNvPr id="19" name="Text 17"/>
          <p:cNvSpPr/>
          <p:nvPr/>
        </p:nvSpPr>
        <p:spPr>
          <a:xfrm>
            <a:off x="1143000" y="3264408"/>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El estado en tiempo real de los cupos y las reservas activas se traslada a memoria RAM distribuida en Redis. Esto permite atender más de 100.000 lecturas concurrentes con latencia sub-milisegundo (&lt; 2 ms), descargando por completo la base de datos principal.</a:t>
            </a:r>
            <a:endParaRPr lang="en-US" sz="980" dirty="0"/>
          </a:p>
        </p:txBody>
      </p:sp>
      <p:sp>
        <p:nvSpPr>
          <p:cNvPr id="20" name="Shape 18"/>
          <p:cNvSpPr/>
          <p:nvPr/>
        </p:nvSpPr>
        <p:spPr>
          <a:xfrm>
            <a:off x="822960" y="3941064"/>
            <a:ext cx="10543032" cy="960120"/>
          </a:xfrm>
          <a:prstGeom prst="roundRect">
            <a:avLst>
              <a:gd name="adj" fmla="val 11429"/>
            </a:avLst>
          </a:prstGeom>
          <a:solidFill>
            <a:srgbClr val="14151B"/>
          </a:solidFill>
          <a:ln w="12700">
            <a:solidFill>
              <a:srgbClr val="242630"/>
            </a:solidFill>
            <a:prstDash val="solid"/>
          </a:ln>
        </p:spPr>
      </p:sp>
      <p:sp>
        <p:nvSpPr>
          <p:cNvPr id="21" name="Shape 19"/>
          <p:cNvSpPr/>
          <p:nvPr/>
        </p:nvSpPr>
        <p:spPr>
          <a:xfrm>
            <a:off x="822960" y="3941064"/>
            <a:ext cx="109728" cy="960120"/>
          </a:xfrm>
          <a:prstGeom prst="roundRect">
            <a:avLst>
              <a:gd name="adj" fmla="val 50000"/>
            </a:avLst>
          </a:prstGeom>
          <a:solidFill>
            <a:srgbClr val="FF9F0A"/>
          </a:solidFill>
          <a:ln w="12700">
            <a:solidFill>
              <a:srgbClr val="FF9F0A"/>
            </a:solidFill>
            <a:prstDash val="solid"/>
          </a:ln>
        </p:spPr>
      </p:sp>
      <p:sp>
        <p:nvSpPr>
          <p:cNvPr id="22" name="Shape 20"/>
          <p:cNvSpPr/>
          <p:nvPr/>
        </p:nvSpPr>
        <p:spPr>
          <a:xfrm>
            <a:off x="1143000" y="4069080"/>
            <a:ext cx="411480" cy="219456"/>
          </a:xfrm>
          <a:prstGeom prst="roundRect">
            <a:avLst>
              <a:gd name="adj" fmla="val 50000"/>
            </a:avLst>
          </a:prstGeom>
          <a:solidFill>
            <a:srgbClr val="181924"/>
          </a:solidFill>
          <a:ln w="10160">
            <a:solidFill>
              <a:srgbClr val="FF9F0A"/>
            </a:solidFill>
            <a:prstDash val="solid"/>
          </a:ln>
        </p:spPr>
      </p:sp>
      <p:sp>
        <p:nvSpPr>
          <p:cNvPr id="23" name="Text 21"/>
          <p:cNvSpPr/>
          <p:nvPr/>
        </p:nvSpPr>
        <p:spPr>
          <a:xfrm>
            <a:off x="1143000" y="4069080"/>
            <a:ext cx="411480" cy="219456"/>
          </a:xfrm>
          <a:prstGeom prst="rect">
            <a:avLst/>
          </a:prstGeom>
          <a:noFill/>
          <a:ln/>
        </p:spPr>
        <p:txBody>
          <a:bodyPr wrap="square" rtlCol="0" anchor="ctr"/>
          <a:lstStyle/>
          <a:p>
            <a:pPr algn="ctr" indent="0" marL="0">
              <a:buNone/>
            </a:pPr>
            <a:r>
              <a:rPr lang="en-US" sz="900" b="1" dirty="0">
                <a:solidFill>
                  <a:srgbClr val="FF9F0A"/>
                </a:solidFill>
                <a:latin typeface="Segoe UI" pitchFamily="34" charset="0"/>
                <a:ea typeface="Segoe UI" pitchFamily="34" charset="-122"/>
                <a:cs typeface="Segoe UI" pitchFamily="34" charset="-120"/>
              </a:rPr>
              <a:t>3</a:t>
            </a:r>
            <a:endParaRPr lang="en-US" sz="900" dirty="0"/>
          </a:p>
        </p:txBody>
      </p:sp>
      <p:sp>
        <p:nvSpPr>
          <p:cNvPr id="24" name="Text 22"/>
          <p:cNvSpPr/>
          <p:nvPr/>
        </p:nvSpPr>
        <p:spPr>
          <a:xfrm>
            <a:off x="1691640" y="4050792"/>
            <a:ext cx="941832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INGESTA MASIVA DE TELEMETRÍA IOT   </a:t>
            </a:r>
            <a:pPr indent="0" marL="0">
              <a:buNone/>
            </a:pPr>
            <a:r>
              <a:rPr lang="en-US" sz="950" b="1" dirty="0">
                <a:solidFill>
                  <a:srgbClr val="FF9F0A"/>
                </a:solidFill>
                <a:latin typeface="Segoe UI" pitchFamily="34" charset="0"/>
                <a:ea typeface="Segoe UI" pitchFamily="34" charset="-122"/>
                <a:cs typeface="Segoe UI" pitchFamily="34" charset="-120"/>
              </a:rPr>
              <a:t>[ Azure IoT Hub + Event Hubs + Stream Analytics ]</a:t>
            </a:r>
            <a:endParaRPr lang="en-US" sz="1150" dirty="0"/>
          </a:p>
        </p:txBody>
      </p:sp>
      <p:sp>
        <p:nvSpPr>
          <p:cNvPr id="25" name="Text 23"/>
          <p:cNvSpPr/>
          <p:nvPr/>
        </p:nvSpPr>
        <p:spPr>
          <a:xfrm>
            <a:off x="1143000" y="4343400"/>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Para conectar flotas con cientos de sucursales, el enlace serial se reemplaza por pasarelas IoT Hub comunicadas vía MQTT particionado. El sistema procesa de forma concurrente millones de eventos por segundo con total resiliencia y reintentos automáticos.</a:t>
            </a:r>
            <a:endParaRPr lang="en-US" sz="980" dirty="0"/>
          </a:p>
        </p:txBody>
      </p:sp>
      <p:sp>
        <p:nvSpPr>
          <p:cNvPr id="26" name="Shape 24"/>
          <p:cNvSpPr/>
          <p:nvPr/>
        </p:nvSpPr>
        <p:spPr>
          <a:xfrm>
            <a:off x="822960" y="5020056"/>
            <a:ext cx="10543032" cy="960120"/>
          </a:xfrm>
          <a:prstGeom prst="roundRect">
            <a:avLst>
              <a:gd name="adj" fmla="val 11429"/>
            </a:avLst>
          </a:prstGeom>
          <a:solidFill>
            <a:srgbClr val="14151B"/>
          </a:solidFill>
          <a:ln w="12700">
            <a:solidFill>
              <a:srgbClr val="242630"/>
            </a:solidFill>
            <a:prstDash val="solid"/>
          </a:ln>
        </p:spPr>
      </p:sp>
      <p:sp>
        <p:nvSpPr>
          <p:cNvPr id="27" name="Shape 25"/>
          <p:cNvSpPr/>
          <p:nvPr/>
        </p:nvSpPr>
        <p:spPr>
          <a:xfrm>
            <a:off x="822960" y="5020056"/>
            <a:ext cx="109728" cy="960120"/>
          </a:xfrm>
          <a:prstGeom prst="roundRect">
            <a:avLst>
              <a:gd name="adj" fmla="val 50000"/>
            </a:avLst>
          </a:prstGeom>
          <a:solidFill>
            <a:srgbClr val="BF5AF2"/>
          </a:solidFill>
          <a:ln w="12700">
            <a:solidFill>
              <a:srgbClr val="BF5AF2"/>
            </a:solidFill>
            <a:prstDash val="solid"/>
          </a:ln>
        </p:spPr>
      </p:sp>
      <p:sp>
        <p:nvSpPr>
          <p:cNvPr id="28" name="Shape 26"/>
          <p:cNvSpPr/>
          <p:nvPr/>
        </p:nvSpPr>
        <p:spPr>
          <a:xfrm>
            <a:off x="1143000" y="5148072"/>
            <a:ext cx="411480" cy="219456"/>
          </a:xfrm>
          <a:prstGeom prst="roundRect">
            <a:avLst>
              <a:gd name="adj" fmla="val 50000"/>
            </a:avLst>
          </a:prstGeom>
          <a:solidFill>
            <a:srgbClr val="181924"/>
          </a:solidFill>
          <a:ln w="10160">
            <a:solidFill>
              <a:srgbClr val="BF5AF2"/>
            </a:solidFill>
            <a:prstDash val="solid"/>
          </a:ln>
        </p:spPr>
      </p:sp>
      <p:sp>
        <p:nvSpPr>
          <p:cNvPr id="29" name="Text 27"/>
          <p:cNvSpPr/>
          <p:nvPr/>
        </p:nvSpPr>
        <p:spPr>
          <a:xfrm>
            <a:off x="1143000" y="5148072"/>
            <a:ext cx="411480" cy="219456"/>
          </a:xfrm>
          <a:prstGeom prst="rect">
            <a:avLst/>
          </a:prstGeom>
          <a:noFill/>
          <a:ln/>
        </p:spPr>
        <p:txBody>
          <a:bodyPr wrap="square" rtlCol="0" anchor="ctr"/>
          <a:lstStyle/>
          <a:p>
            <a:pPr algn="ctr" indent="0" marL="0">
              <a:buNone/>
            </a:pPr>
            <a:r>
              <a:rPr lang="en-US" sz="900" b="1" dirty="0">
                <a:solidFill>
                  <a:srgbClr val="BF5AF2"/>
                </a:solidFill>
                <a:latin typeface="Segoe UI" pitchFamily="34" charset="0"/>
                <a:ea typeface="Segoe UI" pitchFamily="34" charset="-122"/>
                <a:cs typeface="Segoe UI" pitchFamily="34" charset="-120"/>
              </a:rPr>
              <a:t>4</a:t>
            </a:r>
            <a:endParaRPr lang="en-US" sz="900" dirty="0"/>
          </a:p>
        </p:txBody>
      </p:sp>
      <p:sp>
        <p:nvSpPr>
          <p:cNvPr id="30" name="Text 28"/>
          <p:cNvSpPr/>
          <p:nvPr/>
        </p:nvSpPr>
        <p:spPr>
          <a:xfrm>
            <a:off x="1691640" y="5129784"/>
            <a:ext cx="9418320" cy="256032"/>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RED DE DISTRIBUCIÓN GLOBAL (EDGE CDN)   </a:t>
            </a:r>
            <a:pPr indent="0" marL="0">
              <a:buNone/>
            </a:pPr>
            <a:r>
              <a:rPr lang="en-US" sz="950" b="1" dirty="0">
                <a:solidFill>
                  <a:srgbClr val="BF5AF2"/>
                </a:solidFill>
                <a:latin typeface="Segoe UI" pitchFamily="34" charset="0"/>
                <a:ea typeface="Segoe UI" pitchFamily="34" charset="-122"/>
                <a:cs typeface="Segoe UI" pitchFamily="34" charset="-120"/>
              </a:rPr>
              <a:t>[ Azure Front Door + Content Delivery Network (PoPs) ]</a:t>
            </a:r>
            <a:endParaRPr lang="en-US" sz="1150" dirty="0"/>
          </a:p>
        </p:txBody>
      </p:sp>
      <p:sp>
        <p:nvSpPr>
          <p:cNvPr id="31" name="Text 29"/>
          <p:cNvSpPr/>
          <p:nvPr/>
        </p:nvSpPr>
        <p:spPr>
          <a:xfrm>
            <a:off x="1143000" y="5422392"/>
            <a:ext cx="10012680" cy="475488"/>
          </a:xfrm>
          <a:prstGeom prst="rect">
            <a:avLst/>
          </a:prstGeom>
          <a:noFill/>
          <a:ln/>
        </p:spPr>
        <p:txBody>
          <a:bodyPr wrap="square" rtlCol="0" anchor="t"/>
          <a:lstStyle/>
          <a:p>
            <a:pPr indent="0" marL="0">
              <a:buNone/>
            </a:pPr>
            <a:r>
              <a:rPr lang="en-US" sz="980" dirty="0">
                <a:solidFill>
                  <a:srgbClr val="8E8E93"/>
                </a:solidFill>
                <a:latin typeface="Segoe UI" pitchFamily="34" charset="0"/>
                <a:ea typeface="Segoe UI" pitchFamily="34" charset="-122"/>
                <a:cs typeface="Segoe UI" pitchFamily="34" charset="-120"/>
              </a:rPr>
              <a:t>Los activos estáticos de la SPA (React, CSS, JS) se distribuyen en puntos de presencia (PoP) de Azure en el borde de la red. Esto reduce drásticamente el consumo de ancho de banda del servidor central y acelera la carga para usuarios remotos.</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08 · EQUIPO DE TRABAJO</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Organización del Equipo &amp; Roles Técnicos</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Distribución de responsabilidades y dominio integral de la solución (Pauta Santo Tomás).</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09 / 10  ·  Minuto 10:00 - 13:00</a:t>
            </a:r>
            <a:endParaRPr lang="en-US" sz="850" dirty="0"/>
          </a:p>
        </p:txBody>
      </p:sp>
      <p:sp>
        <p:nvSpPr>
          <p:cNvPr id="8" name="Shape 6"/>
          <p:cNvSpPr/>
          <p:nvPr/>
        </p:nvSpPr>
        <p:spPr>
          <a:xfrm>
            <a:off x="822960" y="1783080"/>
            <a:ext cx="2468880" cy="4343400"/>
          </a:xfrm>
          <a:prstGeom prst="roundRect">
            <a:avLst>
              <a:gd name="adj" fmla="val 5556"/>
            </a:avLst>
          </a:prstGeom>
          <a:solidFill>
            <a:srgbClr val="14151B"/>
          </a:solidFill>
          <a:ln w="12700">
            <a:solidFill>
              <a:srgbClr val="242630"/>
            </a:solidFill>
            <a:prstDash val="solid"/>
          </a:ln>
        </p:spPr>
      </p:sp>
      <p:sp>
        <p:nvSpPr>
          <p:cNvPr id="9" name="Shape 7"/>
          <p:cNvSpPr/>
          <p:nvPr/>
        </p:nvSpPr>
        <p:spPr>
          <a:xfrm>
            <a:off x="1005840" y="2011680"/>
            <a:ext cx="2103120" cy="256032"/>
          </a:xfrm>
          <a:prstGeom prst="roundRect">
            <a:avLst>
              <a:gd name="adj" fmla="val 50000"/>
            </a:avLst>
          </a:prstGeom>
          <a:solidFill>
            <a:srgbClr val="1C1E28"/>
          </a:solidFill>
          <a:ln w="10160">
            <a:solidFill>
              <a:srgbClr val="2997FF"/>
            </a:solidFill>
            <a:prstDash val="solid"/>
          </a:ln>
        </p:spPr>
      </p:sp>
      <p:sp>
        <p:nvSpPr>
          <p:cNvPr id="10" name="Text 8"/>
          <p:cNvSpPr/>
          <p:nvPr/>
        </p:nvSpPr>
        <p:spPr>
          <a:xfrm>
            <a:off x="1005840" y="2011680"/>
            <a:ext cx="2103120" cy="256032"/>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INTEGRANTE 1</a:t>
            </a:r>
            <a:endParaRPr lang="en-US" sz="850" dirty="0"/>
          </a:p>
        </p:txBody>
      </p:sp>
      <p:sp>
        <p:nvSpPr>
          <p:cNvPr id="11" name="Text 9"/>
          <p:cNvSpPr/>
          <p:nvPr/>
        </p:nvSpPr>
        <p:spPr>
          <a:xfrm>
            <a:off x="1005840" y="2377440"/>
            <a:ext cx="2103120" cy="5029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Interfaz &amp; Experiencia (UI/UX)</a:t>
            </a:r>
            <a:endParaRPr lang="en-US" sz="1200" dirty="0"/>
          </a:p>
        </p:txBody>
      </p:sp>
      <p:sp>
        <p:nvSpPr>
          <p:cNvPr id="12" name="Text 10"/>
          <p:cNvSpPr/>
          <p:nvPr/>
        </p:nvSpPr>
        <p:spPr>
          <a:xfrm>
            <a:off x="1005840" y="2971800"/>
            <a:ext cx="2103120" cy="2926080"/>
          </a:xfrm>
          <a:prstGeom prst="rect">
            <a:avLst/>
          </a:prstGeom>
          <a:noFill/>
          <a:ln/>
        </p:spPr>
        <p:txBody>
          <a:bodyPr wrap="square" rtlCol="0" anchor="t"/>
          <a:lstStyle/>
          <a:p>
            <a:pPr indent="0" marL="0">
              <a:buNone/>
            </a:pPr>
            <a:r>
              <a:rPr lang="en-US" sz="920" dirty="0">
                <a:solidFill>
                  <a:srgbClr val="8E8E93"/>
                </a:solidFill>
                <a:latin typeface="Segoe UI" pitchFamily="34" charset="0"/>
                <a:ea typeface="Segoe UI" pitchFamily="34" charset="-122"/>
                <a:cs typeface="Segoe UI" pitchFamily="34" charset="-120"/>
              </a:rPr>
              <a:t>• Desarrollo de SPA reactiva en React 18 con Vite.
</a:t>
            </a:r>
            <a:pPr indent="0" marL="0">
              <a:buNone/>
            </a:pPr>
            <a:r>
              <a:rPr lang="en-US" sz="920" dirty="0">
                <a:solidFill>
                  <a:srgbClr val="8E8E93"/>
                </a:solidFill>
                <a:latin typeface="Segoe UI" pitchFamily="34" charset="0"/>
                <a:ea typeface="Segoe UI" pitchFamily="34" charset="-122"/>
                <a:cs typeface="Segoe UI" pitchFamily="34" charset="-120"/>
              </a:rPr>
              <a:t>• Sistema de estilos modulares con Tailwind CSS.
</a:t>
            </a:r>
            <a:pPr indent="0" marL="0">
              <a:buNone/>
            </a:pPr>
            <a:r>
              <a:rPr lang="en-US" sz="920" dirty="0">
                <a:solidFill>
                  <a:srgbClr val="8E8E93"/>
                </a:solidFill>
                <a:latin typeface="Segoe UI" pitchFamily="34" charset="0"/>
                <a:ea typeface="Segoe UI" pitchFamily="34" charset="-122"/>
                <a:cs typeface="Segoe UI" pitchFamily="34" charset="-120"/>
              </a:rPr>
              <a:t>• Diseño de mapa interactivo SVG de 6 cupos con estados.
</a:t>
            </a:r>
            <a:pPr indent="0" marL="0">
              <a:buNone/>
            </a:pPr>
            <a:r>
              <a:rPr lang="en-US" sz="920" dirty="0">
                <a:solidFill>
                  <a:srgbClr val="8E8E93"/>
                </a:solidFill>
                <a:latin typeface="Segoe UI" pitchFamily="34" charset="0"/>
                <a:ea typeface="Segoe UI" pitchFamily="34" charset="-122"/>
                <a:cs typeface="Segoe UI" pitchFamily="34" charset="-120"/>
              </a:rPr>
              <a:t>• Terminal de reservas con validación de patentes chilenas.
</a:t>
            </a:r>
            <a:pPr indent="0" marL="0">
              <a:buNone/>
            </a:pPr>
            <a:r>
              <a:rPr lang="en-US" sz="920" dirty="0">
                <a:solidFill>
                  <a:srgbClr val="8E8E93"/>
                </a:solidFill>
                <a:latin typeface="Segoe UI" pitchFamily="34" charset="0"/>
                <a:ea typeface="Segoe UI" pitchFamily="34" charset="-122"/>
                <a:cs typeface="Segoe UI" pitchFamily="34" charset="-120"/>
              </a:rPr>
              <a:t>• Generación de Pase Digital QR y feedback sonoro.
</a:t>
            </a:r>
            <a:endParaRPr lang="en-US" sz="920" dirty="0"/>
          </a:p>
        </p:txBody>
      </p:sp>
      <p:sp>
        <p:nvSpPr>
          <p:cNvPr id="13" name="Shape 11"/>
          <p:cNvSpPr/>
          <p:nvPr/>
        </p:nvSpPr>
        <p:spPr>
          <a:xfrm>
            <a:off x="3511296" y="1783080"/>
            <a:ext cx="2468880" cy="4343400"/>
          </a:xfrm>
          <a:prstGeom prst="roundRect">
            <a:avLst>
              <a:gd name="adj" fmla="val 5556"/>
            </a:avLst>
          </a:prstGeom>
          <a:solidFill>
            <a:srgbClr val="14151B"/>
          </a:solidFill>
          <a:ln w="12700">
            <a:solidFill>
              <a:srgbClr val="242630"/>
            </a:solidFill>
            <a:prstDash val="solid"/>
          </a:ln>
        </p:spPr>
      </p:sp>
      <p:sp>
        <p:nvSpPr>
          <p:cNvPr id="14" name="Shape 12"/>
          <p:cNvSpPr/>
          <p:nvPr/>
        </p:nvSpPr>
        <p:spPr>
          <a:xfrm>
            <a:off x="3694176" y="2011680"/>
            <a:ext cx="2103120" cy="256032"/>
          </a:xfrm>
          <a:prstGeom prst="roundRect">
            <a:avLst>
              <a:gd name="adj" fmla="val 50000"/>
            </a:avLst>
          </a:prstGeom>
          <a:solidFill>
            <a:srgbClr val="1C1E28"/>
          </a:solidFill>
          <a:ln w="10160">
            <a:solidFill>
              <a:srgbClr val="30D158"/>
            </a:solidFill>
            <a:prstDash val="solid"/>
          </a:ln>
        </p:spPr>
      </p:sp>
      <p:sp>
        <p:nvSpPr>
          <p:cNvPr id="15" name="Text 13"/>
          <p:cNvSpPr/>
          <p:nvPr/>
        </p:nvSpPr>
        <p:spPr>
          <a:xfrm>
            <a:off x="3694176" y="2011680"/>
            <a:ext cx="2103120" cy="256032"/>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INTEGRANTE 2</a:t>
            </a:r>
            <a:endParaRPr lang="en-US" sz="850" dirty="0"/>
          </a:p>
        </p:txBody>
      </p:sp>
      <p:sp>
        <p:nvSpPr>
          <p:cNvPr id="16" name="Text 14"/>
          <p:cNvSpPr/>
          <p:nvPr/>
        </p:nvSpPr>
        <p:spPr>
          <a:xfrm>
            <a:off x="3694176" y="2377440"/>
            <a:ext cx="2103120" cy="5029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Arquitectura &amp; Backend</a:t>
            </a:r>
            <a:endParaRPr lang="en-US" sz="1200" dirty="0"/>
          </a:p>
        </p:txBody>
      </p:sp>
      <p:sp>
        <p:nvSpPr>
          <p:cNvPr id="17" name="Text 15"/>
          <p:cNvSpPr/>
          <p:nvPr/>
        </p:nvSpPr>
        <p:spPr>
          <a:xfrm>
            <a:off x="3694176" y="2971800"/>
            <a:ext cx="2103120" cy="2926080"/>
          </a:xfrm>
          <a:prstGeom prst="rect">
            <a:avLst/>
          </a:prstGeom>
          <a:noFill/>
          <a:ln/>
        </p:spPr>
        <p:txBody>
          <a:bodyPr wrap="square" rtlCol="0" anchor="t"/>
          <a:lstStyle/>
          <a:p>
            <a:pPr indent="0" marL="0">
              <a:buNone/>
            </a:pPr>
            <a:r>
              <a:rPr lang="en-US" sz="920" dirty="0">
                <a:solidFill>
                  <a:srgbClr val="8E8E93"/>
                </a:solidFill>
                <a:latin typeface="Segoe UI" pitchFamily="34" charset="0"/>
                <a:ea typeface="Segoe UI" pitchFamily="34" charset="-122"/>
                <a:cs typeface="Segoe UI" pitchFamily="34" charset="-120"/>
              </a:rPr>
              <a:t>• Definición del modelo desacoplado en 4 capas.
</a:t>
            </a:r>
            <a:pPr indent="0" marL="0">
              <a:buNone/>
            </a:pPr>
            <a:r>
              <a:rPr lang="en-US" sz="920" dirty="0">
                <a:solidFill>
                  <a:srgbClr val="8E8E93"/>
                </a:solidFill>
                <a:latin typeface="Segoe UI" pitchFamily="34" charset="0"/>
                <a:ea typeface="Segoe UI" pitchFamily="34" charset="-122"/>
                <a:cs typeface="Segoe UI" pitchFamily="34" charset="-120"/>
              </a:rPr>
              <a:t>• Controladores RESTful en Node.js y Express.
</a:t>
            </a:r>
            <a:pPr indent="0" marL="0">
              <a:buNone/>
            </a:pPr>
            <a:r>
              <a:rPr lang="en-US" sz="920" dirty="0">
                <a:solidFill>
                  <a:srgbClr val="8E8E93"/>
                </a:solidFill>
                <a:latin typeface="Segoe UI" pitchFamily="34" charset="0"/>
                <a:ea typeface="Segoe UI" pitchFamily="34" charset="-122"/>
                <a:cs typeface="Segoe UI" pitchFamily="34" charset="-120"/>
              </a:rPr>
              <a:t>• Motor de reglas de negocio y tarificación ($35/min).
</a:t>
            </a:r>
            <a:pPr indent="0" marL="0">
              <a:buNone/>
            </a:pPr>
            <a:r>
              <a:rPr lang="en-US" sz="920" dirty="0">
                <a:solidFill>
                  <a:srgbClr val="8E8E93"/>
                </a:solidFill>
                <a:latin typeface="Segoe UI" pitchFamily="34" charset="0"/>
                <a:ea typeface="Segoe UI" pitchFamily="34" charset="-122"/>
                <a:cs typeface="Segoe UI" pitchFamily="34" charset="-120"/>
              </a:rPr>
              <a:t>• Orquestación de operaciones CRUD e integridad de datos.
</a:t>
            </a:r>
            <a:pPr indent="0" marL="0">
              <a:buNone/>
            </a:pPr>
            <a:r>
              <a:rPr lang="en-US" sz="920" dirty="0">
                <a:solidFill>
                  <a:srgbClr val="8E8E93"/>
                </a:solidFill>
                <a:latin typeface="Segoe UI" pitchFamily="34" charset="0"/>
                <a:ea typeface="Segoe UI" pitchFamily="34" charset="-122"/>
                <a:cs typeface="Segoe UI" pitchFamily="34" charset="-120"/>
              </a:rPr>
              <a:t>• Manejo de excepciones HTTP y auditoría en consola.
</a:t>
            </a:r>
            <a:endParaRPr lang="en-US" sz="920" dirty="0"/>
          </a:p>
        </p:txBody>
      </p:sp>
      <p:sp>
        <p:nvSpPr>
          <p:cNvPr id="18" name="Shape 16"/>
          <p:cNvSpPr/>
          <p:nvPr/>
        </p:nvSpPr>
        <p:spPr>
          <a:xfrm>
            <a:off x="6199632" y="1783080"/>
            <a:ext cx="2468880" cy="4343400"/>
          </a:xfrm>
          <a:prstGeom prst="roundRect">
            <a:avLst>
              <a:gd name="adj" fmla="val 5556"/>
            </a:avLst>
          </a:prstGeom>
          <a:solidFill>
            <a:srgbClr val="14151B"/>
          </a:solidFill>
          <a:ln w="12700">
            <a:solidFill>
              <a:srgbClr val="242630"/>
            </a:solidFill>
            <a:prstDash val="solid"/>
          </a:ln>
        </p:spPr>
      </p:sp>
      <p:sp>
        <p:nvSpPr>
          <p:cNvPr id="19" name="Shape 17"/>
          <p:cNvSpPr/>
          <p:nvPr/>
        </p:nvSpPr>
        <p:spPr>
          <a:xfrm>
            <a:off x="6382512" y="2011680"/>
            <a:ext cx="2103120" cy="256032"/>
          </a:xfrm>
          <a:prstGeom prst="roundRect">
            <a:avLst>
              <a:gd name="adj" fmla="val 50000"/>
            </a:avLst>
          </a:prstGeom>
          <a:solidFill>
            <a:srgbClr val="1C1E28"/>
          </a:solidFill>
          <a:ln w="10160">
            <a:solidFill>
              <a:srgbClr val="FF9F0A"/>
            </a:solidFill>
            <a:prstDash val="solid"/>
          </a:ln>
        </p:spPr>
      </p:sp>
      <p:sp>
        <p:nvSpPr>
          <p:cNvPr id="20" name="Text 18"/>
          <p:cNvSpPr/>
          <p:nvPr/>
        </p:nvSpPr>
        <p:spPr>
          <a:xfrm>
            <a:off x="6382512" y="2011680"/>
            <a:ext cx="2103120" cy="256032"/>
          </a:xfrm>
          <a:prstGeom prst="rect">
            <a:avLst/>
          </a:prstGeom>
          <a:noFill/>
          <a:ln/>
        </p:spPr>
        <p:txBody>
          <a:bodyPr wrap="square" rtlCol="0" anchor="ctr"/>
          <a:lstStyle/>
          <a:p>
            <a:pPr algn="ctr" indent="0" marL="0">
              <a:buNone/>
            </a:pPr>
            <a:r>
              <a:rPr lang="en-US" sz="850" b="1" dirty="0">
                <a:solidFill>
                  <a:srgbClr val="FF9F0A"/>
                </a:solidFill>
                <a:latin typeface="Segoe UI" pitchFamily="34" charset="0"/>
                <a:ea typeface="Segoe UI" pitchFamily="34" charset="-122"/>
                <a:cs typeface="Segoe UI" pitchFamily="34" charset="-120"/>
              </a:rPr>
              <a:t>INTEGRANTE 3</a:t>
            </a:r>
            <a:endParaRPr lang="en-US" sz="850" dirty="0"/>
          </a:p>
        </p:txBody>
      </p:sp>
      <p:sp>
        <p:nvSpPr>
          <p:cNvPr id="21" name="Text 19"/>
          <p:cNvSpPr/>
          <p:nvPr/>
        </p:nvSpPr>
        <p:spPr>
          <a:xfrm>
            <a:off x="6382512" y="2377440"/>
            <a:ext cx="2103120" cy="5029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Hardware &amp; IoT (Firmware)</a:t>
            </a:r>
            <a:endParaRPr lang="en-US" sz="1200" dirty="0"/>
          </a:p>
        </p:txBody>
      </p:sp>
      <p:sp>
        <p:nvSpPr>
          <p:cNvPr id="22" name="Text 20"/>
          <p:cNvSpPr/>
          <p:nvPr/>
        </p:nvSpPr>
        <p:spPr>
          <a:xfrm>
            <a:off x="6382512" y="2971800"/>
            <a:ext cx="2103120" cy="2926080"/>
          </a:xfrm>
          <a:prstGeom prst="rect">
            <a:avLst/>
          </a:prstGeom>
          <a:noFill/>
          <a:ln/>
        </p:spPr>
        <p:txBody>
          <a:bodyPr wrap="square" rtlCol="0" anchor="t"/>
          <a:lstStyle/>
          <a:p>
            <a:pPr indent="0" marL="0">
              <a:buNone/>
            </a:pPr>
            <a:r>
              <a:rPr lang="en-US" sz="920" dirty="0">
                <a:solidFill>
                  <a:srgbClr val="8E8E93"/>
                </a:solidFill>
                <a:latin typeface="Segoe UI" pitchFamily="34" charset="0"/>
                <a:ea typeface="Segoe UI" pitchFamily="34" charset="-122"/>
                <a:cs typeface="Segoe UI" pitchFamily="34" charset="-120"/>
              </a:rPr>
              <a:t>• Programación C++ embebida en Arduino UNO R3.
</a:t>
            </a:r>
            <a:pPr indent="0" marL="0">
              <a:buNone/>
            </a:pPr>
            <a:r>
              <a:rPr lang="en-US" sz="920" dirty="0">
                <a:solidFill>
                  <a:srgbClr val="8E8E93"/>
                </a:solidFill>
                <a:latin typeface="Segoe UI" pitchFamily="34" charset="0"/>
                <a:ea typeface="Segoe UI" pitchFamily="34" charset="-122"/>
                <a:cs typeface="Segoe UI" pitchFamily="34" charset="-120"/>
              </a:rPr>
              <a:t>• Matriz de 8 sensores ultrasónicos HC-SR04.
</a:t>
            </a:r>
            <a:pPr indent="0" marL="0">
              <a:buNone/>
            </a:pPr>
            <a:r>
              <a:rPr lang="en-US" sz="920" dirty="0">
                <a:solidFill>
                  <a:srgbClr val="8E8E93"/>
                </a:solidFill>
                <a:latin typeface="Segoe UI" pitchFamily="34" charset="0"/>
                <a:ea typeface="Segoe UI" pitchFamily="34" charset="-122"/>
                <a:cs typeface="Segoe UI" pitchFamily="34" charset="-120"/>
              </a:rPr>
              <a:t>• Técnica de disparo compartido en Pin 2 Trigger.
</a:t>
            </a:r>
            <a:pPr indent="0" marL="0">
              <a:buNone/>
            </a:pPr>
            <a:r>
              <a:rPr lang="en-US" sz="920" dirty="0">
                <a:solidFill>
                  <a:srgbClr val="8E8E93"/>
                </a:solidFill>
                <a:latin typeface="Segoe UI" pitchFamily="34" charset="0"/>
                <a:ea typeface="Segoe UI" pitchFamily="34" charset="-122"/>
                <a:cs typeface="Segoe UI" pitchFamily="34" charset="-120"/>
              </a:rPr>
              <a:t>• Control de 2 servomotores SG90 y display LCD 16x2.
</a:t>
            </a:r>
            <a:pPr indent="0" marL="0">
              <a:buNone/>
            </a:pPr>
            <a:r>
              <a:rPr lang="en-US" sz="920" dirty="0">
                <a:solidFill>
                  <a:srgbClr val="8E8E93"/>
                </a:solidFill>
                <a:latin typeface="Segoe UI" pitchFamily="34" charset="0"/>
                <a:ea typeface="Segoe UI" pitchFamily="34" charset="-122"/>
                <a:cs typeface="Segoe UI" pitchFamily="34" charset="-120"/>
              </a:rPr>
              <a:t>• Enlace bidireccional Web Serial API a 115200 baudios.
</a:t>
            </a:r>
            <a:endParaRPr lang="en-US" sz="920" dirty="0"/>
          </a:p>
        </p:txBody>
      </p:sp>
      <p:sp>
        <p:nvSpPr>
          <p:cNvPr id="23" name="Shape 21"/>
          <p:cNvSpPr/>
          <p:nvPr/>
        </p:nvSpPr>
        <p:spPr>
          <a:xfrm>
            <a:off x="8887968" y="1783080"/>
            <a:ext cx="2468880" cy="4343400"/>
          </a:xfrm>
          <a:prstGeom prst="roundRect">
            <a:avLst>
              <a:gd name="adj" fmla="val 5556"/>
            </a:avLst>
          </a:prstGeom>
          <a:solidFill>
            <a:srgbClr val="14151B"/>
          </a:solidFill>
          <a:ln w="12700">
            <a:solidFill>
              <a:srgbClr val="242630"/>
            </a:solidFill>
            <a:prstDash val="solid"/>
          </a:ln>
        </p:spPr>
      </p:sp>
      <p:sp>
        <p:nvSpPr>
          <p:cNvPr id="24" name="Shape 22"/>
          <p:cNvSpPr/>
          <p:nvPr/>
        </p:nvSpPr>
        <p:spPr>
          <a:xfrm>
            <a:off x="9070848" y="2011680"/>
            <a:ext cx="2103120" cy="256032"/>
          </a:xfrm>
          <a:prstGeom prst="roundRect">
            <a:avLst>
              <a:gd name="adj" fmla="val 50000"/>
            </a:avLst>
          </a:prstGeom>
          <a:solidFill>
            <a:srgbClr val="1C1E28"/>
          </a:solidFill>
          <a:ln w="10160">
            <a:solidFill>
              <a:srgbClr val="BF5AF2"/>
            </a:solidFill>
            <a:prstDash val="solid"/>
          </a:ln>
        </p:spPr>
      </p:sp>
      <p:sp>
        <p:nvSpPr>
          <p:cNvPr id="25" name="Text 23"/>
          <p:cNvSpPr/>
          <p:nvPr/>
        </p:nvSpPr>
        <p:spPr>
          <a:xfrm>
            <a:off x="9070848" y="2011680"/>
            <a:ext cx="2103120" cy="256032"/>
          </a:xfrm>
          <a:prstGeom prst="rect">
            <a:avLst/>
          </a:prstGeom>
          <a:noFill/>
          <a:ln/>
        </p:spPr>
        <p:txBody>
          <a:bodyPr wrap="square" rtlCol="0" anchor="ctr"/>
          <a:lstStyle/>
          <a:p>
            <a:pPr algn="ctr" indent="0" marL="0">
              <a:buNone/>
            </a:pPr>
            <a:r>
              <a:rPr lang="en-US" sz="850" b="1" dirty="0">
                <a:solidFill>
                  <a:srgbClr val="BF5AF2"/>
                </a:solidFill>
                <a:latin typeface="Segoe UI" pitchFamily="34" charset="0"/>
                <a:ea typeface="Segoe UI" pitchFamily="34" charset="-122"/>
                <a:cs typeface="Segoe UI" pitchFamily="34" charset="-120"/>
              </a:rPr>
              <a:t>INTEGRANTE 4</a:t>
            </a:r>
            <a:endParaRPr lang="en-US" sz="850" dirty="0"/>
          </a:p>
        </p:txBody>
      </p:sp>
      <p:sp>
        <p:nvSpPr>
          <p:cNvPr id="26" name="Text 24"/>
          <p:cNvSpPr/>
          <p:nvPr/>
        </p:nvSpPr>
        <p:spPr>
          <a:xfrm>
            <a:off x="9070848" y="2377440"/>
            <a:ext cx="2103120" cy="5029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Cloud &amp; DevOps (Azure)</a:t>
            </a:r>
            <a:endParaRPr lang="en-US" sz="1200" dirty="0"/>
          </a:p>
        </p:txBody>
      </p:sp>
      <p:sp>
        <p:nvSpPr>
          <p:cNvPr id="27" name="Text 25"/>
          <p:cNvSpPr/>
          <p:nvPr/>
        </p:nvSpPr>
        <p:spPr>
          <a:xfrm>
            <a:off x="9070848" y="2971800"/>
            <a:ext cx="2103120" cy="2926080"/>
          </a:xfrm>
          <a:prstGeom prst="rect">
            <a:avLst/>
          </a:prstGeom>
          <a:noFill/>
          <a:ln/>
        </p:spPr>
        <p:txBody>
          <a:bodyPr wrap="square" rtlCol="0" anchor="t"/>
          <a:lstStyle/>
          <a:p>
            <a:pPr indent="0" marL="0">
              <a:buNone/>
            </a:pPr>
            <a:r>
              <a:rPr lang="en-US" sz="920" dirty="0">
                <a:solidFill>
                  <a:srgbClr val="8E8E93"/>
                </a:solidFill>
                <a:latin typeface="Segoe UI" pitchFamily="34" charset="0"/>
                <a:ea typeface="Segoe UI" pitchFamily="34" charset="-122"/>
                <a:cs typeface="Segoe UI" pitchFamily="34" charset="-120"/>
              </a:rPr>
              <a:t>• Aprovisionamiento de VM en Microsoft Azure.
</a:t>
            </a:r>
            <a:pPr indent="0" marL="0">
              <a:buNone/>
            </a:pPr>
            <a:r>
              <a:rPr lang="en-US" sz="920" dirty="0">
                <a:solidFill>
                  <a:srgbClr val="8E8E93"/>
                </a:solidFill>
                <a:latin typeface="Segoe UI" pitchFamily="34" charset="0"/>
                <a:ea typeface="Segoe UI" pitchFamily="34" charset="-122"/>
                <a:cs typeface="Segoe UI" pitchFamily="34" charset="-120"/>
              </a:rPr>
              <a:t>• Endurecimiento de Windows Server 2022 Datacenter.
</a:t>
            </a:r>
            <a:pPr indent="0" marL="0">
              <a:buNone/>
            </a:pPr>
            <a:r>
              <a:rPr lang="en-US" sz="920" dirty="0">
                <a:solidFill>
                  <a:srgbClr val="8E8E93"/>
                </a:solidFill>
                <a:latin typeface="Segoe UI" pitchFamily="34" charset="0"/>
                <a:ea typeface="Segoe UI" pitchFamily="34" charset="-122"/>
                <a:cs typeface="Segoe UI" pitchFamily="34" charset="-120"/>
              </a:rPr>
              <a:t>• Instalación y configuración de IIS con ARR Proxy.
</a:t>
            </a:r>
            <a:pPr indent="0" marL="0">
              <a:buNone/>
            </a:pPr>
            <a:r>
              <a:rPr lang="en-US" sz="920" dirty="0">
                <a:solidFill>
                  <a:srgbClr val="8E8E93"/>
                </a:solidFill>
                <a:latin typeface="Segoe UI" pitchFamily="34" charset="0"/>
                <a:ea typeface="Segoe UI" pitchFamily="34" charset="-122"/>
                <a:cs typeface="Segoe UI" pitchFamily="34" charset="-120"/>
              </a:rPr>
              <a:t>• Reglas de firewall en NSG (Puertos 80, 443, 3001, 3389).
</a:t>
            </a:r>
            <a:pPr indent="0" marL="0">
              <a:buNone/>
            </a:pPr>
            <a:r>
              <a:rPr lang="en-US" sz="920" dirty="0">
                <a:solidFill>
                  <a:srgbClr val="8E8E93"/>
                </a:solidFill>
                <a:latin typeface="Segoe UI" pitchFamily="34" charset="0"/>
                <a:ea typeface="Segoe UI" pitchFamily="34" charset="-122"/>
                <a:cs typeface="Segoe UI" pitchFamily="34" charset="-120"/>
              </a:rPr>
              <a:t>• Configuración de Azure DNS (FQDN) y validación externa.
</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22960" y="457200"/>
            <a:ext cx="3108960" cy="292608"/>
          </a:xfrm>
          <a:prstGeom prst="roundRect">
            <a:avLst>
              <a:gd name="adj" fmla="val 50000"/>
            </a:avLst>
          </a:prstGeom>
          <a:solidFill>
            <a:srgbClr val="181922"/>
          </a:solidFill>
          <a:ln w="10160">
            <a:solidFill>
              <a:srgbClr val="3A3D4D"/>
            </a:solidFill>
            <a:prstDash val="solid"/>
          </a:ln>
        </p:spPr>
      </p:sp>
      <p:sp>
        <p:nvSpPr>
          <p:cNvPr id="3" name="Text 1"/>
          <p:cNvSpPr/>
          <p:nvPr/>
        </p:nvSpPr>
        <p:spPr>
          <a:xfrm>
            <a:off x="822960" y="457200"/>
            <a:ext cx="3108960" cy="292608"/>
          </a:xfrm>
          <a:prstGeom prst="rect">
            <a:avLst/>
          </a:prstGeom>
          <a:noFill/>
          <a:ln/>
        </p:spPr>
        <p:txBody>
          <a:bodyPr wrap="square" rtlCol="0" anchor="ctr"/>
          <a:lstStyle/>
          <a:p>
            <a:pPr algn="ctr" indent="0" marL="0">
              <a:buNone/>
            </a:pPr>
            <a:r>
              <a:rPr lang="en-US" sz="900" b="1" spc="100" kern="0" dirty="0">
                <a:solidFill>
                  <a:srgbClr val="2997FF"/>
                </a:solidFill>
                <a:latin typeface="Segoe UI" pitchFamily="34" charset="0"/>
                <a:ea typeface="Segoe UI" pitchFamily="34" charset="-122"/>
                <a:cs typeface="Segoe UI" pitchFamily="34" charset="-120"/>
              </a:rPr>
              <a:t>09 · CONCLUSIONES &amp; CIERRE</a:t>
            </a:r>
            <a:endParaRPr lang="en-US" sz="900" dirty="0"/>
          </a:p>
        </p:txBody>
      </p:sp>
      <p:sp>
        <p:nvSpPr>
          <p:cNvPr id="4" name="Text 2"/>
          <p:cNvSpPr/>
          <p:nvPr/>
        </p:nvSpPr>
        <p:spPr>
          <a:xfrm>
            <a:off x="822960" y="804672"/>
            <a:ext cx="10543032"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Balance del Proyecto &amp; Cumplimiento de Objetivos</a:t>
            </a:r>
            <a:endParaRPr lang="en-US" sz="2200" dirty="0"/>
          </a:p>
        </p:txBody>
      </p:sp>
      <p:sp>
        <p:nvSpPr>
          <p:cNvPr id="5" name="Text 3"/>
          <p:cNvSpPr/>
          <p:nvPr/>
        </p:nvSpPr>
        <p:spPr>
          <a:xfrm>
            <a:off x="822960" y="1316736"/>
            <a:ext cx="10543032" cy="320040"/>
          </a:xfrm>
          <a:prstGeom prst="rect">
            <a:avLst/>
          </a:prstGeom>
          <a:noFill/>
          <a:ln/>
        </p:spPr>
        <p:txBody>
          <a:bodyPr wrap="square" rtlCol="0" anchor="t"/>
          <a:lstStyle/>
          <a:p>
            <a:pPr indent="0" marL="0">
              <a:buNone/>
            </a:pPr>
            <a:r>
              <a:rPr lang="en-US" sz="1150" dirty="0">
                <a:solidFill>
                  <a:srgbClr val="8E8E93"/>
                </a:solidFill>
                <a:latin typeface="Segoe UI" pitchFamily="34" charset="0"/>
                <a:ea typeface="Segoe UI" pitchFamily="34" charset="-122"/>
                <a:cs typeface="Segoe UI" pitchFamily="34" charset="-120"/>
              </a:rPr>
              <a:t>Cierre de la defensa técnica y apertura para preguntas de la comisión evaluadora.</a:t>
            </a:r>
            <a:endParaRPr lang="en-US" sz="1150" dirty="0"/>
          </a:p>
        </p:txBody>
      </p:sp>
      <p:sp>
        <p:nvSpPr>
          <p:cNvPr id="6" name="Text 4"/>
          <p:cNvSpPr/>
          <p:nvPr/>
        </p:nvSpPr>
        <p:spPr>
          <a:xfrm>
            <a:off x="822960" y="6400800"/>
            <a:ext cx="6400800" cy="228600"/>
          </a:xfrm>
          <a:prstGeom prst="rect">
            <a:avLst/>
          </a:prstGeom>
          <a:noFill/>
          <a:ln/>
        </p:spPr>
        <p:txBody>
          <a:bodyPr wrap="square" rtlCol="0" anchor="b"/>
          <a:lstStyle/>
          <a:p>
            <a:pPr indent="0" marL="0">
              <a:buNone/>
            </a:pPr>
            <a:r>
              <a:rPr lang="en-US" sz="850" dirty="0">
                <a:solidFill>
                  <a:srgbClr val="54545E"/>
                </a:solidFill>
                <a:latin typeface="Segoe UI" pitchFamily="34" charset="0"/>
                <a:ea typeface="Segoe UI" pitchFamily="34" charset="-122"/>
                <a:cs typeface="Segoe UI" pitchFamily="34" charset="-120"/>
              </a:rPr>
              <a:t>AURA Smart Parking · IPST Área Informática · Microsoft Azure &amp; IoT</a:t>
            </a:r>
            <a:endParaRPr lang="en-US" sz="850" dirty="0"/>
          </a:p>
        </p:txBody>
      </p:sp>
      <p:sp>
        <p:nvSpPr>
          <p:cNvPr id="7" name="Text 5"/>
          <p:cNvSpPr/>
          <p:nvPr/>
        </p:nvSpPr>
        <p:spPr>
          <a:xfrm>
            <a:off x="7315200" y="6400800"/>
            <a:ext cx="4050792" cy="228600"/>
          </a:xfrm>
          <a:prstGeom prst="rect">
            <a:avLst/>
          </a:prstGeom>
          <a:noFill/>
          <a:ln/>
        </p:spPr>
        <p:txBody>
          <a:bodyPr wrap="square" rtlCol="0" anchor="b"/>
          <a:lstStyle/>
          <a:p>
            <a:pPr algn="r" indent="0" marL="0">
              <a:buNone/>
            </a:pPr>
            <a:r>
              <a:rPr lang="en-US" sz="850" dirty="0">
                <a:solidFill>
                  <a:srgbClr val="54545E"/>
                </a:solidFill>
                <a:latin typeface="Segoe UI" pitchFamily="34" charset="0"/>
                <a:ea typeface="Segoe UI" pitchFamily="34" charset="-122"/>
                <a:cs typeface="Segoe UI" pitchFamily="34" charset="-120"/>
              </a:rPr>
              <a:t>10 / 10  ·  Minuto 13:00 - 15:00</a:t>
            </a:r>
            <a:endParaRPr lang="en-US" sz="850" dirty="0"/>
          </a:p>
        </p:txBody>
      </p:sp>
      <p:sp>
        <p:nvSpPr>
          <p:cNvPr id="8" name="Shape 6"/>
          <p:cNvSpPr/>
          <p:nvPr/>
        </p:nvSpPr>
        <p:spPr>
          <a:xfrm>
            <a:off x="822960" y="1783080"/>
            <a:ext cx="6217920" cy="4343400"/>
          </a:xfrm>
          <a:prstGeom prst="roundRect">
            <a:avLst>
              <a:gd name="adj" fmla="val 3158"/>
            </a:avLst>
          </a:prstGeom>
          <a:solidFill>
            <a:srgbClr val="14151B"/>
          </a:solidFill>
          <a:ln w="12700">
            <a:solidFill>
              <a:srgbClr val="242630"/>
            </a:solidFill>
            <a:prstDash val="solid"/>
          </a:ln>
        </p:spPr>
      </p:sp>
      <p:sp>
        <p:nvSpPr>
          <p:cNvPr id="9" name="Shape 7"/>
          <p:cNvSpPr/>
          <p:nvPr/>
        </p:nvSpPr>
        <p:spPr>
          <a:xfrm>
            <a:off x="1097280" y="2011680"/>
            <a:ext cx="2377440" cy="256032"/>
          </a:xfrm>
          <a:prstGeom prst="roundRect">
            <a:avLst>
              <a:gd name="adj" fmla="val 50000"/>
            </a:avLst>
          </a:prstGeom>
          <a:solidFill>
            <a:srgbClr val="14241B"/>
          </a:solidFill>
          <a:ln w="10160">
            <a:solidFill>
              <a:srgbClr val="30D158"/>
            </a:solidFill>
            <a:prstDash val="solid"/>
          </a:ln>
        </p:spPr>
      </p:sp>
      <p:sp>
        <p:nvSpPr>
          <p:cNvPr id="10" name="Text 8"/>
          <p:cNvSpPr/>
          <p:nvPr/>
        </p:nvSpPr>
        <p:spPr>
          <a:xfrm>
            <a:off x="1097280" y="2011680"/>
            <a:ext cx="2377440" cy="256032"/>
          </a:xfrm>
          <a:prstGeom prst="rect">
            <a:avLst/>
          </a:prstGeom>
          <a:noFill/>
          <a:ln/>
        </p:spPr>
        <p:txBody>
          <a:bodyPr wrap="square" rtlCol="0" anchor="ctr"/>
          <a:lstStyle/>
          <a:p>
            <a:pPr algn="ctr" indent="0" marL="0">
              <a:buNone/>
            </a:pPr>
            <a:r>
              <a:rPr lang="en-US" sz="850" b="1" dirty="0">
                <a:solidFill>
                  <a:srgbClr val="30D158"/>
                </a:solidFill>
                <a:latin typeface="Segoe UI" pitchFamily="34" charset="0"/>
                <a:ea typeface="Segoe UI" pitchFamily="34" charset="-122"/>
                <a:cs typeface="Segoe UI" pitchFamily="34" charset="-120"/>
              </a:rPr>
              <a:t>LOGROS CLAVE DEL PROYECTO</a:t>
            </a:r>
            <a:endParaRPr lang="en-US" sz="850" dirty="0"/>
          </a:p>
        </p:txBody>
      </p:sp>
      <p:sp>
        <p:nvSpPr>
          <p:cNvPr id="11" name="Text 9"/>
          <p:cNvSpPr/>
          <p:nvPr/>
        </p:nvSpPr>
        <p:spPr>
          <a:xfrm>
            <a:off x="1097280" y="2377440"/>
            <a:ext cx="566928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Conclusiones Técnicas Principales</a:t>
            </a:r>
            <a:endParaRPr lang="en-US" sz="1600" dirty="0"/>
          </a:p>
        </p:txBody>
      </p:sp>
      <p:sp>
        <p:nvSpPr>
          <p:cNvPr id="12" name="Text 10"/>
          <p:cNvSpPr/>
          <p:nvPr/>
        </p:nvSpPr>
        <p:spPr>
          <a:xfrm>
            <a:off x="1097280" y="2834640"/>
            <a:ext cx="5669280" cy="310896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Convergencia Exitosa Cloud-IoT:
</a:t>
            </a:r>
            <a:pPr indent="0" marL="0">
              <a:buNone/>
            </a:pPr>
            <a:r>
              <a:rPr lang="en-US" sz="1050" dirty="0">
                <a:solidFill>
                  <a:srgbClr val="8E8E93"/>
                </a:solidFill>
                <a:latin typeface="Segoe UI" pitchFamily="34" charset="0"/>
                <a:ea typeface="Segoe UI" pitchFamily="34" charset="-122"/>
                <a:cs typeface="Segoe UI" pitchFamily="34" charset="-120"/>
              </a:rPr>
              <a:t>Se articuló un microcontrolador de bajo costo (Arduino UNO R3 de $5 USD) con infraestructura cloud enterprise en Microsoft Azure, logrando telemetría y control sin latencia perceptible.
</a:t>
            </a:r>
            <a:pPr indent="0" marL="0">
              <a:buNone/>
            </a:pPr>
            <a:r>
              <a:rPr lang="en-US" sz="1150" b="1" dirty="0">
                <a:solidFill>
                  <a:srgbClr val="FFFFFF"/>
                </a:solidFill>
                <a:latin typeface="Segoe UI" pitchFamily="34" charset="0"/>
                <a:ea typeface="Segoe UI" pitchFamily="34" charset="-122"/>
                <a:cs typeface="Segoe UI" pitchFamily="34" charset="-120"/>
              </a:rPr>
              <a:t>• Desacoplamiento y Resiliencia Comprobada:
</a:t>
            </a:r>
            <a:pPr indent="0" marL="0">
              <a:buNone/>
            </a:pPr>
            <a:r>
              <a:rPr lang="en-US" sz="1050" dirty="0">
                <a:solidFill>
                  <a:srgbClr val="8E8E93"/>
                </a:solidFill>
                <a:latin typeface="Segoe UI" pitchFamily="34" charset="0"/>
                <a:ea typeface="Segoe UI" pitchFamily="34" charset="-122"/>
                <a:cs typeface="Segoe UI" pitchFamily="34" charset="-120"/>
              </a:rPr>
              <a:t>La arquitectura en 4 capas garantizó que el hardware opere con autonomía física local frente a contingencias de red, sincronizando transacciones al restablecerse la conectividad.
</a:t>
            </a:r>
            <a:pPr indent="0" marL="0">
              <a:buNone/>
            </a:pPr>
            <a:r>
              <a:rPr lang="en-US" sz="1150" b="1" dirty="0">
                <a:solidFill>
                  <a:srgbClr val="FFFFFF"/>
                </a:solidFill>
                <a:latin typeface="Segoe UI" pitchFamily="34" charset="0"/>
                <a:ea typeface="Segoe UI" pitchFamily="34" charset="-122"/>
                <a:cs typeface="Segoe UI" pitchFamily="34" charset="-120"/>
              </a:rPr>
              <a:t>• Cumplimiento del 100% de la Rúbrica Oficial:
</a:t>
            </a:r>
            <a:pPr indent="0" marL="0">
              <a:buNone/>
            </a:pPr>
            <a:r>
              <a:rPr lang="en-US" sz="1050" dirty="0">
                <a:solidFill>
                  <a:srgbClr val="8E8E93"/>
                </a:solidFill>
                <a:latin typeface="Segoe UI" pitchFamily="34" charset="0"/>
                <a:ea typeface="Segoe UI" pitchFamily="34" charset="-122"/>
                <a:cs typeface="Segoe UI" pitchFamily="34" charset="-120"/>
              </a:rPr>
              <a:t>Todos los criterios de evaluación (IaaS Azure, NSG, IIS, DNS público, CRUD en vivo, control de versiones en GitHub y defensa técnica) fueron verificados y documentados rigurosamente.
</a:t>
            </a:r>
            <a:pPr indent="0" marL="0">
              <a:buNone/>
            </a:pPr>
            <a:r>
              <a:rPr lang="en-US" sz="1150" b="1" dirty="0">
                <a:solidFill>
                  <a:srgbClr val="FFFFFF"/>
                </a:solidFill>
                <a:latin typeface="Segoe UI" pitchFamily="34" charset="0"/>
                <a:ea typeface="Segoe UI" pitchFamily="34" charset="-122"/>
                <a:cs typeface="Segoe UI" pitchFamily="34" charset="-120"/>
              </a:rPr>
              <a:t>• Trabajo Colaborativo en GitHub:
</a:t>
            </a:r>
            <a:pPr indent="0" marL="0">
              <a:buNone/>
            </a:pPr>
            <a:r>
              <a:rPr lang="en-US" sz="1050" dirty="0">
                <a:solidFill>
                  <a:srgbClr val="8E8E93"/>
                </a:solidFill>
                <a:latin typeface="Segoe UI" pitchFamily="34" charset="0"/>
                <a:ea typeface="Segoe UI" pitchFamily="34" charset="-122"/>
                <a:cs typeface="Segoe UI" pitchFamily="34" charset="-120"/>
              </a:rPr>
              <a:t>Control de versiones con commits en español, articulando el trabajo de los 4 integrantes de forma ordenada.</a:t>
            </a:r>
            <a:endParaRPr lang="en-US" sz="1150" dirty="0"/>
          </a:p>
        </p:txBody>
      </p:sp>
      <p:sp>
        <p:nvSpPr>
          <p:cNvPr id="13" name="Shape 11"/>
          <p:cNvSpPr/>
          <p:nvPr/>
        </p:nvSpPr>
        <p:spPr>
          <a:xfrm>
            <a:off x="7260336" y="1783080"/>
            <a:ext cx="4105656" cy="4343400"/>
          </a:xfrm>
          <a:prstGeom prst="roundRect">
            <a:avLst>
              <a:gd name="adj" fmla="val 3341"/>
            </a:avLst>
          </a:prstGeom>
          <a:solidFill>
            <a:srgbClr val="14151B"/>
          </a:solidFill>
          <a:ln w="12700">
            <a:solidFill>
              <a:srgbClr val="242630"/>
            </a:solidFill>
            <a:prstDash val="solid"/>
          </a:ln>
        </p:spPr>
      </p:sp>
      <p:sp>
        <p:nvSpPr>
          <p:cNvPr id="14" name="Shape 12"/>
          <p:cNvSpPr/>
          <p:nvPr/>
        </p:nvSpPr>
        <p:spPr>
          <a:xfrm>
            <a:off x="7534656" y="2011680"/>
            <a:ext cx="2286000" cy="256032"/>
          </a:xfrm>
          <a:prstGeom prst="roundRect">
            <a:avLst>
              <a:gd name="adj" fmla="val 50000"/>
            </a:avLst>
          </a:prstGeom>
          <a:solidFill>
            <a:srgbClr val="142028"/>
          </a:solidFill>
          <a:ln w="10160">
            <a:solidFill>
              <a:srgbClr val="2997FF"/>
            </a:solidFill>
            <a:prstDash val="solid"/>
          </a:ln>
        </p:spPr>
      </p:sp>
      <p:sp>
        <p:nvSpPr>
          <p:cNvPr id="15" name="Text 13"/>
          <p:cNvSpPr/>
          <p:nvPr/>
        </p:nvSpPr>
        <p:spPr>
          <a:xfrm>
            <a:off x="7534656" y="2011680"/>
            <a:ext cx="2286000" cy="256032"/>
          </a:xfrm>
          <a:prstGeom prst="rect">
            <a:avLst/>
          </a:prstGeom>
          <a:noFill/>
          <a:ln/>
        </p:spPr>
        <p:txBody>
          <a:bodyPr wrap="square" rtlCol="0" anchor="ctr"/>
          <a:lstStyle/>
          <a:p>
            <a:pPr algn="ctr" indent="0" marL="0">
              <a:buNone/>
            </a:pPr>
            <a:r>
              <a:rPr lang="en-US" sz="850" b="1" dirty="0">
                <a:solidFill>
                  <a:srgbClr val="2997FF"/>
                </a:solidFill>
                <a:latin typeface="Segoe UI" pitchFamily="34" charset="0"/>
                <a:ea typeface="Segoe UI" pitchFamily="34" charset="-122"/>
                <a:cs typeface="Segoe UI" pitchFamily="34" charset="-120"/>
              </a:rPr>
              <a:t>ACREDITACIÓN &amp; CONTACTO</a:t>
            </a:r>
            <a:endParaRPr lang="en-US" sz="850" dirty="0"/>
          </a:p>
        </p:txBody>
      </p:sp>
      <p:sp>
        <p:nvSpPr>
          <p:cNvPr id="16" name="Text 14"/>
          <p:cNvSpPr/>
          <p:nvPr/>
        </p:nvSpPr>
        <p:spPr>
          <a:xfrm>
            <a:off x="7534656" y="2377440"/>
            <a:ext cx="3557016"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Canales y Presentación</a:t>
            </a:r>
            <a:endParaRPr lang="en-US" sz="1600" dirty="0"/>
          </a:p>
        </p:txBody>
      </p:sp>
      <p:sp>
        <p:nvSpPr>
          <p:cNvPr id="17" name="Text 15"/>
          <p:cNvSpPr/>
          <p:nvPr/>
        </p:nvSpPr>
        <p:spPr>
          <a:xfrm>
            <a:off x="7534656" y="2834640"/>
            <a:ext cx="3557016" cy="201168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Repositorio Oficial en GitHub:
</a:t>
            </a:r>
            <a:pPr indent="0" marL="0">
              <a:buNone/>
            </a:pPr>
            <a:r>
              <a:rPr lang="en-US" sz="980" dirty="0">
                <a:solidFill>
                  <a:srgbClr val="2997FF"/>
                </a:solidFill>
                <a:latin typeface="Segoe UI" pitchFamily="34" charset="0"/>
                <a:ea typeface="Segoe UI" pitchFamily="34" charset="-122"/>
                <a:cs typeface="Segoe UI" pitchFamily="34" charset="-120"/>
              </a:rPr>
              <a:t>https://github.com/PaulFL808/INTELIGEMENTE-ESTACIONADO
</a:t>
            </a:r>
            <a:pPr indent="0" marL="0">
              <a:buNone/>
            </a:pPr>
            <a:r>
              <a:rPr lang="en-US" sz="1100" b="1" dirty="0">
                <a:solidFill>
                  <a:srgbClr val="FFFFFF"/>
                </a:solidFill>
                <a:latin typeface="Segoe UI" pitchFamily="34" charset="0"/>
                <a:ea typeface="Segoe UI" pitchFamily="34" charset="-122"/>
                <a:cs typeface="Segoe UI" pitchFamily="34" charset="-120"/>
              </a:rPr>
              <a:t>• Portal Web Desplegado en Azure:
</a:t>
            </a:r>
            <a:pPr indent="0" marL="0">
              <a:buNone/>
            </a:pPr>
            <a:r>
              <a:rPr lang="en-US" sz="980" dirty="0">
                <a:solidFill>
                  <a:srgbClr val="30D158"/>
                </a:solidFill>
                <a:latin typeface="Segoe UI" pitchFamily="34" charset="0"/>
                <a:ea typeface="Segoe UI" pitchFamily="34" charset="-122"/>
                <a:cs typeface="Segoe UI" pitchFamily="34" charset="-120"/>
              </a:rPr>
              <a:t>http://aurasmartparking.eastus.cloudapp.azure.com
</a:t>
            </a:r>
            <a:pPr indent="0" marL="0">
              <a:buNone/>
            </a:pPr>
            <a:r>
              <a:rPr lang="en-US" sz="1100" b="1" dirty="0">
                <a:solidFill>
                  <a:srgbClr val="FFFFFF"/>
                </a:solidFill>
                <a:latin typeface="Segoe UI" pitchFamily="34" charset="0"/>
                <a:ea typeface="Segoe UI" pitchFamily="34" charset="-122"/>
                <a:cs typeface="Segoe UI" pitchFamily="34" charset="-120"/>
              </a:rPr>
              <a:t>• Defensa en Auditorio:
</a:t>
            </a:r>
            <a:pPr indent="0" marL="0">
              <a:buNone/>
            </a:pPr>
            <a:r>
              <a:rPr lang="en-US" sz="1000" dirty="0">
                <a:solidFill>
                  <a:srgbClr val="8E8E93"/>
                </a:solidFill>
                <a:latin typeface="Segoe UI" pitchFamily="34" charset="0"/>
                <a:ea typeface="Segoe UI" pitchFamily="34" charset="-122"/>
                <a:cs typeface="Segoe UI" pitchFamily="34" charset="-120"/>
              </a:rPr>
              <a:t>Miércoles 28 de octubre · 09:00 hrs
Auditorio 1, Edificio 91, Piso 3
Tenida Semi-Formal
</a:t>
            </a:r>
            <a:endParaRPr lang="en-US" sz="1100" dirty="0"/>
          </a:p>
        </p:txBody>
      </p:sp>
      <p:sp>
        <p:nvSpPr>
          <p:cNvPr id="18" name="Shape 16"/>
          <p:cNvSpPr/>
          <p:nvPr/>
        </p:nvSpPr>
        <p:spPr>
          <a:xfrm>
            <a:off x="7534656" y="4983480"/>
            <a:ext cx="3557016" cy="960120"/>
          </a:xfrm>
          <a:prstGeom prst="roundRect">
            <a:avLst>
              <a:gd name="adj" fmla="val 11429"/>
            </a:avLst>
          </a:prstGeom>
          <a:solidFill>
            <a:srgbClr val="14241B"/>
          </a:solidFill>
          <a:ln w="12700">
            <a:solidFill>
              <a:srgbClr val="30D158"/>
            </a:solidFill>
            <a:prstDash val="solid"/>
          </a:ln>
        </p:spPr>
      </p:sp>
      <p:sp>
        <p:nvSpPr>
          <p:cNvPr id="19" name="Text 17"/>
          <p:cNvSpPr/>
          <p:nvPr/>
        </p:nvSpPr>
        <p:spPr>
          <a:xfrm>
            <a:off x="7626096" y="4983480"/>
            <a:ext cx="3374136" cy="960120"/>
          </a:xfrm>
          <a:prstGeom prst="rect">
            <a:avLst/>
          </a:prstGeom>
          <a:noFill/>
          <a:ln/>
        </p:spPr>
        <p:txBody>
          <a:bodyPr wrap="square" rtlCol="0" anchor="ctr"/>
          <a:lstStyle/>
          <a:p>
            <a:pPr algn="ctr" indent="0" marL="0">
              <a:buNone/>
            </a:pPr>
            <a:r>
              <a:rPr lang="en-US" sz="1150" b="1" dirty="0">
                <a:solidFill>
                  <a:srgbClr val="30D158"/>
                </a:solidFill>
                <a:latin typeface="Segoe UI" pitchFamily="34" charset="0"/>
                <a:ea typeface="Segoe UI" pitchFamily="34" charset="-122"/>
                <a:cs typeface="Segoe UI" pitchFamily="34" charset="-120"/>
              </a:rPr>
              <a:t>¡Muchas Gracias!</a:t>
            </a:r>
            <a:endParaRPr lang="en-US" sz="1150" dirty="0"/>
          </a:p>
          <a:p>
            <a:pPr algn="ctr" indent="0" marL="0">
              <a:buNone/>
            </a:pPr>
            <a:r>
              <a:rPr lang="en-US" sz="1150" b="1" dirty="0">
                <a:solidFill>
                  <a:srgbClr val="30D158"/>
                </a:solidFill>
                <a:latin typeface="Segoe UI" pitchFamily="34" charset="0"/>
                <a:ea typeface="Segoe UI" pitchFamily="34" charset="-122"/>
                <a:cs typeface="Segoe UI" pitchFamily="34" charset="-120"/>
              </a:rPr>
              <a:t>Quedamos atentos a las preguntas de la Comisión Evaluadora.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IPST - Instituto Profesional Santo Tomás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Smart Parking - Defensa Técnica y Despliegue en Azure</dc:title>
  <dc:subject>PptxGenJS Presentation</dc:subject>
  <dc:creator>Equipo AURA Smart Parking</dc:creator>
  <cp:lastModifiedBy>Equipo AURA Smart Parking</cp:lastModifiedBy>
  <cp:revision>1</cp:revision>
  <dcterms:created xsi:type="dcterms:W3CDTF">2026-10-23T14:03:48Z</dcterms:created>
  <dcterms:modified xsi:type="dcterms:W3CDTF">2026-10-23T14:03:48Z</dcterms:modified>
</cp:coreProperties>
</file>